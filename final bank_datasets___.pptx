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56" r:id="rId3"/>
    <p:sldId id="259" r:id="rId4"/>
    <p:sldId id="263" r:id="rId5"/>
    <p:sldId id="264" r:id="rId6"/>
    <p:sldId id="260" r:id="rId7"/>
    <p:sldId id="261" r:id="rId8"/>
    <p:sldId id="262" r:id="rId9"/>
    <p:sldId id="265" r:id="rId10"/>
    <p:sldId id="266" r:id="rId11"/>
    <p:sldId id="267" r:id="rId12"/>
    <p:sldId id="268" r:id="rId13"/>
    <p:sldId id="269" r:id="rId14"/>
    <p:sldId id="277" r:id="rId15"/>
    <p:sldId id="278" r:id="rId16"/>
    <p:sldId id="270" r:id="rId17"/>
    <p:sldId id="271" r:id="rId18"/>
    <p:sldId id="272" r:id="rId19"/>
    <p:sldId id="273" r:id="rId20"/>
    <p:sldId id="274" r:id="rId21"/>
    <p:sldId id="275" r:id="rId22"/>
    <p:sldId id="276" r:id="rId23"/>
    <p:sldId id="279" r:id="rId24"/>
    <p:sldId id="280" r:id="rId25"/>
    <p:sldId id="282" r:id="rId26"/>
    <p:sldId id="281" r:id="rId27"/>
    <p:sldId id="312" r:id="rId28"/>
    <p:sldId id="313" r:id="rId29"/>
    <p:sldId id="314" r:id="rId30"/>
    <p:sldId id="286" r:id="rId31"/>
    <p:sldId id="285" r:id="rId32"/>
    <p:sldId id="284" r:id="rId33"/>
    <p:sldId id="287" r:id="rId34"/>
    <p:sldId id="288" r:id="rId35"/>
    <p:sldId id="289" r:id="rId36"/>
    <p:sldId id="290" r:id="rId37"/>
    <p:sldId id="283" r:id="rId38"/>
    <p:sldId id="291" r:id="rId39"/>
    <p:sldId id="292" r:id="rId40"/>
    <p:sldId id="293" r:id="rId41"/>
    <p:sldId id="295" r:id="rId42"/>
    <p:sldId id="294" r:id="rId43"/>
    <p:sldId id="297" r:id="rId44"/>
    <p:sldId id="296" r:id="rId45"/>
    <p:sldId id="298" r:id="rId46"/>
    <p:sldId id="299" r:id="rId47"/>
    <p:sldId id="300" r:id="rId48"/>
    <p:sldId id="301" r:id="rId49"/>
    <p:sldId id="309" r:id="rId50"/>
    <p:sldId id="305" r:id="rId51"/>
    <p:sldId id="306" r:id="rId52"/>
    <p:sldId id="307" r:id="rId53"/>
    <p:sldId id="308" r:id="rId54"/>
    <p:sldId id="310" r:id="rId55"/>
    <p:sldId id="311" r:id="rId56"/>
    <p:sldId id="302" r:id="rId57"/>
    <p:sldId id="303" r:id="rId58"/>
    <p:sldId id="304" r:id="rId5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3E76399-B998-4D27-B5D7-B190F5FCD3A9}" v="48" dt="2025-12-28T07:54:38.32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65"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ita Sahu" userId="c3bcdbd82bb9af11" providerId="LiveId" clId="{7193A4A2-5A1A-43A9-AEF5-7EE65CA6236A}"/>
    <pc:docChg chg="undo custSel addSld modSld sldOrd">
      <pc:chgData name="Harshita Sahu" userId="c3bcdbd82bb9af11" providerId="LiveId" clId="{7193A4A2-5A1A-43A9-AEF5-7EE65CA6236A}" dt="2025-12-28T07:56:32.364" v="4540" actId="2165"/>
      <pc:docMkLst>
        <pc:docMk/>
      </pc:docMkLst>
      <pc:sldChg chg="modSp mod">
        <pc:chgData name="Harshita Sahu" userId="c3bcdbd82bb9af11" providerId="LiveId" clId="{7193A4A2-5A1A-43A9-AEF5-7EE65CA6236A}" dt="2025-12-26T08:30:56.133" v="3709" actId="20577"/>
        <pc:sldMkLst>
          <pc:docMk/>
          <pc:sldMk cId="3113274993" sldId="287"/>
        </pc:sldMkLst>
        <pc:spChg chg="mod">
          <ac:chgData name="Harshita Sahu" userId="c3bcdbd82bb9af11" providerId="LiveId" clId="{7193A4A2-5A1A-43A9-AEF5-7EE65CA6236A}" dt="2025-12-26T08:30:56.133" v="3709" actId="20577"/>
          <ac:spMkLst>
            <pc:docMk/>
            <pc:sldMk cId="3113274993" sldId="287"/>
            <ac:spMk id="2" creationId="{2EFD48B9-43F9-5E5D-9D8B-9ED3D9181809}"/>
          </ac:spMkLst>
        </pc:spChg>
      </pc:sldChg>
      <pc:sldChg chg="modSp mod">
        <pc:chgData name="Harshita Sahu" userId="c3bcdbd82bb9af11" providerId="LiveId" clId="{7193A4A2-5A1A-43A9-AEF5-7EE65CA6236A}" dt="2025-12-26T08:33:28.528" v="3713" actId="20577"/>
        <pc:sldMkLst>
          <pc:docMk/>
          <pc:sldMk cId="4227618434" sldId="289"/>
        </pc:sldMkLst>
        <pc:spChg chg="mod">
          <ac:chgData name="Harshita Sahu" userId="c3bcdbd82bb9af11" providerId="LiveId" clId="{7193A4A2-5A1A-43A9-AEF5-7EE65CA6236A}" dt="2025-12-26T08:33:28.528" v="3713" actId="20577"/>
          <ac:spMkLst>
            <pc:docMk/>
            <pc:sldMk cId="4227618434" sldId="289"/>
            <ac:spMk id="2" creationId="{66D8154F-B0C4-1974-873B-752C211CCE9F}"/>
          </ac:spMkLst>
        </pc:spChg>
      </pc:sldChg>
      <pc:sldChg chg="modSp mod">
        <pc:chgData name="Harshita Sahu" userId="c3bcdbd82bb9af11" providerId="LiveId" clId="{7193A4A2-5A1A-43A9-AEF5-7EE65CA6236A}" dt="2025-12-25T16:04:37.239" v="89" actId="20577"/>
        <pc:sldMkLst>
          <pc:docMk/>
          <pc:sldMk cId="2320336405" sldId="291"/>
        </pc:sldMkLst>
        <pc:spChg chg="mod">
          <ac:chgData name="Harshita Sahu" userId="c3bcdbd82bb9af11" providerId="LiveId" clId="{7193A4A2-5A1A-43A9-AEF5-7EE65CA6236A}" dt="2025-12-25T16:04:37.239" v="89" actId="20577"/>
          <ac:spMkLst>
            <pc:docMk/>
            <pc:sldMk cId="2320336405" sldId="291"/>
            <ac:spMk id="2" creationId="{FB753F9E-04B4-1C3B-8876-F7B68720E443}"/>
          </ac:spMkLst>
        </pc:spChg>
      </pc:sldChg>
      <pc:sldChg chg="addSp delSp modSp new mod">
        <pc:chgData name="Harshita Sahu" userId="c3bcdbd82bb9af11" providerId="LiveId" clId="{7193A4A2-5A1A-43A9-AEF5-7EE65CA6236A}" dt="2025-12-25T16:29:24.767" v="855" actId="20577"/>
        <pc:sldMkLst>
          <pc:docMk/>
          <pc:sldMk cId="460271901" sldId="305"/>
        </pc:sldMkLst>
        <pc:spChg chg="mod">
          <ac:chgData name="Harshita Sahu" userId="c3bcdbd82bb9af11" providerId="LiveId" clId="{7193A4A2-5A1A-43A9-AEF5-7EE65CA6236A}" dt="2025-12-25T16:29:24.767" v="855" actId="20577"/>
          <ac:spMkLst>
            <pc:docMk/>
            <pc:sldMk cId="460271901" sldId="305"/>
            <ac:spMk id="2" creationId="{EA518DBD-FF3B-F47C-A40A-C78627E167E1}"/>
          </ac:spMkLst>
        </pc:spChg>
        <pc:spChg chg="add mod">
          <ac:chgData name="Harshita Sahu" userId="c3bcdbd82bb9af11" providerId="LiveId" clId="{7193A4A2-5A1A-43A9-AEF5-7EE65CA6236A}" dt="2025-12-25T16:07:58.339" v="111" actId="20577"/>
          <ac:spMkLst>
            <pc:docMk/>
            <pc:sldMk cId="460271901" sldId="305"/>
            <ac:spMk id="4" creationId="{4E19B7F2-5535-27C7-88D1-4B39B287D535}"/>
          </ac:spMkLst>
        </pc:spChg>
      </pc:sldChg>
      <pc:sldChg chg="addSp modSp add mod">
        <pc:chgData name="Harshita Sahu" userId="c3bcdbd82bb9af11" providerId="LiveId" clId="{7193A4A2-5A1A-43A9-AEF5-7EE65CA6236A}" dt="2025-12-25T16:43:28.450" v="2042" actId="113"/>
        <pc:sldMkLst>
          <pc:docMk/>
          <pc:sldMk cId="3386040429" sldId="306"/>
        </pc:sldMkLst>
        <pc:spChg chg="mod">
          <ac:chgData name="Harshita Sahu" userId="c3bcdbd82bb9af11" providerId="LiveId" clId="{7193A4A2-5A1A-43A9-AEF5-7EE65CA6236A}" dt="2025-12-25T16:43:28.450" v="2042" actId="113"/>
          <ac:spMkLst>
            <pc:docMk/>
            <pc:sldMk cId="3386040429" sldId="306"/>
            <ac:spMk id="2" creationId="{17AC903A-B58A-70A9-A38D-5748185CD8FD}"/>
          </ac:spMkLst>
        </pc:spChg>
        <pc:picChg chg="add mod">
          <ac:chgData name="Harshita Sahu" userId="c3bcdbd82bb9af11" providerId="LiveId" clId="{7193A4A2-5A1A-43A9-AEF5-7EE65CA6236A}" dt="2025-12-25T16:37:24.684" v="1580" actId="14100"/>
          <ac:picMkLst>
            <pc:docMk/>
            <pc:sldMk cId="3386040429" sldId="306"/>
            <ac:picMk id="5" creationId="{2AD57DF2-8F78-BA2A-8504-3C1761BB3A03}"/>
          </ac:picMkLst>
        </pc:picChg>
      </pc:sldChg>
      <pc:sldChg chg="addSp modSp add mod ord">
        <pc:chgData name="Harshita Sahu" userId="c3bcdbd82bb9af11" providerId="LiveId" clId="{7193A4A2-5A1A-43A9-AEF5-7EE65CA6236A}" dt="2025-12-26T08:05:57.396" v="2178" actId="14100"/>
        <pc:sldMkLst>
          <pc:docMk/>
          <pc:sldMk cId="1607620169" sldId="307"/>
        </pc:sldMkLst>
        <pc:spChg chg="mod">
          <ac:chgData name="Harshita Sahu" userId="c3bcdbd82bb9af11" providerId="LiveId" clId="{7193A4A2-5A1A-43A9-AEF5-7EE65CA6236A}" dt="2025-12-25T16:44:21.852" v="2047" actId="27636"/>
          <ac:spMkLst>
            <pc:docMk/>
            <pc:sldMk cId="1607620169" sldId="307"/>
            <ac:spMk id="2" creationId="{323F15D8-DE42-AC66-B8D5-6A12DB076D6F}"/>
          </ac:spMkLst>
        </pc:spChg>
        <pc:spChg chg="add mod">
          <ac:chgData name="Harshita Sahu" userId="c3bcdbd82bb9af11" providerId="LiveId" clId="{7193A4A2-5A1A-43A9-AEF5-7EE65CA6236A}" dt="2025-12-26T08:03:14.440" v="2085" actId="20577"/>
          <ac:spMkLst>
            <pc:docMk/>
            <pc:sldMk cId="1607620169" sldId="307"/>
            <ac:spMk id="8" creationId="{B25616D7-CD7E-6D7D-7079-7B93F5CA583C}"/>
          </ac:spMkLst>
        </pc:spChg>
        <pc:spChg chg="add mod">
          <ac:chgData name="Harshita Sahu" userId="c3bcdbd82bb9af11" providerId="LiveId" clId="{7193A4A2-5A1A-43A9-AEF5-7EE65CA6236A}" dt="2025-12-26T08:05:57.396" v="2178" actId="14100"/>
          <ac:spMkLst>
            <pc:docMk/>
            <pc:sldMk cId="1607620169" sldId="307"/>
            <ac:spMk id="12" creationId="{CDA19900-F903-DC58-60A9-21A45949FB4F}"/>
          </ac:spMkLst>
        </pc:spChg>
        <pc:picChg chg="add mod">
          <ac:chgData name="Harshita Sahu" userId="c3bcdbd82bb9af11" providerId="LiveId" clId="{7193A4A2-5A1A-43A9-AEF5-7EE65CA6236A}" dt="2025-12-26T08:01:14.154" v="2070" actId="1582"/>
          <ac:picMkLst>
            <pc:docMk/>
            <pc:sldMk cId="1607620169" sldId="307"/>
            <ac:picMk id="5" creationId="{065EE823-DEEB-4D78-5556-0ADE0F16792C}"/>
          </ac:picMkLst>
        </pc:picChg>
        <pc:picChg chg="add mod">
          <ac:chgData name="Harshita Sahu" userId="c3bcdbd82bb9af11" providerId="LiveId" clId="{7193A4A2-5A1A-43A9-AEF5-7EE65CA6236A}" dt="2025-12-26T08:01:25.045" v="2072" actId="14100"/>
          <ac:picMkLst>
            <pc:docMk/>
            <pc:sldMk cId="1607620169" sldId="307"/>
            <ac:picMk id="7" creationId="{88558EC4-5E0E-2220-0AF5-F0DEE382F613}"/>
          </ac:picMkLst>
        </pc:picChg>
      </pc:sldChg>
      <pc:sldChg chg="addSp delSp modSp add mod">
        <pc:chgData name="Harshita Sahu" userId="c3bcdbd82bb9af11" providerId="LiveId" clId="{7193A4A2-5A1A-43A9-AEF5-7EE65CA6236A}" dt="2025-12-26T08:12:29.259" v="2605" actId="478"/>
        <pc:sldMkLst>
          <pc:docMk/>
          <pc:sldMk cId="3833959263" sldId="308"/>
        </pc:sldMkLst>
        <pc:spChg chg="mod">
          <ac:chgData name="Harshita Sahu" userId="c3bcdbd82bb9af11" providerId="LiveId" clId="{7193A4A2-5A1A-43A9-AEF5-7EE65CA6236A}" dt="2025-12-26T08:11:31.407" v="2602" actId="1076"/>
          <ac:spMkLst>
            <pc:docMk/>
            <pc:sldMk cId="3833959263" sldId="308"/>
            <ac:spMk id="12" creationId="{A5E9F876-FD06-237C-590B-FB9E292F33D5}"/>
          </ac:spMkLst>
        </pc:spChg>
        <pc:picChg chg="add mod">
          <ac:chgData name="Harshita Sahu" userId="c3bcdbd82bb9af11" providerId="LiveId" clId="{7193A4A2-5A1A-43A9-AEF5-7EE65CA6236A}" dt="2025-12-26T08:11:34.056" v="2603" actId="1076"/>
          <ac:picMkLst>
            <pc:docMk/>
            <pc:sldMk cId="3833959263" sldId="308"/>
            <ac:picMk id="6" creationId="{FEB2509C-975E-6D11-FFB2-C5DB3F82E91D}"/>
          </ac:picMkLst>
        </pc:picChg>
      </pc:sldChg>
      <pc:sldChg chg="addSp modSp new mod">
        <pc:chgData name="Harshita Sahu" userId="c3bcdbd82bb9af11" providerId="LiveId" clId="{7193A4A2-5A1A-43A9-AEF5-7EE65CA6236A}" dt="2025-12-26T08:11:01.475" v="2599" actId="1076"/>
        <pc:sldMkLst>
          <pc:docMk/>
          <pc:sldMk cId="197246316" sldId="309"/>
        </pc:sldMkLst>
        <pc:spChg chg="add mod">
          <ac:chgData name="Harshita Sahu" userId="c3bcdbd82bb9af11" providerId="LiveId" clId="{7193A4A2-5A1A-43A9-AEF5-7EE65CA6236A}" dt="2025-12-26T08:11:01.475" v="2599" actId="1076"/>
          <ac:spMkLst>
            <pc:docMk/>
            <pc:sldMk cId="197246316" sldId="309"/>
            <ac:spMk id="2" creationId="{0EBA3FA7-0563-9EE5-FC6A-94E1D3319DEE}"/>
          </ac:spMkLst>
        </pc:spChg>
      </pc:sldChg>
      <pc:sldChg chg="addSp delSp modSp add mod">
        <pc:chgData name="Harshita Sahu" userId="c3bcdbd82bb9af11" providerId="LiveId" clId="{7193A4A2-5A1A-43A9-AEF5-7EE65CA6236A}" dt="2025-12-26T08:20:15.398" v="3076" actId="20577"/>
        <pc:sldMkLst>
          <pc:docMk/>
          <pc:sldMk cId="3867288097" sldId="310"/>
        </pc:sldMkLst>
        <pc:spChg chg="mod">
          <ac:chgData name="Harshita Sahu" userId="c3bcdbd82bb9af11" providerId="LiveId" clId="{7193A4A2-5A1A-43A9-AEF5-7EE65CA6236A}" dt="2025-12-26T08:20:15.398" v="3076" actId="20577"/>
          <ac:spMkLst>
            <pc:docMk/>
            <pc:sldMk cId="3867288097" sldId="310"/>
            <ac:spMk id="12" creationId="{ED96BE40-D582-BCC2-473C-38704253D7F2}"/>
          </ac:spMkLst>
        </pc:spChg>
        <pc:picChg chg="add mod">
          <ac:chgData name="Harshita Sahu" userId="c3bcdbd82bb9af11" providerId="LiveId" clId="{7193A4A2-5A1A-43A9-AEF5-7EE65CA6236A}" dt="2025-12-26T08:13:22.065" v="2617" actId="208"/>
          <ac:picMkLst>
            <pc:docMk/>
            <pc:sldMk cId="3867288097" sldId="310"/>
            <ac:picMk id="3" creationId="{0C5CACCD-3AB7-D54A-E508-DB05AC376F58}"/>
          </ac:picMkLst>
        </pc:picChg>
      </pc:sldChg>
      <pc:sldChg chg="addSp delSp modSp add mod">
        <pc:chgData name="Harshita Sahu" userId="c3bcdbd82bb9af11" providerId="LiveId" clId="{7193A4A2-5A1A-43A9-AEF5-7EE65CA6236A}" dt="2025-12-26T08:27:25.659" v="3701" actId="1076"/>
        <pc:sldMkLst>
          <pc:docMk/>
          <pc:sldMk cId="1621416793" sldId="311"/>
        </pc:sldMkLst>
        <pc:spChg chg="mod">
          <ac:chgData name="Harshita Sahu" userId="c3bcdbd82bb9af11" providerId="LiveId" clId="{7193A4A2-5A1A-43A9-AEF5-7EE65CA6236A}" dt="2025-12-26T08:27:19.192" v="3699" actId="1076"/>
          <ac:spMkLst>
            <pc:docMk/>
            <pc:sldMk cId="1621416793" sldId="311"/>
            <ac:spMk id="12" creationId="{ABF1EE2F-159A-9D82-9E87-04ED61054302}"/>
          </ac:spMkLst>
        </pc:spChg>
        <pc:picChg chg="add mod">
          <ac:chgData name="Harshita Sahu" userId="c3bcdbd82bb9af11" providerId="LiveId" clId="{7193A4A2-5A1A-43A9-AEF5-7EE65CA6236A}" dt="2025-12-26T08:27:25.659" v="3701" actId="1076"/>
          <ac:picMkLst>
            <pc:docMk/>
            <pc:sldMk cId="1621416793" sldId="311"/>
            <ac:picMk id="2" creationId="{7210F474-5924-66C3-B03D-923C6D6F44BF}"/>
          </ac:picMkLst>
        </pc:picChg>
      </pc:sldChg>
      <pc:sldChg chg="addSp delSp modSp new mod">
        <pc:chgData name="Harshita Sahu" userId="c3bcdbd82bb9af11" providerId="LiveId" clId="{7193A4A2-5A1A-43A9-AEF5-7EE65CA6236A}" dt="2025-12-28T07:18:57.268" v="4131" actId="1076"/>
        <pc:sldMkLst>
          <pc:docMk/>
          <pc:sldMk cId="1784637583" sldId="312"/>
        </pc:sldMkLst>
        <pc:spChg chg="mod">
          <ac:chgData name="Harshita Sahu" userId="c3bcdbd82bb9af11" providerId="LiveId" clId="{7193A4A2-5A1A-43A9-AEF5-7EE65CA6236A}" dt="2025-12-28T07:18:57.268" v="4131" actId="1076"/>
          <ac:spMkLst>
            <pc:docMk/>
            <pc:sldMk cId="1784637583" sldId="312"/>
            <ac:spMk id="2" creationId="{21C60C93-0390-E585-02B0-A8175A057989}"/>
          </ac:spMkLst>
        </pc:spChg>
        <pc:spChg chg="del">
          <ac:chgData name="Harshita Sahu" userId="c3bcdbd82bb9af11" providerId="LiveId" clId="{7193A4A2-5A1A-43A9-AEF5-7EE65CA6236A}" dt="2025-12-28T07:03:14.890" v="3715" actId="478"/>
          <ac:spMkLst>
            <pc:docMk/>
            <pc:sldMk cId="1784637583" sldId="312"/>
            <ac:spMk id="3" creationId="{169FF722-B6DD-56F0-C3A4-F0559D050B0B}"/>
          </ac:spMkLst>
        </pc:spChg>
        <pc:spChg chg="add mod">
          <ac:chgData name="Harshita Sahu" userId="c3bcdbd82bb9af11" providerId="LiveId" clId="{7193A4A2-5A1A-43A9-AEF5-7EE65CA6236A}" dt="2025-12-28T07:03:38.923" v="3754" actId="20577"/>
          <ac:spMkLst>
            <pc:docMk/>
            <pc:sldMk cId="1784637583" sldId="312"/>
            <ac:spMk id="4" creationId="{133D68F9-F8CE-B07C-8F89-ED6E2CC8A839}"/>
          </ac:spMkLst>
        </pc:spChg>
        <pc:graphicFrameChg chg="add mod modGraphic">
          <ac:chgData name="Harshita Sahu" userId="c3bcdbd82bb9af11" providerId="LiveId" clId="{7193A4A2-5A1A-43A9-AEF5-7EE65CA6236A}" dt="2025-12-28T07:18:28.707" v="4123" actId="1076"/>
          <ac:graphicFrameMkLst>
            <pc:docMk/>
            <pc:sldMk cId="1784637583" sldId="312"/>
            <ac:graphicFrameMk id="5" creationId="{8EA55FDD-EC2D-0327-C573-36A855ABC6E1}"/>
          </ac:graphicFrameMkLst>
        </pc:graphicFrameChg>
      </pc:sldChg>
      <pc:sldChg chg="addSp delSp modSp new mod">
        <pc:chgData name="Harshita Sahu" userId="c3bcdbd82bb9af11" providerId="LiveId" clId="{7193A4A2-5A1A-43A9-AEF5-7EE65CA6236A}" dt="2025-12-28T07:37:52.434" v="4372"/>
        <pc:sldMkLst>
          <pc:docMk/>
          <pc:sldMk cId="3034776145" sldId="313"/>
        </pc:sldMkLst>
        <pc:spChg chg="del">
          <ac:chgData name="Harshita Sahu" userId="c3bcdbd82bb9af11" providerId="LiveId" clId="{7193A4A2-5A1A-43A9-AEF5-7EE65CA6236A}" dt="2025-12-28T07:20:48.969" v="4135" actId="478"/>
          <ac:spMkLst>
            <pc:docMk/>
            <pc:sldMk cId="3034776145" sldId="313"/>
            <ac:spMk id="2" creationId="{A06955A2-686F-3B82-39AC-9A4386B8A324}"/>
          </ac:spMkLst>
        </pc:spChg>
        <pc:spChg chg="del">
          <ac:chgData name="Harshita Sahu" userId="c3bcdbd82bb9af11" providerId="LiveId" clId="{7193A4A2-5A1A-43A9-AEF5-7EE65CA6236A}" dt="2025-12-28T07:19:12.024" v="4133" actId="478"/>
          <ac:spMkLst>
            <pc:docMk/>
            <pc:sldMk cId="3034776145" sldId="313"/>
            <ac:spMk id="3" creationId="{D521AF24-C908-6361-4475-73AA03B16E0A}"/>
          </ac:spMkLst>
        </pc:spChg>
        <pc:spChg chg="add mod">
          <ac:chgData name="Harshita Sahu" userId="c3bcdbd82bb9af11" providerId="LiveId" clId="{7193A4A2-5A1A-43A9-AEF5-7EE65CA6236A}" dt="2025-12-28T07:19:12.408" v="4134"/>
          <ac:spMkLst>
            <pc:docMk/>
            <pc:sldMk cId="3034776145" sldId="313"/>
            <ac:spMk id="4" creationId="{25EEFB0F-59AF-8845-BDA3-C1C1367763C5}"/>
          </ac:spMkLst>
        </pc:spChg>
        <pc:spChg chg="add mod">
          <ac:chgData name="Harshita Sahu" userId="c3bcdbd82bb9af11" providerId="LiveId" clId="{7193A4A2-5A1A-43A9-AEF5-7EE65CA6236A}" dt="2025-12-28T07:20:54.866" v="4142" actId="20577"/>
          <ac:spMkLst>
            <pc:docMk/>
            <pc:sldMk cId="3034776145" sldId="313"/>
            <ac:spMk id="5" creationId="{B66DF581-2F15-6D21-3BC1-38FAEEDAB30B}"/>
          </ac:spMkLst>
        </pc:spChg>
        <pc:graphicFrameChg chg="add mod modGraphic">
          <ac:chgData name="Harshita Sahu" userId="c3bcdbd82bb9af11" providerId="LiveId" clId="{7193A4A2-5A1A-43A9-AEF5-7EE65CA6236A}" dt="2025-12-28T07:37:52.434" v="4372"/>
          <ac:graphicFrameMkLst>
            <pc:docMk/>
            <pc:sldMk cId="3034776145" sldId="313"/>
            <ac:graphicFrameMk id="6" creationId="{07FABEF0-5C79-63DC-BB45-F36DFC091596}"/>
          </ac:graphicFrameMkLst>
        </pc:graphicFrameChg>
      </pc:sldChg>
      <pc:sldChg chg="addSp delSp modSp new mod">
        <pc:chgData name="Harshita Sahu" userId="c3bcdbd82bb9af11" providerId="LiveId" clId="{7193A4A2-5A1A-43A9-AEF5-7EE65CA6236A}" dt="2025-12-28T07:56:32.364" v="4540" actId="2165"/>
        <pc:sldMkLst>
          <pc:docMk/>
          <pc:sldMk cId="1738987420" sldId="314"/>
        </pc:sldMkLst>
        <pc:spChg chg="del">
          <ac:chgData name="Harshita Sahu" userId="c3bcdbd82bb9af11" providerId="LiveId" clId="{7193A4A2-5A1A-43A9-AEF5-7EE65CA6236A}" dt="2025-12-28T07:38:09.872" v="4376" actId="478"/>
          <ac:spMkLst>
            <pc:docMk/>
            <pc:sldMk cId="1738987420" sldId="314"/>
            <ac:spMk id="2" creationId="{424A8E57-736B-D973-5311-7094A3593AF5}"/>
          </ac:spMkLst>
        </pc:spChg>
        <pc:spChg chg="del">
          <ac:chgData name="Harshita Sahu" userId="c3bcdbd82bb9af11" providerId="LiveId" clId="{7193A4A2-5A1A-43A9-AEF5-7EE65CA6236A}" dt="2025-12-28T07:38:05.528" v="4374" actId="478"/>
          <ac:spMkLst>
            <pc:docMk/>
            <pc:sldMk cId="1738987420" sldId="314"/>
            <ac:spMk id="3" creationId="{C30339E0-ABF9-A6C7-4D5C-FC753978BD5D}"/>
          </ac:spMkLst>
        </pc:spChg>
        <pc:spChg chg="add mod">
          <ac:chgData name="Harshita Sahu" userId="c3bcdbd82bb9af11" providerId="LiveId" clId="{7193A4A2-5A1A-43A9-AEF5-7EE65CA6236A}" dt="2025-12-28T07:38:06.158" v="4375"/>
          <ac:spMkLst>
            <pc:docMk/>
            <pc:sldMk cId="1738987420" sldId="314"/>
            <ac:spMk id="4" creationId="{AFC21902-FEE6-1FD6-DA22-2A2529A47EB6}"/>
          </ac:spMkLst>
        </pc:spChg>
        <pc:spChg chg="add mod">
          <ac:chgData name="Harshita Sahu" userId="c3bcdbd82bb9af11" providerId="LiveId" clId="{7193A4A2-5A1A-43A9-AEF5-7EE65CA6236A}" dt="2025-12-28T07:38:31.646" v="4389" actId="20577"/>
          <ac:spMkLst>
            <pc:docMk/>
            <pc:sldMk cId="1738987420" sldId="314"/>
            <ac:spMk id="5" creationId="{DCADC681-4827-9DD5-431C-4F86C590224C}"/>
          </ac:spMkLst>
        </pc:spChg>
        <pc:graphicFrameChg chg="add mod modGraphic">
          <ac:chgData name="Harshita Sahu" userId="c3bcdbd82bb9af11" providerId="LiveId" clId="{7193A4A2-5A1A-43A9-AEF5-7EE65CA6236A}" dt="2025-12-28T07:56:32.364" v="4540" actId="2165"/>
          <ac:graphicFrameMkLst>
            <pc:docMk/>
            <pc:sldMk cId="1738987420" sldId="314"/>
            <ac:graphicFrameMk id="6" creationId="{D2D53809-E50E-2EE6-3DBD-37F8CFB714BC}"/>
          </ac:graphicFrameMkLst>
        </pc:graphicFrame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caletrix Title Page">
    <p:spTree>
      <p:nvGrpSpPr>
        <p:cNvPr id="1" name=""/>
        <p:cNvGrpSpPr/>
        <p:nvPr/>
      </p:nvGrpSpPr>
      <p:grpSpPr>
        <a:xfrm>
          <a:off x="0" y="0"/>
          <a:ext cx="0" cy="0"/>
          <a:chOff x="0" y="0"/>
          <a:chExt cx="0" cy="0"/>
        </a:xfrm>
      </p:grpSpPr>
      <p:sp>
        <p:nvSpPr>
          <p:cNvPr id="2" name="Google Shape;22;p3">
            <a:extLst>
              <a:ext uri="{FF2B5EF4-FFF2-40B4-BE49-F238E27FC236}">
                <a16:creationId xmlns:a16="http://schemas.microsoft.com/office/drawing/2014/main" id="{2F306997-3B2B-2B65-053F-A3D89D2F2DA0}"/>
              </a:ext>
            </a:extLst>
          </p:cNvPr>
          <p:cNvSpPr/>
          <p:nvPr/>
        </p:nvSpPr>
        <p:spPr>
          <a:xfrm>
            <a:off x="-67" y="0"/>
            <a:ext cx="12192000" cy="6327976"/>
          </a:xfrm>
          <a:prstGeom prst="rect">
            <a:avLst/>
          </a:prstGeom>
          <a:solidFill>
            <a:schemeClr val="tx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dirty="0"/>
          </a:p>
        </p:txBody>
      </p:sp>
      <p:pic>
        <p:nvPicPr>
          <p:cNvPr id="3" name="Picture 2">
            <a:extLst>
              <a:ext uri="{FF2B5EF4-FFF2-40B4-BE49-F238E27FC236}">
                <a16:creationId xmlns:a16="http://schemas.microsoft.com/office/drawing/2014/main" id="{03AD558F-750C-7F7A-EF36-7477B28E6647}"/>
              </a:ext>
            </a:extLst>
          </p:cNvPr>
          <p:cNvPicPr>
            <a:picLocks noChangeAspect="1"/>
          </p:cNvPicPr>
          <p:nvPr/>
        </p:nvPicPr>
        <p:blipFill rotWithShape="1">
          <a:blip r:embed="rId2"/>
          <a:srcRect r="5636" b="4250"/>
          <a:stretch/>
        </p:blipFill>
        <p:spPr>
          <a:xfrm flipH="1">
            <a:off x="937527" y="1260005"/>
            <a:ext cx="5091797" cy="4486363"/>
          </a:xfrm>
          <a:prstGeom prst="rect">
            <a:avLst/>
          </a:prstGeom>
        </p:spPr>
      </p:pic>
      <p:sp>
        <p:nvSpPr>
          <p:cNvPr id="10" name="Rectangle 9">
            <a:extLst>
              <a:ext uri="{FF2B5EF4-FFF2-40B4-BE49-F238E27FC236}">
                <a16:creationId xmlns:a16="http://schemas.microsoft.com/office/drawing/2014/main" id="{41D13BBF-8BF9-58E8-2D48-8C25E8436E1D}"/>
              </a:ext>
            </a:extLst>
          </p:cNvPr>
          <p:cNvSpPr/>
          <p:nvPr/>
        </p:nvSpPr>
        <p:spPr>
          <a:xfrm>
            <a:off x="0" y="0"/>
            <a:ext cx="12195029" cy="524801"/>
          </a:xfrm>
          <a:prstGeom prst="rect">
            <a:avLst/>
          </a:prstGeom>
          <a:solidFill>
            <a:srgbClr val="348E90"/>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12" name="Google Shape;37;p60">
            <a:extLst>
              <a:ext uri="{FF2B5EF4-FFF2-40B4-BE49-F238E27FC236}">
                <a16:creationId xmlns:a16="http://schemas.microsoft.com/office/drawing/2014/main" id="{E6481E89-02DE-7518-CF7A-DC982067B7A2}"/>
              </a:ext>
            </a:extLst>
          </p:cNvPr>
          <p:cNvSpPr txBox="1">
            <a:spLocks noGrp="1"/>
          </p:cNvSpPr>
          <p:nvPr>
            <p:ph type="subTitle" idx="1"/>
          </p:nvPr>
        </p:nvSpPr>
        <p:spPr>
          <a:xfrm>
            <a:off x="6279060" y="2107188"/>
            <a:ext cx="5455740" cy="1056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2400"/>
              <a:buNone/>
              <a:defRPr sz="3200">
                <a:latin typeface="Raleway"/>
                <a:ea typeface="Raleway"/>
                <a:cs typeface="Raleway"/>
                <a:sym typeface="Raleway"/>
              </a:defRPr>
            </a:lvl1pPr>
            <a:lvl2pPr lvl="1" algn="ctr">
              <a:lnSpc>
                <a:spcPct val="100000"/>
              </a:lnSpc>
              <a:spcBef>
                <a:spcPts val="0"/>
              </a:spcBef>
              <a:spcAft>
                <a:spcPts val="0"/>
              </a:spcAft>
              <a:buSzPts val="2400"/>
              <a:buNone/>
              <a:defRPr sz="3200"/>
            </a:lvl2pPr>
            <a:lvl3pPr lvl="2" algn="ctr">
              <a:lnSpc>
                <a:spcPct val="100000"/>
              </a:lnSpc>
              <a:spcBef>
                <a:spcPts val="0"/>
              </a:spcBef>
              <a:spcAft>
                <a:spcPts val="0"/>
              </a:spcAft>
              <a:buSzPts val="2400"/>
              <a:buNone/>
              <a:defRPr sz="3200"/>
            </a:lvl3pPr>
            <a:lvl4pPr lvl="3" algn="ctr">
              <a:lnSpc>
                <a:spcPct val="100000"/>
              </a:lnSpc>
              <a:spcBef>
                <a:spcPts val="0"/>
              </a:spcBef>
              <a:spcAft>
                <a:spcPts val="0"/>
              </a:spcAft>
              <a:buSzPts val="2400"/>
              <a:buNone/>
              <a:defRPr sz="3200"/>
            </a:lvl4pPr>
            <a:lvl5pPr lvl="4" algn="ctr">
              <a:lnSpc>
                <a:spcPct val="100000"/>
              </a:lnSpc>
              <a:spcBef>
                <a:spcPts val="0"/>
              </a:spcBef>
              <a:spcAft>
                <a:spcPts val="0"/>
              </a:spcAft>
              <a:buSzPts val="2400"/>
              <a:buNone/>
              <a:defRPr sz="3200"/>
            </a:lvl5pPr>
            <a:lvl6pPr lvl="5" algn="ctr">
              <a:lnSpc>
                <a:spcPct val="100000"/>
              </a:lnSpc>
              <a:spcBef>
                <a:spcPts val="0"/>
              </a:spcBef>
              <a:spcAft>
                <a:spcPts val="0"/>
              </a:spcAft>
              <a:buSzPts val="2400"/>
              <a:buNone/>
              <a:defRPr sz="3200"/>
            </a:lvl6pPr>
            <a:lvl7pPr lvl="6" algn="ctr">
              <a:lnSpc>
                <a:spcPct val="100000"/>
              </a:lnSpc>
              <a:spcBef>
                <a:spcPts val="0"/>
              </a:spcBef>
              <a:spcAft>
                <a:spcPts val="0"/>
              </a:spcAft>
              <a:buSzPts val="2400"/>
              <a:buNone/>
              <a:defRPr sz="3200"/>
            </a:lvl7pPr>
            <a:lvl8pPr lvl="7" algn="ctr">
              <a:lnSpc>
                <a:spcPct val="100000"/>
              </a:lnSpc>
              <a:spcBef>
                <a:spcPts val="0"/>
              </a:spcBef>
              <a:spcAft>
                <a:spcPts val="0"/>
              </a:spcAft>
              <a:buSzPts val="2400"/>
              <a:buNone/>
              <a:defRPr sz="3200"/>
            </a:lvl8pPr>
            <a:lvl9pPr lvl="8" algn="ctr">
              <a:lnSpc>
                <a:spcPct val="100000"/>
              </a:lnSpc>
              <a:spcBef>
                <a:spcPts val="0"/>
              </a:spcBef>
              <a:spcAft>
                <a:spcPts val="0"/>
              </a:spcAft>
              <a:buSzPts val="2400"/>
              <a:buNone/>
              <a:defRPr sz="3200"/>
            </a:lvl9pPr>
          </a:lstStyle>
          <a:p>
            <a:r>
              <a:rPr lang="en-US"/>
              <a:t>Click to edit Master subtitle style</a:t>
            </a:r>
            <a:endParaRPr/>
          </a:p>
        </p:txBody>
      </p:sp>
    </p:spTree>
    <p:extLst>
      <p:ext uri="{BB962C8B-B14F-4D97-AF65-F5344CB8AC3E}">
        <p14:creationId xmlns:p14="http://schemas.microsoft.com/office/powerpoint/2010/main" val="11343032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1"/>
        <p:cNvGrpSpPr/>
        <p:nvPr/>
      </p:nvGrpSpPr>
      <p:grpSpPr>
        <a:xfrm>
          <a:off x="0" y="0"/>
          <a:ext cx="0" cy="0"/>
          <a:chOff x="0" y="0"/>
          <a:chExt cx="0" cy="0"/>
        </a:xfrm>
      </p:grpSpPr>
      <p:sp>
        <p:nvSpPr>
          <p:cNvPr id="23" name="Google Shape;23;p3"/>
          <p:cNvSpPr txBox="1">
            <a:spLocks noGrp="1"/>
          </p:cNvSpPr>
          <p:nvPr>
            <p:ph type="title"/>
          </p:nvPr>
        </p:nvSpPr>
        <p:spPr>
          <a:xfrm>
            <a:off x="415600" y="4289085"/>
            <a:ext cx="11428400" cy="1256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a:latin typeface="Raleway" pitchFamily="2" charset="0"/>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a:r>
              <a:rPr lang="en-US"/>
              <a:t>Click to edit Master title style</a:t>
            </a:r>
            <a:endParaRPr dirty="0"/>
          </a:p>
        </p:txBody>
      </p:sp>
      <p:sp>
        <p:nvSpPr>
          <p:cNvPr id="2" name="Google Shape;8;p1">
            <a:extLst>
              <a:ext uri="{FF2B5EF4-FFF2-40B4-BE49-F238E27FC236}">
                <a16:creationId xmlns:a16="http://schemas.microsoft.com/office/drawing/2014/main" id="{9DF37ADA-1D1E-F64E-723D-3F6E9A12009A}"/>
              </a:ext>
            </a:extLst>
          </p:cNvPr>
          <p:cNvSpPr txBox="1">
            <a:spLocks noGrp="1"/>
          </p:cNvSpPr>
          <p:nvPr>
            <p:ph type="sldNum" idx="12"/>
          </p:nvPr>
        </p:nvSpPr>
        <p:spPr>
          <a:xfrm>
            <a:off x="11323907" y="6414447"/>
            <a:ext cx="731600" cy="355272"/>
          </a:xfrm>
          <a:prstGeom prst="rect">
            <a:avLst/>
          </a:prstGeom>
          <a:noFill/>
          <a:ln>
            <a:noFill/>
          </a:ln>
        </p:spPr>
        <p:txBody>
          <a:bodyPr spcFirstLastPara="1" wrap="square" lIns="91425" tIns="91425" rIns="91425" bIns="91425" anchor="ctr" anchorCtr="0">
            <a:normAutofit/>
          </a:bodyPr>
          <a:lstStyle>
            <a:lvl1pPr lvl="0" algn="r">
              <a:buNone/>
              <a:defRPr sz="1333">
                <a:solidFill>
                  <a:schemeClr val="bg1"/>
                </a:solidFill>
                <a:latin typeface="Raleway" pitchFamily="2" charset="0"/>
                <a:ea typeface="Open Sans"/>
                <a:cs typeface="Open Sans"/>
                <a:sym typeface="Open Sans"/>
              </a:defRPr>
            </a:lvl1pPr>
            <a:lvl2pPr lvl="1" algn="r">
              <a:buNone/>
              <a:defRPr sz="1333">
                <a:solidFill>
                  <a:schemeClr val="dk2"/>
                </a:solidFill>
                <a:latin typeface="Open Sans"/>
                <a:ea typeface="Open Sans"/>
                <a:cs typeface="Open Sans"/>
                <a:sym typeface="Open Sans"/>
              </a:defRPr>
            </a:lvl2pPr>
            <a:lvl3pPr lvl="2" algn="r">
              <a:buNone/>
              <a:defRPr sz="1333">
                <a:solidFill>
                  <a:schemeClr val="dk2"/>
                </a:solidFill>
                <a:latin typeface="Open Sans"/>
                <a:ea typeface="Open Sans"/>
                <a:cs typeface="Open Sans"/>
                <a:sym typeface="Open Sans"/>
              </a:defRPr>
            </a:lvl3pPr>
            <a:lvl4pPr lvl="3" algn="r">
              <a:buNone/>
              <a:defRPr sz="1333">
                <a:solidFill>
                  <a:schemeClr val="dk2"/>
                </a:solidFill>
                <a:latin typeface="Open Sans"/>
                <a:ea typeface="Open Sans"/>
                <a:cs typeface="Open Sans"/>
                <a:sym typeface="Open Sans"/>
              </a:defRPr>
            </a:lvl4pPr>
            <a:lvl5pPr lvl="4" algn="r">
              <a:buNone/>
              <a:defRPr sz="1333">
                <a:solidFill>
                  <a:schemeClr val="dk2"/>
                </a:solidFill>
                <a:latin typeface="Open Sans"/>
                <a:ea typeface="Open Sans"/>
                <a:cs typeface="Open Sans"/>
                <a:sym typeface="Open Sans"/>
              </a:defRPr>
            </a:lvl5pPr>
            <a:lvl6pPr lvl="5" algn="r">
              <a:buNone/>
              <a:defRPr sz="1333">
                <a:solidFill>
                  <a:schemeClr val="dk2"/>
                </a:solidFill>
                <a:latin typeface="Open Sans"/>
                <a:ea typeface="Open Sans"/>
                <a:cs typeface="Open Sans"/>
                <a:sym typeface="Open Sans"/>
              </a:defRPr>
            </a:lvl6pPr>
            <a:lvl7pPr lvl="6" algn="r">
              <a:buNone/>
              <a:defRPr sz="1333">
                <a:solidFill>
                  <a:schemeClr val="dk2"/>
                </a:solidFill>
                <a:latin typeface="Open Sans"/>
                <a:ea typeface="Open Sans"/>
                <a:cs typeface="Open Sans"/>
                <a:sym typeface="Open Sans"/>
              </a:defRPr>
            </a:lvl7pPr>
            <a:lvl8pPr lvl="7" algn="r">
              <a:buNone/>
              <a:defRPr sz="1333">
                <a:solidFill>
                  <a:schemeClr val="dk2"/>
                </a:solidFill>
                <a:latin typeface="Open Sans"/>
                <a:ea typeface="Open Sans"/>
                <a:cs typeface="Open Sans"/>
                <a:sym typeface="Open Sans"/>
              </a:defRPr>
            </a:lvl8pPr>
            <a:lvl9pPr lvl="8" algn="r">
              <a:buNone/>
              <a:defRPr sz="1333">
                <a:solidFill>
                  <a:schemeClr val="dk2"/>
                </a:solidFill>
                <a:latin typeface="Open Sans"/>
                <a:ea typeface="Open Sans"/>
                <a:cs typeface="Open Sans"/>
                <a:sym typeface="Open Sans"/>
              </a:defRPr>
            </a:lvl9pPr>
          </a:lstStyle>
          <a:p>
            <a:fld id="{68B23924-FB05-4481-A986-8BDBAC376D15}" type="slidenum">
              <a:rPr lang="en-IN" smtClean="0"/>
              <a:t>‹#›</a:t>
            </a:fld>
            <a:endParaRPr lang="en-IN"/>
          </a:p>
        </p:txBody>
      </p:sp>
    </p:spTree>
    <p:extLst>
      <p:ext uri="{BB962C8B-B14F-4D97-AF65-F5344CB8AC3E}">
        <p14:creationId xmlns:p14="http://schemas.microsoft.com/office/powerpoint/2010/main" val="2845852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61"/>
        <p:cNvGrpSpPr/>
        <p:nvPr/>
      </p:nvGrpSpPr>
      <p:grpSpPr>
        <a:xfrm>
          <a:off x="0" y="0"/>
          <a:ext cx="0" cy="0"/>
          <a:chOff x="0" y="0"/>
          <a:chExt cx="0" cy="0"/>
        </a:xfrm>
      </p:grpSpPr>
      <p:sp>
        <p:nvSpPr>
          <p:cNvPr id="62" name="Google Shape;62;p10"/>
          <p:cNvSpPr txBox="1">
            <a:spLocks noGrp="1"/>
          </p:cNvSpPr>
          <p:nvPr>
            <p:ph type="body" idx="1"/>
          </p:nvPr>
        </p:nvSpPr>
        <p:spPr>
          <a:xfrm>
            <a:off x="1081404" y="5270123"/>
            <a:ext cx="7998400" cy="7984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2400"/>
              <a:buFont typeface="PT Sans Narrow"/>
              <a:buNone/>
              <a:defRPr sz="3200">
                <a:latin typeface="Raleway" pitchFamily="2" charset="0"/>
                <a:ea typeface="Raleway" pitchFamily="2" charset="0"/>
                <a:cs typeface="Raleway" pitchFamily="2" charset="0"/>
                <a:sym typeface="PT Sans Narrow"/>
              </a:defRPr>
            </a:lvl1pPr>
          </a:lstStyle>
          <a:p>
            <a:pPr lvl="0"/>
            <a:r>
              <a:rPr lang="en-US"/>
              <a:t>Click to edit Master text styles</a:t>
            </a:r>
          </a:p>
        </p:txBody>
      </p:sp>
      <p:sp>
        <p:nvSpPr>
          <p:cNvPr id="6" name="Slide Number Placeholder 5">
            <a:extLst>
              <a:ext uri="{FF2B5EF4-FFF2-40B4-BE49-F238E27FC236}">
                <a16:creationId xmlns:a16="http://schemas.microsoft.com/office/drawing/2014/main" id="{2D49176E-C771-72C8-F8E5-906AAEAB5941}"/>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defRPr>
            </a:lvl1pPr>
          </a:lstStyle>
          <a:p>
            <a:fld id="{68B23924-FB05-4481-A986-8BDBAC376D15}" type="slidenum">
              <a:rPr lang="en-IN" smtClean="0"/>
              <a:t>‹#›</a:t>
            </a:fld>
            <a:endParaRPr lang="en-IN"/>
          </a:p>
        </p:txBody>
      </p:sp>
    </p:spTree>
    <p:extLst>
      <p:ext uri="{BB962C8B-B14F-4D97-AF65-F5344CB8AC3E}">
        <p14:creationId xmlns:p14="http://schemas.microsoft.com/office/powerpoint/2010/main" val="28438843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44"/>
        <p:cNvGrpSpPr/>
        <p:nvPr/>
      </p:nvGrpSpPr>
      <p:grpSpPr>
        <a:xfrm>
          <a:off x="0" y="0"/>
          <a:ext cx="0" cy="0"/>
          <a:chOff x="0" y="0"/>
          <a:chExt cx="0" cy="0"/>
        </a:xfrm>
      </p:grpSpPr>
      <p:sp>
        <p:nvSpPr>
          <p:cNvPr id="46" name="Google Shape;46;p7"/>
          <p:cNvSpPr txBox="1">
            <a:spLocks noGrp="1"/>
          </p:cNvSpPr>
          <p:nvPr>
            <p:ph type="body" idx="1"/>
          </p:nvPr>
        </p:nvSpPr>
        <p:spPr>
          <a:xfrm>
            <a:off x="415600" y="1672836"/>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333">
                <a:latin typeface="Calibri" panose="020F0502020204030204" pitchFamily="34" charset="0"/>
                <a:cs typeface="Calibri" panose="020F0502020204030204" pitchFamily="34" charset="0"/>
              </a:defRPr>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pPr lvl="0"/>
            <a:r>
              <a:rPr lang="en-US"/>
              <a:t>Click to edit Master text styles</a:t>
            </a:r>
          </a:p>
        </p:txBody>
      </p:sp>
      <p:sp>
        <p:nvSpPr>
          <p:cNvPr id="5" name="Google Shape;45;p7">
            <a:extLst>
              <a:ext uri="{FF2B5EF4-FFF2-40B4-BE49-F238E27FC236}">
                <a16:creationId xmlns:a16="http://schemas.microsoft.com/office/drawing/2014/main" id="{482C3779-B2BB-CEE4-3E2C-334B9C6C7D8A}"/>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r>
              <a:rPr lang="en-US"/>
              <a:t>Click to edit Master title style</a:t>
            </a:r>
            <a:endParaRPr dirty="0"/>
          </a:p>
        </p:txBody>
      </p:sp>
      <p:sp>
        <p:nvSpPr>
          <p:cNvPr id="7" name="Slide Number Placeholder 5">
            <a:extLst>
              <a:ext uri="{FF2B5EF4-FFF2-40B4-BE49-F238E27FC236}">
                <a16:creationId xmlns:a16="http://schemas.microsoft.com/office/drawing/2014/main" id="{E53AC460-69CA-8F48-E3C8-414742235405}"/>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defRPr>
            </a:lvl1pPr>
          </a:lstStyle>
          <a:p>
            <a:fld id="{68B23924-FB05-4481-A986-8BDBAC376D15}" type="slidenum">
              <a:rPr lang="en-IN" smtClean="0"/>
              <a:t>‹#›</a:t>
            </a:fld>
            <a:endParaRPr lang="en-IN"/>
          </a:p>
        </p:txBody>
      </p:sp>
    </p:spTree>
    <p:extLst>
      <p:ext uri="{BB962C8B-B14F-4D97-AF65-F5344CB8AC3E}">
        <p14:creationId xmlns:p14="http://schemas.microsoft.com/office/powerpoint/2010/main" val="13744768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B9630DA-C8F6-4DCB-07B4-8474A714CA0E}"/>
              </a:ext>
            </a:extLst>
          </p:cNvPr>
          <p:cNvSpPr>
            <a:spLocks noGrp="1"/>
          </p:cNvSpPr>
          <p:nvPr>
            <p:ph type="pic" idx="1"/>
          </p:nvPr>
        </p:nvSpPr>
        <p:spPr>
          <a:xfrm>
            <a:off x="5183188" y="2049463"/>
            <a:ext cx="6172200" cy="3811588"/>
          </a:xfrm>
          <a:prstGeom prst="rect">
            <a:avLst/>
          </a:prstGeom>
        </p:spPr>
        <p:txBody>
          <a:bodyPr>
            <a:normAutofit/>
          </a:bodyPr>
          <a:lstStyle>
            <a:lvl1pPr marL="0" indent="0">
              <a:buNone/>
              <a:defRPr sz="1333">
                <a:latin typeface="Calibri" panose="020F0502020204030204" pitchFamily="34" charset="0"/>
                <a:cs typeface="Calibri" panose="020F0502020204030204" pitchFamily="34" charset="0"/>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lang="en-IN" dirty="0"/>
          </a:p>
        </p:txBody>
      </p:sp>
      <p:sp>
        <p:nvSpPr>
          <p:cNvPr id="4" name="Text Placeholder 3">
            <a:extLst>
              <a:ext uri="{FF2B5EF4-FFF2-40B4-BE49-F238E27FC236}">
                <a16:creationId xmlns:a16="http://schemas.microsoft.com/office/drawing/2014/main" id="{2D23ABE9-772D-629A-0846-B8D8655E488F}"/>
              </a:ext>
            </a:extLst>
          </p:cNvPr>
          <p:cNvSpPr>
            <a:spLocks noGrp="1"/>
          </p:cNvSpPr>
          <p:nvPr>
            <p:ph type="body" sz="half" idx="2"/>
          </p:nvPr>
        </p:nvSpPr>
        <p:spPr>
          <a:xfrm>
            <a:off x="839788" y="2057401"/>
            <a:ext cx="3932237" cy="3811588"/>
          </a:xfrm>
          <a:prstGeom prst="rect">
            <a:avLst/>
          </a:prstGeom>
        </p:spPr>
        <p:txBody>
          <a:bodyPr/>
          <a:lstStyle>
            <a:lvl1pPr marL="0" indent="0">
              <a:buNone/>
              <a:defRPr sz="1333">
                <a:latin typeface="Calibri" panose="020F0502020204030204" pitchFamily="34" charset="0"/>
                <a:cs typeface="Calibri" panose="020F0502020204030204" pitchFamily="34" charset="0"/>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11" name="Google Shape;45;p7">
            <a:extLst>
              <a:ext uri="{FF2B5EF4-FFF2-40B4-BE49-F238E27FC236}">
                <a16:creationId xmlns:a16="http://schemas.microsoft.com/office/drawing/2014/main" id="{2DDA5E8B-7438-C891-2771-F57700CCD3FA}"/>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r>
              <a:rPr lang="en-US"/>
              <a:t>Click to edit Master title style</a:t>
            </a:r>
            <a:endParaRPr dirty="0"/>
          </a:p>
        </p:txBody>
      </p:sp>
      <p:sp>
        <p:nvSpPr>
          <p:cNvPr id="13" name="Slide Number Placeholder 5">
            <a:extLst>
              <a:ext uri="{FF2B5EF4-FFF2-40B4-BE49-F238E27FC236}">
                <a16:creationId xmlns:a16="http://schemas.microsoft.com/office/drawing/2014/main" id="{BE10E01B-527E-6CF6-D575-6D430AD2824D}"/>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8B23924-FB05-4481-A986-8BDBAC376D15}" type="slidenum">
              <a:rPr lang="en-IN" smtClean="0"/>
              <a:t>‹#›</a:t>
            </a:fld>
            <a:endParaRPr lang="en-IN"/>
          </a:p>
        </p:txBody>
      </p:sp>
    </p:spTree>
    <p:extLst>
      <p:ext uri="{BB962C8B-B14F-4D97-AF65-F5344CB8AC3E}">
        <p14:creationId xmlns:p14="http://schemas.microsoft.com/office/powerpoint/2010/main" val="36408170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91"/>
        <p:cNvGrpSpPr/>
        <p:nvPr/>
      </p:nvGrpSpPr>
      <p:grpSpPr>
        <a:xfrm>
          <a:off x="0" y="0"/>
          <a:ext cx="0" cy="0"/>
          <a:chOff x="0" y="0"/>
          <a:chExt cx="0" cy="0"/>
        </a:xfrm>
      </p:grpSpPr>
      <p:sp>
        <p:nvSpPr>
          <p:cNvPr id="93" name="Google Shape;93;p15"/>
          <p:cNvSpPr txBox="1">
            <a:spLocks noGrp="1"/>
          </p:cNvSpPr>
          <p:nvPr>
            <p:ph type="body" idx="1"/>
          </p:nvPr>
        </p:nvSpPr>
        <p:spPr>
          <a:xfrm>
            <a:off x="838200" y="2023409"/>
            <a:ext cx="10515600" cy="3955636"/>
          </a:xfrm>
          <a:prstGeom prst="rect">
            <a:avLst/>
          </a:prstGeom>
          <a:noFill/>
          <a:ln>
            <a:noFill/>
          </a:ln>
        </p:spPr>
        <p:txBody>
          <a:bodyPr spcFirstLastPara="1" wrap="square" lIns="68575" tIns="34275" rIns="68575" bIns="34275" anchor="t" anchorCtr="0">
            <a:normAutofit/>
          </a:bodyPr>
          <a:lstStyle>
            <a:lvl1pPr marL="609585" lvl="0" indent="-423323" algn="l" rtl="0">
              <a:lnSpc>
                <a:spcPct val="90000"/>
              </a:lnSpc>
              <a:spcBef>
                <a:spcPts val="1067"/>
              </a:spcBef>
              <a:spcAft>
                <a:spcPts val="0"/>
              </a:spcAft>
              <a:buClr>
                <a:schemeClr val="dk1"/>
              </a:buClr>
              <a:buSzPts val="1400"/>
              <a:buChar char="•"/>
              <a:defRPr>
                <a:latin typeface="Calibri" panose="020F0502020204030204" pitchFamily="34" charset="0"/>
                <a:cs typeface="Calibri" panose="020F0502020204030204" pitchFamily="34" charset="0"/>
              </a:defRPr>
            </a:lvl1pPr>
            <a:lvl2pPr marL="1219170" lvl="1" indent="-423323" algn="l" rtl="0">
              <a:lnSpc>
                <a:spcPct val="90000"/>
              </a:lnSpc>
              <a:spcBef>
                <a:spcPts val="533"/>
              </a:spcBef>
              <a:spcAft>
                <a:spcPts val="0"/>
              </a:spcAft>
              <a:buClr>
                <a:schemeClr val="dk1"/>
              </a:buClr>
              <a:buSzPts val="1400"/>
              <a:buChar char="•"/>
              <a:defRPr/>
            </a:lvl2pPr>
            <a:lvl3pPr marL="1828754" lvl="2" indent="-423323" algn="l" rtl="0">
              <a:lnSpc>
                <a:spcPct val="90000"/>
              </a:lnSpc>
              <a:spcBef>
                <a:spcPts val="533"/>
              </a:spcBef>
              <a:spcAft>
                <a:spcPts val="0"/>
              </a:spcAft>
              <a:buClr>
                <a:schemeClr val="dk1"/>
              </a:buClr>
              <a:buSzPts val="1400"/>
              <a:buChar char="•"/>
              <a:defRPr/>
            </a:lvl3pPr>
            <a:lvl4pPr marL="2438339" lvl="3" indent="-423323" algn="l" rtl="0">
              <a:lnSpc>
                <a:spcPct val="90000"/>
              </a:lnSpc>
              <a:spcBef>
                <a:spcPts val="533"/>
              </a:spcBef>
              <a:spcAft>
                <a:spcPts val="0"/>
              </a:spcAft>
              <a:buClr>
                <a:schemeClr val="dk1"/>
              </a:buClr>
              <a:buSzPts val="1400"/>
              <a:buChar char="•"/>
              <a:defRPr/>
            </a:lvl4pPr>
            <a:lvl5pPr marL="3047924" lvl="4" indent="-423323" algn="l" rtl="0">
              <a:lnSpc>
                <a:spcPct val="90000"/>
              </a:lnSpc>
              <a:spcBef>
                <a:spcPts val="533"/>
              </a:spcBef>
              <a:spcAft>
                <a:spcPts val="0"/>
              </a:spcAft>
              <a:buClr>
                <a:schemeClr val="dk1"/>
              </a:buClr>
              <a:buSzPts val="1400"/>
              <a:buChar char="•"/>
              <a:defRPr/>
            </a:lvl5pPr>
            <a:lvl6pPr marL="3657509" lvl="5" indent="-423323" algn="l" rtl="0">
              <a:lnSpc>
                <a:spcPct val="90000"/>
              </a:lnSpc>
              <a:spcBef>
                <a:spcPts val="533"/>
              </a:spcBef>
              <a:spcAft>
                <a:spcPts val="0"/>
              </a:spcAft>
              <a:buClr>
                <a:schemeClr val="dk1"/>
              </a:buClr>
              <a:buSzPts val="1400"/>
              <a:buChar char="•"/>
              <a:defRPr/>
            </a:lvl6pPr>
            <a:lvl7pPr marL="4267093" lvl="6" indent="-423323" algn="l" rtl="0">
              <a:lnSpc>
                <a:spcPct val="90000"/>
              </a:lnSpc>
              <a:spcBef>
                <a:spcPts val="533"/>
              </a:spcBef>
              <a:spcAft>
                <a:spcPts val="0"/>
              </a:spcAft>
              <a:buClr>
                <a:schemeClr val="dk1"/>
              </a:buClr>
              <a:buSzPts val="1400"/>
              <a:buChar char="•"/>
              <a:defRPr/>
            </a:lvl7pPr>
            <a:lvl8pPr marL="4876678" lvl="7" indent="-423323" algn="l" rtl="0">
              <a:lnSpc>
                <a:spcPct val="90000"/>
              </a:lnSpc>
              <a:spcBef>
                <a:spcPts val="533"/>
              </a:spcBef>
              <a:spcAft>
                <a:spcPts val="0"/>
              </a:spcAft>
              <a:buClr>
                <a:schemeClr val="dk1"/>
              </a:buClr>
              <a:buSzPts val="1400"/>
              <a:buChar char="•"/>
              <a:defRPr/>
            </a:lvl8pPr>
            <a:lvl9pPr marL="5486263" lvl="8" indent="-423323" algn="l" rtl="0">
              <a:lnSpc>
                <a:spcPct val="90000"/>
              </a:lnSpc>
              <a:spcBef>
                <a:spcPts val="533"/>
              </a:spcBef>
              <a:spcAft>
                <a:spcPts val="0"/>
              </a:spcAft>
              <a:buClr>
                <a:schemeClr val="dk1"/>
              </a:buClr>
              <a:buSzPts val="1400"/>
              <a:buChar char="•"/>
              <a:defRPr/>
            </a:lvl9pPr>
          </a:lstStyle>
          <a:p>
            <a:pPr lvl="0"/>
            <a:r>
              <a:rPr lang="en-US"/>
              <a:t>Click to edit Master text styles</a:t>
            </a:r>
          </a:p>
        </p:txBody>
      </p:sp>
      <p:sp>
        <p:nvSpPr>
          <p:cNvPr id="4" name="Google Shape;45;p7">
            <a:extLst>
              <a:ext uri="{FF2B5EF4-FFF2-40B4-BE49-F238E27FC236}">
                <a16:creationId xmlns:a16="http://schemas.microsoft.com/office/drawing/2014/main" id="{EB44CB0A-F4B1-A402-3759-2C3528AB8E4F}"/>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r>
              <a:rPr lang="en-US"/>
              <a:t>Click to edit Master title style</a:t>
            </a:r>
            <a:endParaRPr dirty="0"/>
          </a:p>
        </p:txBody>
      </p:sp>
      <p:sp>
        <p:nvSpPr>
          <p:cNvPr id="9" name="Slide Number Placeholder 5">
            <a:extLst>
              <a:ext uri="{FF2B5EF4-FFF2-40B4-BE49-F238E27FC236}">
                <a16:creationId xmlns:a16="http://schemas.microsoft.com/office/drawing/2014/main" id="{876617F3-2402-6614-1A74-28C7B4C54B24}"/>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8B23924-FB05-4481-A986-8BDBAC376D15}" type="slidenum">
              <a:rPr lang="en-IN" smtClean="0"/>
              <a:t>‹#›</a:t>
            </a:fld>
            <a:endParaRPr lang="en-IN"/>
          </a:p>
        </p:txBody>
      </p:sp>
    </p:spTree>
    <p:extLst>
      <p:ext uri="{BB962C8B-B14F-4D97-AF65-F5344CB8AC3E}">
        <p14:creationId xmlns:p14="http://schemas.microsoft.com/office/powerpoint/2010/main" val="35803546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C6E896A-68C9-7523-8C07-666BD0EFBA84}"/>
              </a:ext>
            </a:extLst>
          </p:cNvPr>
          <p:cNvSpPr>
            <a:spLocks noGrp="1"/>
          </p:cNvSpPr>
          <p:nvPr>
            <p:ph idx="1"/>
          </p:nvPr>
        </p:nvSpPr>
        <p:spPr>
          <a:xfrm>
            <a:off x="415600" y="2602499"/>
            <a:ext cx="11360800" cy="3153216"/>
          </a:xfrm>
          <a:prstGeom prst="rect">
            <a:avLst/>
          </a:prstGeom>
        </p:spPr>
        <p:txBody>
          <a:bodyPr/>
          <a:lstStyle>
            <a:lvl1pPr>
              <a:defRPr>
                <a:latin typeface="Calibri" panose="020F0502020204030204" pitchFamily="34" charset="0"/>
                <a:cs typeface="Calibri" panose="020F0502020204030204" pitchFamily="34" charset="0"/>
              </a:defRPr>
            </a:lvl1pPr>
            <a:lvl2pPr>
              <a:defRPr>
                <a:latin typeface="Raleway" pitchFamily="2" charset="0"/>
              </a:defRPr>
            </a:lvl2pPr>
            <a:lvl3pPr>
              <a:defRPr>
                <a:latin typeface="Raleway" pitchFamily="2" charset="0"/>
              </a:defRPr>
            </a:lvl3pPr>
            <a:lvl4pPr>
              <a:defRPr>
                <a:latin typeface="Raleway" pitchFamily="2" charset="0"/>
              </a:defRPr>
            </a:lvl4pPr>
            <a:lvl5pPr>
              <a:defRPr>
                <a:latin typeface="Raleway" pitchFamily="2"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2" name="Google Shape;45;p7">
            <a:extLst>
              <a:ext uri="{FF2B5EF4-FFF2-40B4-BE49-F238E27FC236}">
                <a16:creationId xmlns:a16="http://schemas.microsoft.com/office/drawing/2014/main" id="{2B1567C0-4287-5016-773D-60FC6944785E}"/>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r>
              <a:rPr lang="en-US"/>
              <a:t>Click to edit Master title style</a:t>
            </a:r>
            <a:endParaRPr dirty="0"/>
          </a:p>
        </p:txBody>
      </p:sp>
      <p:sp>
        <p:nvSpPr>
          <p:cNvPr id="12" name="Slide Number Placeholder 5">
            <a:extLst>
              <a:ext uri="{FF2B5EF4-FFF2-40B4-BE49-F238E27FC236}">
                <a16:creationId xmlns:a16="http://schemas.microsoft.com/office/drawing/2014/main" id="{54CBDA10-C463-8A5E-0969-8CFE1D30C617}"/>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8B23924-FB05-4481-A986-8BDBAC376D15}" type="slidenum">
              <a:rPr lang="en-IN" smtClean="0"/>
              <a:t>‹#›</a:t>
            </a:fld>
            <a:endParaRPr lang="en-IN"/>
          </a:p>
        </p:txBody>
      </p:sp>
    </p:spTree>
    <p:extLst>
      <p:ext uri="{BB962C8B-B14F-4D97-AF65-F5344CB8AC3E}">
        <p14:creationId xmlns:p14="http://schemas.microsoft.com/office/powerpoint/2010/main" val="40877669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76"/>
        <p:cNvGrpSpPr/>
        <p:nvPr/>
      </p:nvGrpSpPr>
      <p:grpSpPr>
        <a:xfrm>
          <a:off x="0" y="0"/>
          <a:ext cx="0" cy="0"/>
          <a:chOff x="0" y="0"/>
          <a:chExt cx="0" cy="0"/>
        </a:xfrm>
      </p:grpSpPr>
      <p:sp>
        <p:nvSpPr>
          <p:cNvPr id="77" name="Google Shape;77;p13"/>
          <p:cNvSpPr txBox="1">
            <a:spLocks noGrp="1"/>
          </p:cNvSpPr>
          <p:nvPr>
            <p:ph type="subTitle" idx="1"/>
          </p:nvPr>
        </p:nvSpPr>
        <p:spPr>
          <a:xfrm>
            <a:off x="1802727" y="3860800"/>
            <a:ext cx="3646280" cy="495200"/>
          </a:xfrm>
          <a:prstGeom prst="rect">
            <a:avLst/>
          </a:prstGeom>
        </p:spPr>
        <p:txBody>
          <a:bodyPr spcFirstLastPara="1" wrap="square" lIns="91425" tIns="91425" rIns="91425" bIns="91425" anchor="ctr" anchorCtr="0">
            <a:normAutofit/>
          </a:bodyPr>
          <a:lstStyle>
            <a:lvl1pPr lvl="0" algn="ctr" rtl="0">
              <a:lnSpc>
                <a:spcPct val="100000"/>
              </a:lnSpc>
              <a:spcBef>
                <a:spcPts val="0"/>
              </a:spcBef>
              <a:spcAft>
                <a:spcPts val="0"/>
              </a:spcAft>
              <a:buNone/>
              <a:defRPr b="1">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b="1"/>
            </a:lvl2pPr>
            <a:lvl3pPr lvl="2" rtl="0">
              <a:lnSpc>
                <a:spcPct val="100000"/>
              </a:lnSpc>
              <a:spcBef>
                <a:spcPts val="1600"/>
              </a:spcBef>
              <a:spcAft>
                <a:spcPts val="0"/>
              </a:spcAft>
              <a:buNone/>
              <a:defRPr b="1"/>
            </a:lvl3pPr>
            <a:lvl4pPr lvl="3" rtl="0">
              <a:lnSpc>
                <a:spcPct val="100000"/>
              </a:lnSpc>
              <a:spcBef>
                <a:spcPts val="1600"/>
              </a:spcBef>
              <a:spcAft>
                <a:spcPts val="0"/>
              </a:spcAft>
              <a:buNone/>
              <a:defRPr b="1"/>
            </a:lvl4pPr>
            <a:lvl5pPr lvl="4" rtl="0">
              <a:lnSpc>
                <a:spcPct val="100000"/>
              </a:lnSpc>
              <a:spcBef>
                <a:spcPts val="1600"/>
              </a:spcBef>
              <a:spcAft>
                <a:spcPts val="0"/>
              </a:spcAft>
              <a:buNone/>
              <a:defRPr b="1"/>
            </a:lvl5pPr>
            <a:lvl6pPr lvl="5" rtl="0">
              <a:lnSpc>
                <a:spcPct val="100000"/>
              </a:lnSpc>
              <a:spcBef>
                <a:spcPts val="1600"/>
              </a:spcBef>
              <a:spcAft>
                <a:spcPts val="0"/>
              </a:spcAft>
              <a:buNone/>
              <a:defRPr b="1"/>
            </a:lvl6pPr>
            <a:lvl7pPr lvl="6" rtl="0">
              <a:lnSpc>
                <a:spcPct val="100000"/>
              </a:lnSpc>
              <a:spcBef>
                <a:spcPts val="1600"/>
              </a:spcBef>
              <a:spcAft>
                <a:spcPts val="0"/>
              </a:spcAft>
              <a:buNone/>
              <a:defRPr b="1"/>
            </a:lvl7pPr>
            <a:lvl8pPr lvl="7" rtl="0">
              <a:lnSpc>
                <a:spcPct val="100000"/>
              </a:lnSpc>
              <a:spcBef>
                <a:spcPts val="1600"/>
              </a:spcBef>
              <a:spcAft>
                <a:spcPts val="0"/>
              </a:spcAft>
              <a:buNone/>
              <a:defRPr b="1"/>
            </a:lvl8pPr>
            <a:lvl9pPr lvl="8" rtl="0">
              <a:lnSpc>
                <a:spcPct val="100000"/>
              </a:lnSpc>
              <a:spcBef>
                <a:spcPts val="1600"/>
              </a:spcBef>
              <a:spcAft>
                <a:spcPts val="1600"/>
              </a:spcAft>
              <a:buNone/>
              <a:defRPr b="1"/>
            </a:lvl9pPr>
          </a:lstStyle>
          <a:p>
            <a:r>
              <a:rPr lang="en-US"/>
              <a:t>Click to edit Master subtitle style</a:t>
            </a:r>
            <a:endParaRPr dirty="0"/>
          </a:p>
        </p:txBody>
      </p:sp>
      <p:sp>
        <p:nvSpPr>
          <p:cNvPr id="78" name="Google Shape;78;p13"/>
          <p:cNvSpPr txBox="1">
            <a:spLocks noGrp="1"/>
          </p:cNvSpPr>
          <p:nvPr>
            <p:ph type="subTitle" idx="2"/>
          </p:nvPr>
        </p:nvSpPr>
        <p:spPr>
          <a:xfrm>
            <a:off x="1802727" y="4362700"/>
            <a:ext cx="3646280" cy="12788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None/>
              <a:defRPr sz="1867">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sz="1867"/>
            </a:lvl2pPr>
            <a:lvl3pPr lvl="2" rtl="0">
              <a:lnSpc>
                <a:spcPct val="100000"/>
              </a:lnSpc>
              <a:spcBef>
                <a:spcPts val="1600"/>
              </a:spcBef>
              <a:spcAft>
                <a:spcPts val="0"/>
              </a:spcAft>
              <a:buNone/>
              <a:defRPr sz="1867"/>
            </a:lvl3pPr>
            <a:lvl4pPr lvl="3" rtl="0">
              <a:lnSpc>
                <a:spcPct val="100000"/>
              </a:lnSpc>
              <a:spcBef>
                <a:spcPts val="1600"/>
              </a:spcBef>
              <a:spcAft>
                <a:spcPts val="0"/>
              </a:spcAft>
              <a:buNone/>
              <a:defRPr sz="1867"/>
            </a:lvl4pPr>
            <a:lvl5pPr lvl="4" rtl="0">
              <a:lnSpc>
                <a:spcPct val="100000"/>
              </a:lnSpc>
              <a:spcBef>
                <a:spcPts val="1600"/>
              </a:spcBef>
              <a:spcAft>
                <a:spcPts val="0"/>
              </a:spcAft>
              <a:buNone/>
              <a:defRPr sz="1867"/>
            </a:lvl5pPr>
            <a:lvl6pPr lvl="5" rtl="0">
              <a:lnSpc>
                <a:spcPct val="100000"/>
              </a:lnSpc>
              <a:spcBef>
                <a:spcPts val="1600"/>
              </a:spcBef>
              <a:spcAft>
                <a:spcPts val="0"/>
              </a:spcAft>
              <a:buNone/>
              <a:defRPr sz="1867"/>
            </a:lvl6pPr>
            <a:lvl7pPr lvl="6" rtl="0">
              <a:lnSpc>
                <a:spcPct val="100000"/>
              </a:lnSpc>
              <a:spcBef>
                <a:spcPts val="1600"/>
              </a:spcBef>
              <a:spcAft>
                <a:spcPts val="0"/>
              </a:spcAft>
              <a:buNone/>
              <a:defRPr sz="1867"/>
            </a:lvl7pPr>
            <a:lvl8pPr lvl="7" rtl="0">
              <a:lnSpc>
                <a:spcPct val="100000"/>
              </a:lnSpc>
              <a:spcBef>
                <a:spcPts val="1600"/>
              </a:spcBef>
              <a:spcAft>
                <a:spcPts val="0"/>
              </a:spcAft>
              <a:buNone/>
              <a:defRPr sz="1867"/>
            </a:lvl8pPr>
            <a:lvl9pPr lvl="8" rtl="0">
              <a:lnSpc>
                <a:spcPct val="100000"/>
              </a:lnSpc>
              <a:spcBef>
                <a:spcPts val="1600"/>
              </a:spcBef>
              <a:spcAft>
                <a:spcPts val="1600"/>
              </a:spcAft>
              <a:buNone/>
              <a:defRPr sz="1867"/>
            </a:lvl9pPr>
          </a:lstStyle>
          <a:p>
            <a:r>
              <a:rPr lang="en-US"/>
              <a:t>Click to edit Master subtitle style</a:t>
            </a:r>
            <a:endParaRPr dirty="0"/>
          </a:p>
        </p:txBody>
      </p:sp>
      <p:sp>
        <p:nvSpPr>
          <p:cNvPr id="79" name="Google Shape;79;p13"/>
          <p:cNvSpPr txBox="1">
            <a:spLocks noGrp="1"/>
          </p:cNvSpPr>
          <p:nvPr>
            <p:ph type="subTitle" idx="3"/>
          </p:nvPr>
        </p:nvSpPr>
        <p:spPr>
          <a:xfrm>
            <a:off x="6743027" y="3860800"/>
            <a:ext cx="3646280" cy="495200"/>
          </a:xfrm>
          <a:prstGeom prst="rect">
            <a:avLst/>
          </a:prstGeom>
        </p:spPr>
        <p:txBody>
          <a:bodyPr spcFirstLastPara="1" wrap="square" lIns="91425" tIns="91425" rIns="91425" bIns="91425" anchor="ctr" anchorCtr="0">
            <a:normAutofit/>
          </a:bodyPr>
          <a:lstStyle>
            <a:lvl1pPr lvl="0" algn="ctr" rtl="0">
              <a:lnSpc>
                <a:spcPct val="100000"/>
              </a:lnSpc>
              <a:spcBef>
                <a:spcPts val="0"/>
              </a:spcBef>
              <a:spcAft>
                <a:spcPts val="0"/>
              </a:spcAft>
              <a:buNone/>
              <a:defRPr b="1">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b="1"/>
            </a:lvl2pPr>
            <a:lvl3pPr lvl="2" rtl="0">
              <a:lnSpc>
                <a:spcPct val="100000"/>
              </a:lnSpc>
              <a:spcBef>
                <a:spcPts val="1600"/>
              </a:spcBef>
              <a:spcAft>
                <a:spcPts val="0"/>
              </a:spcAft>
              <a:buNone/>
              <a:defRPr b="1"/>
            </a:lvl3pPr>
            <a:lvl4pPr lvl="3" rtl="0">
              <a:lnSpc>
                <a:spcPct val="100000"/>
              </a:lnSpc>
              <a:spcBef>
                <a:spcPts val="1600"/>
              </a:spcBef>
              <a:spcAft>
                <a:spcPts val="0"/>
              </a:spcAft>
              <a:buNone/>
              <a:defRPr b="1"/>
            </a:lvl4pPr>
            <a:lvl5pPr lvl="4" rtl="0">
              <a:lnSpc>
                <a:spcPct val="100000"/>
              </a:lnSpc>
              <a:spcBef>
                <a:spcPts val="1600"/>
              </a:spcBef>
              <a:spcAft>
                <a:spcPts val="0"/>
              </a:spcAft>
              <a:buNone/>
              <a:defRPr b="1"/>
            </a:lvl5pPr>
            <a:lvl6pPr lvl="5" rtl="0">
              <a:lnSpc>
                <a:spcPct val="100000"/>
              </a:lnSpc>
              <a:spcBef>
                <a:spcPts val="1600"/>
              </a:spcBef>
              <a:spcAft>
                <a:spcPts val="0"/>
              </a:spcAft>
              <a:buNone/>
              <a:defRPr b="1"/>
            </a:lvl6pPr>
            <a:lvl7pPr lvl="6" rtl="0">
              <a:lnSpc>
                <a:spcPct val="100000"/>
              </a:lnSpc>
              <a:spcBef>
                <a:spcPts val="1600"/>
              </a:spcBef>
              <a:spcAft>
                <a:spcPts val="0"/>
              </a:spcAft>
              <a:buNone/>
              <a:defRPr b="1"/>
            </a:lvl7pPr>
            <a:lvl8pPr lvl="7" rtl="0">
              <a:lnSpc>
                <a:spcPct val="100000"/>
              </a:lnSpc>
              <a:spcBef>
                <a:spcPts val="1600"/>
              </a:spcBef>
              <a:spcAft>
                <a:spcPts val="0"/>
              </a:spcAft>
              <a:buNone/>
              <a:defRPr b="1"/>
            </a:lvl8pPr>
            <a:lvl9pPr lvl="8" rtl="0">
              <a:lnSpc>
                <a:spcPct val="100000"/>
              </a:lnSpc>
              <a:spcBef>
                <a:spcPts val="1600"/>
              </a:spcBef>
              <a:spcAft>
                <a:spcPts val="1600"/>
              </a:spcAft>
              <a:buNone/>
              <a:defRPr b="1"/>
            </a:lvl9pPr>
          </a:lstStyle>
          <a:p>
            <a:r>
              <a:rPr lang="en-US"/>
              <a:t>Click to edit Master subtitle style</a:t>
            </a:r>
            <a:endParaRPr dirty="0"/>
          </a:p>
        </p:txBody>
      </p:sp>
      <p:sp>
        <p:nvSpPr>
          <p:cNvPr id="80" name="Google Shape;80;p13"/>
          <p:cNvSpPr txBox="1">
            <a:spLocks noGrp="1"/>
          </p:cNvSpPr>
          <p:nvPr>
            <p:ph type="subTitle" idx="4"/>
          </p:nvPr>
        </p:nvSpPr>
        <p:spPr>
          <a:xfrm>
            <a:off x="6743027" y="4362700"/>
            <a:ext cx="3646280" cy="12788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None/>
              <a:defRPr sz="1867">
                <a:latin typeface="Calibri" panose="020F0502020204030204" pitchFamily="34" charset="0"/>
                <a:cs typeface="Calibri" panose="020F0502020204030204" pitchFamily="34" charset="0"/>
              </a:defRPr>
            </a:lvl1pPr>
            <a:lvl2pPr lvl="1" rtl="0">
              <a:lnSpc>
                <a:spcPct val="100000"/>
              </a:lnSpc>
              <a:spcBef>
                <a:spcPts val="1600"/>
              </a:spcBef>
              <a:spcAft>
                <a:spcPts val="0"/>
              </a:spcAft>
              <a:buNone/>
              <a:defRPr sz="1867"/>
            </a:lvl2pPr>
            <a:lvl3pPr lvl="2" rtl="0">
              <a:lnSpc>
                <a:spcPct val="100000"/>
              </a:lnSpc>
              <a:spcBef>
                <a:spcPts val="1600"/>
              </a:spcBef>
              <a:spcAft>
                <a:spcPts val="0"/>
              </a:spcAft>
              <a:buNone/>
              <a:defRPr sz="1867"/>
            </a:lvl3pPr>
            <a:lvl4pPr lvl="3" rtl="0">
              <a:lnSpc>
                <a:spcPct val="100000"/>
              </a:lnSpc>
              <a:spcBef>
                <a:spcPts val="1600"/>
              </a:spcBef>
              <a:spcAft>
                <a:spcPts val="0"/>
              </a:spcAft>
              <a:buNone/>
              <a:defRPr sz="1867"/>
            </a:lvl4pPr>
            <a:lvl5pPr lvl="4" rtl="0">
              <a:lnSpc>
                <a:spcPct val="100000"/>
              </a:lnSpc>
              <a:spcBef>
                <a:spcPts val="1600"/>
              </a:spcBef>
              <a:spcAft>
                <a:spcPts val="0"/>
              </a:spcAft>
              <a:buNone/>
              <a:defRPr sz="1867"/>
            </a:lvl5pPr>
            <a:lvl6pPr lvl="5" rtl="0">
              <a:lnSpc>
                <a:spcPct val="100000"/>
              </a:lnSpc>
              <a:spcBef>
                <a:spcPts val="1600"/>
              </a:spcBef>
              <a:spcAft>
                <a:spcPts val="0"/>
              </a:spcAft>
              <a:buNone/>
              <a:defRPr sz="1867"/>
            </a:lvl6pPr>
            <a:lvl7pPr lvl="6" rtl="0">
              <a:lnSpc>
                <a:spcPct val="100000"/>
              </a:lnSpc>
              <a:spcBef>
                <a:spcPts val="1600"/>
              </a:spcBef>
              <a:spcAft>
                <a:spcPts val="0"/>
              </a:spcAft>
              <a:buNone/>
              <a:defRPr sz="1867"/>
            </a:lvl7pPr>
            <a:lvl8pPr lvl="7" rtl="0">
              <a:lnSpc>
                <a:spcPct val="100000"/>
              </a:lnSpc>
              <a:spcBef>
                <a:spcPts val="1600"/>
              </a:spcBef>
              <a:spcAft>
                <a:spcPts val="0"/>
              </a:spcAft>
              <a:buNone/>
              <a:defRPr sz="1867"/>
            </a:lvl8pPr>
            <a:lvl9pPr lvl="8" rtl="0">
              <a:lnSpc>
                <a:spcPct val="100000"/>
              </a:lnSpc>
              <a:spcBef>
                <a:spcPts val="1600"/>
              </a:spcBef>
              <a:spcAft>
                <a:spcPts val="1600"/>
              </a:spcAft>
              <a:buNone/>
              <a:defRPr sz="1867"/>
            </a:lvl9pPr>
          </a:lstStyle>
          <a:p>
            <a:r>
              <a:rPr lang="en-US"/>
              <a:t>Click to edit Master subtitle style</a:t>
            </a:r>
            <a:endParaRPr/>
          </a:p>
        </p:txBody>
      </p:sp>
      <p:sp>
        <p:nvSpPr>
          <p:cNvPr id="3" name="Google Shape;45;p7">
            <a:extLst>
              <a:ext uri="{FF2B5EF4-FFF2-40B4-BE49-F238E27FC236}">
                <a16:creationId xmlns:a16="http://schemas.microsoft.com/office/drawing/2014/main" id="{D0B48D13-027A-4AFE-4CD9-AAE135E2BABD}"/>
              </a:ext>
            </a:extLst>
          </p:cNvPr>
          <p:cNvSpPr txBox="1">
            <a:spLocks noGrp="1"/>
          </p:cNvSpPr>
          <p:nvPr>
            <p:ph type="title"/>
          </p:nvPr>
        </p:nvSpPr>
        <p:spPr>
          <a:xfrm>
            <a:off x="403199" y="115200"/>
            <a:ext cx="10550999"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r>
              <a:rPr lang="en-US"/>
              <a:t>Click to edit Master title style</a:t>
            </a:r>
            <a:endParaRPr dirty="0"/>
          </a:p>
        </p:txBody>
      </p:sp>
      <p:sp>
        <p:nvSpPr>
          <p:cNvPr id="9" name="Slide Number Placeholder 5">
            <a:extLst>
              <a:ext uri="{FF2B5EF4-FFF2-40B4-BE49-F238E27FC236}">
                <a16:creationId xmlns:a16="http://schemas.microsoft.com/office/drawing/2014/main" id="{9432BB4C-0FFD-F107-637F-62075DD566B0}"/>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8B23924-FB05-4481-A986-8BDBAC376D15}" type="slidenum">
              <a:rPr lang="en-IN" smtClean="0"/>
              <a:t>‹#›</a:t>
            </a:fld>
            <a:endParaRPr lang="en-IN"/>
          </a:p>
        </p:txBody>
      </p:sp>
    </p:spTree>
    <p:extLst>
      <p:ext uri="{BB962C8B-B14F-4D97-AF65-F5344CB8AC3E}">
        <p14:creationId xmlns:p14="http://schemas.microsoft.com/office/powerpoint/2010/main" val="41376703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66"/>
        <p:cNvGrpSpPr/>
        <p:nvPr/>
      </p:nvGrpSpPr>
      <p:grpSpPr>
        <a:xfrm>
          <a:off x="0" y="0"/>
          <a:ext cx="0" cy="0"/>
          <a:chOff x="0" y="0"/>
          <a:chExt cx="0" cy="0"/>
        </a:xfrm>
      </p:grpSpPr>
      <p:sp>
        <p:nvSpPr>
          <p:cNvPr id="67" name="Google Shape;67;p11"/>
          <p:cNvSpPr txBox="1">
            <a:spLocks noGrp="1"/>
          </p:cNvSpPr>
          <p:nvPr>
            <p:ph type="title" hasCustomPrompt="1"/>
          </p:nvPr>
        </p:nvSpPr>
        <p:spPr>
          <a:xfrm>
            <a:off x="415600" y="2236481"/>
            <a:ext cx="11360800" cy="20512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7333">
                <a:solidFill>
                  <a:schemeClr val="accent3"/>
                </a:solidFill>
                <a:latin typeface="Calibri" panose="020F0502020204030204" pitchFamily="34" charset="0"/>
                <a:cs typeface="Calibri" panose="020F0502020204030204" pitchFamily="34" charset="0"/>
              </a:defRPr>
            </a:lvl1pPr>
            <a:lvl2pPr lvl="1" algn="ctr">
              <a:spcBef>
                <a:spcPts val="0"/>
              </a:spcBef>
              <a:spcAft>
                <a:spcPts val="0"/>
              </a:spcAft>
              <a:buClr>
                <a:schemeClr val="accent3"/>
              </a:buClr>
              <a:buSzPts val="13000"/>
              <a:buNone/>
              <a:defRPr sz="17333">
                <a:solidFill>
                  <a:schemeClr val="accent3"/>
                </a:solidFill>
              </a:defRPr>
            </a:lvl2pPr>
            <a:lvl3pPr lvl="2" algn="ctr">
              <a:spcBef>
                <a:spcPts val="0"/>
              </a:spcBef>
              <a:spcAft>
                <a:spcPts val="0"/>
              </a:spcAft>
              <a:buClr>
                <a:schemeClr val="accent3"/>
              </a:buClr>
              <a:buSzPts val="13000"/>
              <a:buNone/>
              <a:defRPr sz="17333">
                <a:solidFill>
                  <a:schemeClr val="accent3"/>
                </a:solidFill>
              </a:defRPr>
            </a:lvl3pPr>
            <a:lvl4pPr lvl="3" algn="ctr">
              <a:spcBef>
                <a:spcPts val="0"/>
              </a:spcBef>
              <a:spcAft>
                <a:spcPts val="0"/>
              </a:spcAft>
              <a:buClr>
                <a:schemeClr val="accent3"/>
              </a:buClr>
              <a:buSzPts val="13000"/>
              <a:buNone/>
              <a:defRPr sz="17333">
                <a:solidFill>
                  <a:schemeClr val="accent3"/>
                </a:solidFill>
              </a:defRPr>
            </a:lvl4pPr>
            <a:lvl5pPr lvl="4" algn="ctr">
              <a:spcBef>
                <a:spcPts val="0"/>
              </a:spcBef>
              <a:spcAft>
                <a:spcPts val="0"/>
              </a:spcAft>
              <a:buClr>
                <a:schemeClr val="accent3"/>
              </a:buClr>
              <a:buSzPts val="13000"/>
              <a:buNone/>
              <a:defRPr sz="17333">
                <a:solidFill>
                  <a:schemeClr val="accent3"/>
                </a:solidFill>
              </a:defRPr>
            </a:lvl5pPr>
            <a:lvl6pPr lvl="5" algn="ctr">
              <a:spcBef>
                <a:spcPts val="0"/>
              </a:spcBef>
              <a:spcAft>
                <a:spcPts val="0"/>
              </a:spcAft>
              <a:buClr>
                <a:schemeClr val="accent3"/>
              </a:buClr>
              <a:buSzPts val="13000"/>
              <a:buNone/>
              <a:defRPr sz="17333">
                <a:solidFill>
                  <a:schemeClr val="accent3"/>
                </a:solidFill>
              </a:defRPr>
            </a:lvl6pPr>
            <a:lvl7pPr lvl="6" algn="ctr">
              <a:spcBef>
                <a:spcPts val="0"/>
              </a:spcBef>
              <a:spcAft>
                <a:spcPts val="0"/>
              </a:spcAft>
              <a:buClr>
                <a:schemeClr val="accent3"/>
              </a:buClr>
              <a:buSzPts val="13000"/>
              <a:buNone/>
              <a:defRPr sz="17333">
                <a:solidFill>
                  <a:schemeClr val="accent3"/>
                </a:solidFill>
              </a:defRPr>
            </a:lvl7pPr>
            <a:lvl8pPr lvl="7" algn="ctr">
              <a:spcBef>
                <a:spcPts val="0"/>
              </a:spcBef>
              <a:spcAft>
                <a:spcPts val="0"/>
              </a:spcAft>
              <a:buClr>
                <a:schemeClr val="accent3"/>
              </a:buClr>
              <a:buSzPts val="13000"/>
              <a:buNone/>
              <a:defRPr sz="17333">
                <a:solidFill>
                  <a:schemeClr val="accent3"/>
                </a:solidFill>
              </a:defRPr>
            </a:lvl8pPr>
            <a:lvl9pPr lvl="8" algn="ctr">
              <a:spcBef>
                <a:spcPts val="0"/>
              </a:spcBef>
              <a:spcAft>
                <a:spcPts val="0"/>
              </a:spcAft>
              <a:buClr>
                <a:schemeClr val="accent3"/>
              </a:buClr>
              <a:buSzPts val="13000"/>
              <a:buNone/>
              <a:defRPr sz="17333">
                <a:solidFill>
                  <a:schemeClr val="accent3"/>
                </a:solidFill>
              </a:defRPr>
            </a:lvl9pPr>
          </a:lstStyle>
          <a:p>
            <a:r>
              <a:rPr dirty="0"/>
              <a:t>xx%</a:t>
            </a:r>
          </a:p>
        </p:txBody>
      </p:sp>
      <p:sp>
        <p:nvSpPr>
          <p:cNvPr id="68" name="Google Shape;68;p11"/>
          <p:cNvSpPr txBox="1">
            <a:spLocks noGrp="1"/>
          </p:cNvSpPr>
          <p:nvPr>
            <p:ph type="body" idx="1"/>
          </p:nvPr>
        </p:nvSpPr>
        <p:spPr>
          <a:xfrm>
            <a:off x="415600" y="4490881"/>
            <a:ext cx="11360800" cy="14288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atin typeface="Calibri" panose="020F0502020204030204" pitchFamily="34" charset="0"/>
                <a:cs typeface="Calibri" panose="020F0502020204030204" pitchFamily="34" charset="0"/>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pPr lvl="0"/>
            <a:r>
              <a:rPr lang="en-US"/>
              <a:t>Click to edit Master text styles</a:t>
            </a:r>
          </a:p>
        </p:txBody>
      </p:sp>
      <p:sp>
        <p:nvSpPr>
          <p:cNvPr id="8" name="Slide Number Placeholder 5">
            <a:extLst>
              <a:ext uri="{FF2B5EF4-FFF2-40B4-BE49-F238E27FC236}">
                <a16:creationId xmlns:a16="http://schemas.microsoft.com/office/drawing/2014/main" id="{FEF22A34-8630-7179-6BE7-3A5ED218F444}"/>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8B23924-FB05-4481-A986-8BDBAC376D15}" type="slidenum">
              <a:rPr lang="en-IN" smtClean="0"/>
              <a:t>‹#›</a:t>
            </a:fld>
            <a:endParaRPr lang="en-IN"/>
          </a:p>
        </p:txBody>
      </p:sp>
    </p:spTree>
    <p:extLst>
      <p:ext uri="{BB962C8B-B14F-4D97-AF65-F5344CB8AC3E}">
        <p14:creationId xmlns:p14="http://schemas.microsoft.com/office/powerpoint/2010/main" val="1778433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Google Shape;45;p7">
            <a:extLst>
              <a:ext uri="{FF2B5EF4-FFF2-40B4-BE49-F238E27FC236}">
                <a16:creationId xmlns:a16="http://schemas.microsoft.com/office/drawing/2014/main" id="{564256A3-4B60-B37C-3C15-AB3FE9B6DA43}"/>
              </a:ext>
            </a:extLst>
          </p:cNvPr>
          <p:cNvSpPr txBox="1">
            <a:spLocks noGrp="1"/>
          </p:cNvSpPr>
          <p:nvPr>
            <p:ph type="title"/>
          </p:nvPr>
        </p:nvSpPr>
        <p:spPr>
          <a:xfrm>
            <a:off x="403197" y="0"/>
            <a:ext cx="10675200" cy="1137600"/>
          </a:xfrm>
          <a:prstGeom prst="rect">
            <a:avLst/>
          </a:prstGeom>
        </p:spPr>
        <p:txBody>
          <a:bodyPr spcFirstLastPara="1" wrap="square" lIns="91425" tIns="91425" rIns="91425" bIns="91425" anchor="ctr" anchorCtr="0">
            <a:noAutofit/>
          </a:bodyPr>
          <a:lstStyle>
            <a:lvl1pPr lvl="0">
              <a:spcBef>
                <a:spcPts val="0"/>
              </a:spcBef>
              <a:spcAft>
                <a:spcPts val="0"/>
              </a:spcAft>
              <a:buSzPts val="2400"/>
              <a:buNone/>
              <a:defRPr sz="2933">
                <a:solidFill>
                  <a:schemeClr val="tx1"/>
                </a:solidFill>
                <a:latin typeface="Raleway" pitchFamily="2" charset="0"/>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r>
              <a:rPr lang="en-US"/>
              <a:t>Click to edit Master title style</a:t>
            </a:r>
            <a:endParaRPr dirty="0"/>
          </a:p>
        </p:txBody>
      </p:sp>
      <p:sp>
        <p:nvSpPr>
          <p:cNvPr id="11" name="Slide Number Placeholder 5">
            <a:extLst>
              <a:ext uri="{FF2B5EF4-FFF2-40B4-BE49-F238E27FC236}">
                <a16:creationId xmlns:a16="http://schemas.microsoft.com/office/drawing/2014/main" id="{4B24C27D-E9CF-52B2-895E-3ABEC7ADC878}"/>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8B23924-FB05-4481-A986-8BDBAC376D15}" type="slidenum">
              <a:rPr lang="en-IN" smtClean="0"/>
              <a:t>‹#›</a:t>
            </a:fld>
            <a:endParaRPr lang="en-IN"/>
          </a:p>
        </p:txBody>
      </p:sp>
    </p:spTree>
    <p:extLst>
      <p:ext uri="{BB962C8B-B14F-4D97-AF65-F5344CB8AC3E}">
        <p14:creationId xmlns:p14="http://schemas.microsoft.com/office/powerpoint/2010/main" val="4203274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10" name="Slide Number Placeholder 5">
            <a:extLst>
              <a:ext uri="{FF2B5EF4-FFF2-40B4-BE49-F238E27FC236}">
                <a16:creationId xmlns:a16="http://schemas.microsoft.com/office/drawing/2014/main" id="{983060A7-945A-2E96-761C-7E7F8D3C45F9}"/>
              </a:ext>
            </a:extLst>
          </p:cNvPr>
          <p:cNvSpPr>
            <a:spLocks noGrp="1"/>
          </p:cNvSpPr>
          <p:nvPr>
            <p:ph type="sldNum" sz="quarter" idx="12"/>
          </p:nvPr>
        </p:nvSpPr>
        <p:spPr>
          <a:xfrm>
            <a:off x="11323907" y="6414447"/>
            <a:ext cx="731600" cy="355272"/>
          </a:xfrm>
          <a:prstGeom prst="rect">
            <a:avLst/>
          </a:prstGeom>
        </p:spPr>
        <p:txBody>
          <a:bodyPr/>
          <a:lstStyle>
            <a:lvl1pPr>
              <a:defRPr>
                <a:latin typeface="Raleway" pitchFamily="2" charset="0"/>
                <a:cs typeface="Calibri" panose="020F0502020204030204" pitchFamily="34" charset="0"/>
              </a:defRPr>
            </a:lvl1pPr>
          </a:lstStyle>
          <a:p>
            <a:fld id="{68B23924-FB05-4481-A986-8BDBAC376D15}" type="slidenum">
              <a:rPr lang="en-IN" smtClean="0"/>
              <a:t>‹#›</a:t>
            </a:fld>
            <a:endParaRPr lang="en-IN"/>
          </a:p>
        </p:txBody>
      </p:sp>
    </p:spTree>
    <p:extLst>
      <p:ext uri="{BB962C8B-B14F-4D97-AF65-F5344CB8AC3E}">
        <p14:creationId xmlns:p14="http://schemas.microsoft.com/office/powerpoint/2010/main" val="37310874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36"/>
        <p:cNvGrpSpPr/>
        <p:nvPr/>
      </p:nvGrpSpPr>
      <p:grpSpPr>
        <a:xfrm>
          <a:off x="0" y="0"/>
          <a:ext cx="0" cy="0"/>
          <a:chOff x="0" y="0"/>
          <a:chExt cx="0" cy="0"/>
        </a:xfrm>
      </p:grpSpPr>
      <p:sp>
        <p:nvSpPr>
          <p:cNvPr id="37" name="Google Shape;37;p60"/>
          <p:cNvSpPr txBox="1">
            <a:spLocks noGrp="1"/>
          </p:cNvSpPr>
          <p:nvPr>
            <p:ph type="subTitle" idx="1"/>
          </p:nvPr>
        </p:nvSpPr>
        <p:spPr>
          <a:xfrm>
            <a:off x="2840535" y="4195828"/>
            <a:ext cx="6494000" cy="1056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2400"/>
              <a:buNone/>
              <a:defRPr sz="3200">
                <a:latin typeface="Raleway"/>
                <a:ea typeface="Raleway"/>
                <a:cs typeface="Raleway"/>
                <a:sym typeface="Raleway"/>
              </a:defRPr>
            </a:lvl1pPr>
            <a:lvl2pPr lvl="1" algn="ctr">
              <a:lnSpc>
                <a:spcPct val="100000"/>
              </a:lnSpc>
              <a:spcBef>
                <a:spcPts val="0"/>
              </a:spcBef>
              <a:spcAft>
                <a:spcPts val="0"/>
              </a:spcAft>
              <a:buSzPts val="2400"/>
              <a:buNone/>
              <a:defRPr sz="3200"/>
            </a:lvl2pPr>
            <a:lvl3pPr lvl="2" algn="ctr">
              <a:lnSpc>
                <a:spcPct val="100000"/>
              </a:lnSpc>
              <a:spcBef>
                <a:spcPts val="0"/>
              </a:spcBef>
              <a:spcAft>
                <a:spcPts val="0"/>
              </a:spcAft>
              <a:buSzPts val="2400"/>
              <a:buNone/>
              <a:defRPr sz="3200"/>
            </a:lvl3pPr>
            <a:lvl4pPr lvl="3" algn="ctr">
              <a:lnSpc>
                <a:spcPct val="100000"/>
              </a:lnSpc>
              <a:spcBef>
                <a:spcPts val="0"/>
              </a:spcBef>
              <a:spcAft>
                <a:spcPts val="0"/>
              </a:spcAft>
              <a:buSzPts val="2400"/>
              <a:buNone/>
              <a:defRPr sz="3200"/>
            </a:lvl4pPr>
            <a:lvl5pPr lvl="4" algn="ctr">
              <a:lnSpc>
                <a:spcPct val="100000"/>
              </a:lnSpc>
              <a:spcBef>
                <a:spcPts val="0"/>
              </a:spcBef>
              <a:spcAft>
                <a:spcPts val="0"/>
              </a:spcAft>
              <a:buSzPts val="2400"/>
              <a:buNone/>
              <a:defRPr sz="3200"/>
            </a:lvl5pPr>
            <a:lvl6pPr lvl="5" algn="ctr">
              <a:lnSpc>
                <a:spcPct val="100000"/>
              </a:lnSpc>
              <a:spcBef>
                <a:spcPts val="0"/>
              </a:spcBef>
              <a:spcAft>
                <a:spcPts val="0"/>
              </a:spcAft>
              <a:buSzPts val="2400"/>
              <a:buNone/>
              <a:defRPr sz="3200"/>
            </a:lvl6pPr>
            <a:lvl7pPr lvl="6" algn="ctr">
              <a:lnSpc>
                <a:spcPct val="100000"/>
              </a:lnSpc>
              <a:spcBef>
                <a:spcPts val="0"/>
              </a:spcBef>
              <a:spcAft>
                <a:spcPts val="0"/>
              </a:spcAft>
              <a:buSzPts val="2400"/>
              <a:buNone/>
              <a:defRPr sz="3200"/>
            </a:lvl7pPr>
            <a:lvl8pPr lvl="7" algn="ctr">
              <a:lnSpc>
                <a:spcPct val="100000"/>
              </a:lnSpc>
              <a:spcBef>
                <a:spcPts val="0"/>
              </a:spcBef>
              <a:spcAft>
                <a:spcPts val="0"/>
              </a:spcAft>
              <a:buSzPts val="2400"/>
              <a:buNone/>
              <a:defRPr sz="3200"/>
            </a:lvl8pPr>
            <a:lvl9pPr lvl="8" algn="ctr">
              <a:lnSpc>
                <a:spcPct val="100000"/>
              </a:lnSpc>
              <a:spcBef>
                <a:spcPts val="0"/>
              </a:spcBef>
              <a:spcAft>
                <a:spcPts val="0"/>
              </a:spcAft>
              <a:buSzPts val="2400"/>
              <a:buNone/>
              <a:defRPr sz="3200"/>
            </a:lvl9pPr>
          </a:lstStyle>
          <a:p>
            <a:r>
              <a:rPr lang="en-US"/>
              <a:t>Click to edit Master subtitle style</a:t>
            </a:r>
            <a:endParaRPr/>
          </a:p>
        </p:txBody>
      </p:sp>
      <p:sp>
        <p:nvSpPr>
          <p:cNvPr id="38" name="Google Shape;38;p60"/>
          <p:cNvSpPr txBox="1">
            <a:spLocks noGrp="1"/>
          </p:cNvSpPr>
          <p:nvPr>
            <p:ph type="sldNum" idx="12"/>
          </p:nvPr>
        </p:nvSpPr>
        <p:spPr>
          <a:xfrm>
            <a:off x="11323907" y="6414447"/>
            <a:ext cx="731600" cy="355272"/>
          </a:xfrm>
          <a:prstGeom prst="rect">
            <a:avLst/>
          </a:prstGeom>
          <a:noFill/>
          <a:ln>
            <a:noFill/>
          </a:ln>
        </p:spPr>
        <p:txBody>
          <a:bodyPr spcFirstLastPara="1" wrap="square" lIns="91425" tIns="91425" rIns="91425" bIns="91425" anchor="ctr" anchorCtr="0">
            <a:noAutofit/>
          </a:bodyPr>
          <a:lstStyle>
            <a:lvl1pPr marL="0" lvl="0"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1pPr>
            <a:lvl2pPr marL="0" lvl="1"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2pPr>
            <a:lvl3pPr marL="0" lvl="2"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3pPr>
            <a:lvl4pPr marL="0" lvl="3"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4pPr>
            <a:lvl5pPr marL="0" lvl="4"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5pPr>
            <a:lvl6pPr marL="0" lvl="5"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6pPr>
            <a:lvl7pPr marL="0" lvl="6"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7pPr>
            <a:lvl8pPr marL="0" lvl="7"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8pPr>
            <a:lvl9pPr marL="0" lvl="8" indent="0" algn="r">
              <a:lnSpc>
                <a:spcPct val="100000"/>
              </a:lnSpc>
              <a:spcBef>
                <a:spcPts val="0"/>
              </a:spcBef>
              <a:spcAft>
                <a:spcPts val="0"/>
              </a:spcAft>
              <a:buSzPts val="1000"/>
              <a:buNone/>
              <a:defRPr sz="1333" b="0" i="0" u="none" strike="noStrike" cap="none">
                <a:solidFill>
                  <a:schemeClr val="lt1"/>
                </a:solidFill>
                <a:latin typeface="Raleway"/>
                <a:ea typeface="Raleway"/>
                <a:cs typeface="Raleway"/>
                <a:sym typeface="Raleway"/>
              </a:defRPr>
            </a:lvl9pPr>
          </a:lstStyle>
          <a:p>
            <a:fld id="{68B23924-FB05-4481-A986-8BDBAC376D15}" type="slidenum">
              <a:rPr lang="en-IN" smtClean="0"/>
              <a:t>‹#›</a:t>
            </a:fld>
            <a:endParaRPr lang="en-IN"/>
          </a:p>
        </p:txBody>
      </p:sp>
    </p:spTree>
    <p:extLst>
      <p:ext uri="{BB962C8B-B14F-4D97-AF65-F5344CB8AC3E}">
        <p14:creationId xmlns:p14="http://schemas.microsoft.com/office/powerpoint/2010/main" val="11247871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type="titleOnly">
  <p:cSld name="1_Title Only">
    <p:spTree>
      <p:nvGrpSpPr>
        <p:cNvPr id="1" name="Shape 57"/>
        <p:cNvGrpSpPr/>
        <p:nvPr/>
      </p:nvGrpSpPr>
      <p:grpSpPr>
        <a:xfrm>
          <a:off x="0" y="0"/>
          <a:ext cx="0" cy="0"/>
          <a:chOff x="0" y="0"/>
          <a:chExt cx="0" cy="0"/>
        </a:xfrm>
      </p:grpSpPr>
      <p:sp>
        <p:nvSpPr>
          <p:cNvPr id="58" name="Google Shape;58;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9" name="Google Shape;59;p10"/>
          <p:cNvSpPr txBox="1">
            <a:spLocks noGrp="1"/>
          </p:cNvSpPr>
          <p:nvPr>
            <p:ph type="ftr" idx="11"/>
          </p:nvPr>
        </p:nvSpPr>
        <p:spPr>
          <a:xfrm>
            <a:off x="838200" y="6356350"/>
            <a:ext cx="7315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800" b="1" i="0">
                <a:solidFill>
                  <a:srgbClr val="3E3A48"/>
                </a:solidFill>
                <a:latin typeface="Plus Jakarta Sans SemiBold"/>
                <a:ea typeface="Plus Jakarta Sans SemiBold"/>
                <a:cs typeface="Plus Jakarta Sans SemiBold"/>
                <a:sym typeface="Plus Jakarta Sans SemiBold"/>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0"/>
          <p:cNvSpPr txBox="1">
            <a:spLocks noGrp="1"/>
          </p:cNvSpPr>
          <p:nvPr>
            <p:ph type="sldNum" idx="12"/>
          </p:nvPr>
        </p:nvSpPr>
        <p:spPr>
          <a:xfrm>
            <a:off x="7967597" y="6350527"/>
            <a:ext cx="316909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200" b="0" i="0" u="none" strike="noStrike" cap="none">
                <a:solidFill>
                  <a:srgbClr val="00254D"/>
                </a:solidFill>
                <a:latin typeface="Plus Jakarta Sans Medium"/>
                <a:ea typeface="Plus Jakarta Sans Medium"/>
                <a:cs typeface="Plus Jakarta Sans Medium"/>
                <a:sym typeface="Plus Jakarta Sans Medium"/>
              </a:defRPr>
            </a:lvl1pPr>
            <a:lvl2pPr marL="0" lvl="1" indent="0" algn="r">
              <a:spcBef>
                <a:spcPts val="0"/>
              </a:spcBef>
              <a:buNone/>
              <a:defRPr sz="1200" b="0" i="0" u="none" strike="noStrike" cap="none">
                <a:solidFill>
                  <a:srgbClr val="00254D"/>
                </a:solidFill>
                <a:latin typeface="Plus Jakarta Sans Medium"/>
                <a:ea typeface="Plus Jakarta Sans Medium"/>
                <a:cs typeface="Plus Jakarta Sans Medium"/>
                <a:sym typeface="Plus Jakarta Sans Medium"/>
              </a:defRPr>
            </a:lvl2pPr>
            <a:lvl3pPr marL="0" lvl="2" indent="0" algn="r">
              <a:spcBef>
                <a:spcPts val="0"/>
              </a:spcBef>
              <a:buNone/>
              <a:defRPr sz="1200" b="0" i="0" u="none" strike="noStrike" cap="none">
                <a:solidFill>
                  <a:srgbClr val="00254D"/>
                </a:solidFill>
                <a:latin typeface="Plus Jakarta Sans Medium"/>
                <a:ea typeface="Plus Jakarta Sans Medium"/>
                <a:cs typeface="Plus Jakarta Sans Medium"/>
                <a:sym typeface="Plus Jakarta Sans Medium"/>
              </a:defRPr>
            </a:lvl3pPr>
            <a:lvl4pPr marL="0" lvl="3" indent="0" algn="r">
              <a:spcBef>
                <a:spcPts val="0"/>
              </a:spcBef>
              <a:buNone/>
              <a:defRPr sz="1200" b="0" i="0" u="none" strike="noStrike" cap="none">
                <a:solidFill>
                  <a:srgbClr val="00254D"/>
                </a:solidFill>
                <a:latin typeface="Plus Jakarta Sans Medium"/>
                <a:ea typeface="Plus Jakarta Sans Medium"/>
                <a:cs typeface="Plus Jakarta Sans Medium"/>
                <a:sym typeface="Plus Jakarta Sans Medium"/>
              </a:defRPr>
            </a:lvl4pPr>
            <a:lvl5pPr marL="0" lvl="4" indent="0" algn="r">
              <a:spcBef>
                <a:spcPts val="0"/>
              </a:spcBef>
              <a:buNone/>
              <a:defRPr sz="1200" b="0" i="0" u="none" strike="noStrike" cap="none">
                <a:solidFill>
                  <a:srgbClr val="00254D"/>
                </a:solidFill>
                <a:latin typeface="Plus Jakarta Sans Medium"/>
                <a:ea typeface="Plus Jakarta Sans Medium"/>
                <a:cs typeface="Plus Jakarta Sans Medium"/>
                <a:sym typeface="Plus Jakarta Sans Medium"/>
              </a:defRPr>
            </a:lvl5pPr>
            <a:lvl6pPr marL="0" lvl="5" indent="0" algn="r">
              <a:spcBef>
                <a:spcPts val="0"/>
              </a:spcBef>
              <a:buNone/>
              <a:defRPr sz="1200" b="0" i="0" u="none" strike="noStrike" cap="none">
                <a:solidFill>
                  <a:srgbClr val="00254D"/>
                </a:solidFill>
                <a:latin typeface="Plus Jakarta Sans Medium"/>
                <a:ea typeface="Plus Jakarta Sans Medium"/>
                <a:cs typeface="Plus Jakarta Sans Medium"/>
                <a:sym typeface="Plus Jakarta Sans Medium"/>
              </a:defRPr>
            </a:lvl6pPr>
            <a:lvl7pPr marL="0" lvl="6" indent="0" algn="r">
              <a:spcBef>
                <a:spcPts val="0"/>
              </a:spcBef>
              <a:buNone/>
              <a:defRPr sz="1200" b="0" i="0" u="none" strike="noStrike" cap="none">
                <a:solidFill>
                  <a:srgbClr val="00254D"/>
                </a:solidFill>
                <a:latin typeface="Plus Jakarta Sans Medium"/>
                <a:ea typeface="Plus Jakarta Sans Medium"/>
                <a:cs typeface="Plus Jakarta Sans Medium"/>
                <a:sym typeface="Plus Jakarta Sans Medium"/>
              </a:defRPr>
            </a:lvl7pPr>
            <a:lvl8pPr marL="0" lvl="7" indent="0" algn="r">
              <a:spcBef>
                <a:spcPts val="0"/>
              </a:spcBef>
              <a:buNone/>
              <a:defRPr sz="1200" b="0" i="0" u="none" strike="noStrike" cap="none">
                <a:solidFill>
                  <a:srgbClr val="00254D"/>
                </a:solidFill>
                <a:latin typeface="Plus Jakarta Sans Medium"/>
                <a:ea typeface="Plus Jakarta Sans Medium"/>
                <a:cs typeface="Plus Jakarta Sans Medium"/>
                <a:sym typeface="Plus Jakarta Sans Medium"/>
              </a:defRPr>
            </a:lvl8pPr>
            <a:lvl9pPr marL="0" lvl="8" indent="0" algn="r">
              <a:spcBef>
                <a:spcPts val="0"/>
              </a:spcBef>
              <a:buNone/>
              <a:defRPr sz="1200" b="0" i="0" u="none" strike="noStrike" cap="none">
                <a:solidFill>
                  <a:srgbClr val="00254D"/>
                </a:solidFill>
                <a:latin typeface="Plus Jakarta Sans Medium"/>
                <a:ea typeface="Plus Jakarta Sans Medium"/>
                <a:cs typeface="Plus Jakarta Sans Medium"/>
                <a:sym typeface="Plus Jakarta Sans Medium"/>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28225593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8112B-73A1-C3F6-C211-5DF5EF6519D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768C02B-D7B5-3C68-CB35-EDB8CE3799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C8F2583-6F52-A192-AAF7-043B30F9AA27}"/>
              </a:ext>
            </a:extLst>
          </p:cNvPr>
          <p:cNvSpPr>
            <a:spLocks noGrp="1"/>
          </p:cNvSpPr>
          <p:nvPr>
            <p:ph type="dt" sz="half" idx="10"/>
          </p:nvPr>
        </p:nvSpPr>
        <p:spPr/>
        <p:txBody>
          <a:bodyPr/>
          <a:lstStyle/>
          <a:p>
            <a:fld id="{9386C8F5-5801-4811-AD30-5C1E7431A7EB}" type="datetimeFigureOut">
              <a:rPr lang="en-IN" smtClean="0"/>
              <a:t>28-12-2025</a:t>
            </a:fld>
            <a:endParaRPr lang="en-IN"/>
          </a:p>
        </p:txBody>
      </p:sp>
      <p:sp>
        <p:nvSpPr>
          <p:cNvPr id="5" name="Footer Placeholder 4">
            <a:extLst>
              <a:ext uri="{FF2B5EF4-FFF2-40B4-BE49-F238E27FC236}">
                <a16:creationId xmlns:a16="http://schemas.microsoft.com/office/drawing/2014/main" id="{D7E71019-5B31-A9C0-D77D-E3A1A10E90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E498235-782E-BED4-686B-BC1ABFE1ACAB}"/>
              </a:ext>
            </a:extLst>
          </p:cNvPr>
          <p:cNvSpPr>
            <a:spLocks noGrp="1"/>
          </p:cNvSpPr>
          <p:nvPr>
            <p:ph type="sldNum" sz="quarter" idx="12"/>
          </p:nvPr>
        </p:nvSpPr>
        <p:spPr/>
        <p:txBody>
          <a:bodyPr/>
          <a:lstStyle/>
          <a:p>
            <a:fld id="{68B23924-FB05-4481-A986-8BDBAC376D15}" type="slidenum">
              <a:rPr lang="en-IN" smtClean="0"/>
              <a:t>‹#›</a:t>
            </a:fld>
            <a:endParaRPr lang="en-IN"/>
          </a:p>
        </p:txBody>
      </p:sp>
    </p:spTree>
    <p:extLst>
      <p:ext uri="{BB962C8B-B14F-4D97-AF65-F5344CB8AC3E}">
        <p14:creationId xmlns:p14="http://schemas.microsoft.com/office/powerpoint/2010/main" val="21760464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03200" y="115200"/>
            <a:ext cx="11360800" cy="9432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dirty="0"/>
          </a:p>
        </p:txBody>
      </p:sp>
      <p:sp>
        <p:nvSpPr>
          <p:cNvPr id="27" name="Rectangle 26">
            <a:extLst>
              <a:ext uri="{FF2B5EF4-FFF2-40B4-BE49-F238E27FC236}">
                <a16:creationId xmlns:a16="http://schemas.microsoft.com/office/drawing/2014/main" id="{D2573FB6-F6A4-C682-F4CD-14CE8176A144}"/>
              </a:ext>
            </a:extLst>
          </p:cNvPr>
          <p:cNvSpPr/>
          <p:nvPr/>
        </p:nvSpPr>
        <p:spPr>
          <a:xfrm>
            <a:off x="0" y="6331389"/>
            <a:ext cx="12195029" cy="524801"/>
          </a:xfrm>
          <a:prstGeom prst="rect">
            <a:avLst/>
          </a:prstGeom>
          <a:solidFill>
            <a:srgbClr val="348E90"/>
          </a:solidFill>
          <a:ln>
            <a:noFill/>
          </a:ln>
          <a:effectLst>
            <a:outerShdw blurRad="50800" dist="38100" dir="8100000" algn="tr"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2400" dirty="0"/>
          </a:p>
        </p:txBody>
      </p:sp>
      <p:sp>
        <p:nvSpPr>
          <p:cNvPr id="8" name="Google Shape;8;p1"/>
          <p:cNvSpPr txBox="1">
            <a:spLocks noGrp="1"/>
          </p:cNvSpPr>
          <p:nvPr>
            <p:ph type="sldNum" idx="12"/>
          </p:nvPr>
        </p:nvSpPr>
        <p:spPr>
          <a:xfrm>
            <a:off x="11323907" y="6414447"/>
            <a:ext cx="731600" cy="355272"/>
          </a:xfrm>
          <a:prstGeom prst="rect">
            <a:avLst/>
          </a:prstGeom>
          <a:noFill/>
          <a:ln>
            <a:noFill/>
          </a:ln>
        </p:spPr>
        <p:txBody>
          <a:bodyPr spcFirstLastPara="1" wrap="square" lIns="91425" tIns="91425" rIns="91425" bIns="91425" anchor="ctr" anchorCtr="0">
            <a:noAutofit/>
          </a:bodyPr>
          <a:lstStyle>
            <a:lvl1pPr lvl="0" algn="r">
              <a:buNone/>
              <a:defRPr sz="1333">
                <a:solidFill>
                  <a:schemeClr val="bg1"/>
                </a:solidFill>
                <a:latin typeface="Raleway" pitchFamily="2" charset="0"/>
                <a:ea typeface="Open Sans"/>
                <a:cs typeface="Open Sans"/>
                <a:sym typeface="Open Sans"/>
              </a:defRPr>
            </a:lvl1pPr>
            <a:lvl2pPr lvl="1" algn="r">
              <a:buNone/>
              <a:defRPr sz="1333">
                <a:solidFill>
                  <a:schemeClr val="dk2"/>
                </a:solidFill>
                <a:latin typeface="Open Sans"/>
                <a:ea typeface="Open Sans"/>
                <a:cs typeface="Open Sans"/>
                <a:sym typeface="Open Sans"/>
              </a:defRPr>
            </a:lvl2pPr>
            <a:lvl3pPr lvl="2" algn="r">
              <a:buNone/>
              <a:defRPr sz="1333">
                <a:solidFill>
                  <a:schemeClr val="dk2"/>
                </a:solidFill>
                <a:latin typeface="Open Sans"/>
                <a:ea typeface="Open Sans"/>
                <a:cs typeface="Open Sans"/>
                <a:sym typeface="Open Sans"/>
              </a:defRPr>
            </a:lvl3pPr>
            <a:lvl4pPr lvl="3" algn="r">
              <a:buNone/>
              <a:defRPr sz="1333">
                <a:solidFill>
                  <a:schemeClr val="dk2"/>
                </a:solidFill>
                <a:latin typeface="Open Sans"/>
                <a:ea typeface="Open Sans"/>
                <a:cs typeface="Open Sans"/>
                <a:sym typeface="Open Sans"/>
              </a:defRPr>
            </a:lvl4pPr>
            <a:lvl5pPr lvl="4" algn="r">
              <a:buNone/>
              <a:defRPr sz="1333">
                <a:solidFill>
                  <a:schemeClr val="dk2"/>
                </a:solidFill>
                <a:latin typeface="Open Sans"/>
                <a:ea typeface="Open Sans"/>
                <a:cs typeface="Open Sans"/>
                <a:sym typeface="Open Sans"/>
              </a:defRPr>
            </a:lvl5pPr>
            <a:lvl6pPr lvl="5" algn="r">
              <a:buNone/>
              <a:defRPr sz="1333">
                <a:solidFill>
                  <a:schemeClr val="dk2"/>
                </a:solidFill>
                <a:latin typeface="Open Sans"/>
                <a:ea typeface="Open Sans"/>
                <a:cs typeface="Open Sans"/>
                <a:sym typeface="Open Sans"/>
              </a:defRPr>
            </a:lvl6pPr>
            <a:lvl7pPr lvl="6" algn="r">
              <a:buNone/>
              <a:defRPr sz="1333">
                <a:solidFill>
                  <a:schemeClr val="dk2"/>
                </a:solidFill>
                <a:latin typeface="Open Sans"/>
                <a:ea typeface="Open Sans"/>
                <a:cs typeface="Open Sans"/>
                <a:sym typeface="Open Sans"/>
              </a:defRPr>
            </a:lvl7pPr>
            <a:lvl8pPr lvl="7" algn="r">
              <a:buNone/>
              <a:defRPr sz="1333">
                <a:solidFill>
                  <a:schemeClr val="dk2"/>
                </a:solidFill>
                <a:latin typeface="Open Sans"/>
                <a:ea typeface="Open Sans"/>
                <a:cs typeface="Open Sans"/>
                <a:sym typeface="Open Sans"/>
              </a:defRPr>
            </a:lvl8pPr>
            <a:lvl9pPr lvl="8" algn="r">
              <a:buNone/>
              <a:defRPr sz="1333">
                <a:solidFill>
                  <a:schemeClr val="dk2"/>
                </a:solidFill>
                <a:latin typeface="Open Sans"/>
                <a:ea typeface="Open Sans"/>
                <a:cs typeface="Open Sans"/>
                <a:sym typeface="Open Sans"/>
              </a:defRPr>
            </a:lvl9pPr>
          </a:lstStyle>
          <a:p>
            <a:fld id="{68B23924-FB05-4481-A986-8BDBAC376D15}" type="slidenum">
              <a:rPr lang="en-IN" smtClean="0"/>
              <a:t>‹#›</a:t>
            </a:fld>
            <a:endParaRPr lang="en-IN"/>
          </a:p>
        </p:txBody>
      </p:sp>
    </p:spTree>
    <p:extLst>
      <p:ext uri="{BB962C8B-B14F-4D97-AF65-F5344CB8AC3E}">
        <p14:creationId xmlns:p14="http://schemas.microsoft.com/office/powerpoint/2010/main" val="571620590"/>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5333" b="0" i="0" u="none" strike="noStrike" cap="none">
          <a:solidFill>
            <a:schemeClr val="tx1"/>
          </a:solidFill>
          <a:latin typeface="Raleway" pitchFamily="2" charset="0"/>
          <a:ea typeface="Raleway" pitchFamily="2" charset="0"/>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Raleway" pitchFamily="2" charset="0"/>
          <a:ea typeface="Raleway" pitchFamily="2" charset="0"/>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3">
            <a:extLst>
              <a:ext uri="{FF2B5EF4-FFF2-40B4-BE49-F238E27FC236}">
                <a16:creationId xmlns:a16="http://schemas.microsoft.com/office/drawing/2014/main" id="{87F2FD71-3B3A-0442-0D1B-8A2E4CBE4917}"/>
              </a:ext>
            </a:extLst>
          </p:cNvPr>
          <p:cNvSpPr>
            <a:spLocks noGrp="1"/>
          </p:cNvSpPr>
          <p:nvPr>
            <p:ph type="subTitle" idx="1"/>
          </p:nvPr>
        </p:nvSpPr>
        <p:spPr>
          <a:xfrm>
            <a:off x="6328221" y="1300943"/>
            <a:ext cx="5455740" cy="1056800"/>
          </a:xfrm>
          <a:solidFill>
            <a:schemeClr val="accent2"/>
          </a:solidFill>
        </p:spPr>
        <p:txBody>
          <a:bodyPr>
            <a:normAutofit/>
          </a:bodyPr>
          <a:lstStyle/>
          <a:p>
            <a:r>
              <a:rPr lang="en-US" sz="2800" b="1" dirty="0">
                <a:latin typeface="+mn-lt"/>
              </a:rPr>
              <a:t>Banking Transactions &amp; Customer Behavior Dataset</a:t>
            </a:r>
            <a:endParaRPr lang="en-IN" sz="2800" b="1" dirty="0">
              <a:latin typeface="+mn-lt"/>
            </a:endParaRPr>
          </a:p>
        </p:txBody>
      </p:sp>
      <p:sp>
        <p:nvSpPr>
          <p:cNvPr id="4" name="TextBox 3">
            <a:extLst>
              <a:ext uri="{FF2B5EF4-FFF2-40B4-BE49-F238E27FC236}">
                <a16:creationId xmlns:a16="http://schemas.microsoft.com/office/drawing/2014/main" id="{0766BB60-0716-97E0-8DBB-2B88F9724F93}"/>
              </a:ext>
            </a:extLst>
          </p:cNvPr>
          <p:cNvSpPr txBox="1"/>
          <p:nvPr/>
        </p:nvSpPr>
        <p:spPr>
          <a:xfrm>
            <a:off x="6666271" y="4082930"/>
            <a:ext cx="4748981" cy="830997"/>
          </a:xfrm>
          <a:prstGeom prst="rect">
            <a:avLst/>
          </a:prstGeom>
          <a:noFill/>
        </p:spPr>
        <p:txBody>
          <a:bodyPr wrap="square" rtlCol="0">
            <a:spAutoFit/>
          </a:bodyPr>
          <a:lstStyle/>
          <a:p>
            <a:pPr algn="ctr">
              <a:buClr>
                <a:srgbClr val="000000"/>
              </a:buClr>
              <a:buSzPts val="2400"/>
            </a:pPr>
            <a:r>
              <a:rPr lang="en-US" sz="2400" dirty="0">
                <a:solidFill>
                  <a:srgbClr val="000000"/>
                </a:solidFill>
                <a:latin typeface="Arial" panose="020B0604020202020204" pitchFamily="34" charset="0"/>
                <a:cs typeface="Arial" panose="020B0604020202020204" pitchFamily="34" charset="0"/>
                <a:sym typeface="Raleway"/>
              </a:rPr>
              <a:t>Name – Harshita Sahu</a:t>
            </a:r>
          </a:p>
          <a:p>
            <a:pPr algn="ctr">
              <a:buClr>
                <a:srgbClr val="000000"/>
              </a:buClr>
              <a:buSzPts val="2400"/>
            </a:pPr>
            <a:r>
              <a:rPr lang="en-US" sz="2400" dirty="0">
                <a:solidFill>
                  <a:srgbClr val="000000"/>
                </a:solidFill>
                <a:latin typeface="Arial" panose="020B0604020202020204" pitchFamily="34" charset="0"/>
                <a:cs typeface="Arial" panose="020B0604020202020204" pitchFamily="34" charset="0"/>
                <a:sym typeface="Raleway"/>
              </a:rPr>
              <a:t>Date – 25/11/25</a:t>
            </a:r>
            <a:endParaRPr lang="en-IN" sz="2400" dirty="0">
              <a:solidFill>
                <a:srgbClr val="000000"/>
              </a:solidFill>
              <a:latin typeface="Arial" panose="020B0604020202020204" pitchFamily="34" charset="0"/>
              <a:cs typeface="Arial" panose="020B0604020202020204" pitchFamily="34" charset="0"/>
              <a:sym typeface="Raleway"/>
            </a:endParaRPr>
          </a:p>
        </p:txBody>
      </p:sp>
    </p:spTree>
    <p:extLst>
      <p:ext uri="{BB962C8B-B14F-4D97-AF65-F5344CB8AC3E}">
        <p14:creationId xmlns:p14="http://schemas.microsoft.com/office/powerpoint/2010/main" val="30337691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2">
            <a:extLst>
              <a:ext uri="{FF2B5EF4-FFF2-40B4-BE49-F238E27FC236}">
                <a16:creationId xmlns:a16="http://schemas.microsoft.com/office/drawing/2014/main" id="{29330BE8-4CB5-B3C4-9991-DD4EFD9FA0D8}"/>
              </a:ext>
            </a:extLst>
          </p:cNvPr>
          <p:cNvSpPr txBox="1">
            <a:spLocks/>
          </p:cNvSpPr>
          <p:nvPr/>
        </p:nvSpPr>
        <p:spPr>
          <a:xfrm>
            <a:off x="0" y="0"/>
            <a:ext cx="12192000" cy="668594"/>
          </a:xfrm>
          <a:prstGeom prst="rect">
            <a:avLst/>
          </a:prstGeom>
          <a:solidFill>
            <a:schemeClr val="accent2"/>
          </a:solidFill>
          <a:ln>
            <a:noFill/>
          </a:ln>
        </p:spPr>
        <p:txBody>
          <a:bodyPr spcFirstLastPara="1" wrap="square" lIns="91425" tIns="91425" rIns="91425" bIns="91425" anchor="b" anchorCtr="0">
            <a:normAutofit fontScale="92500" lnSpcReduction="10000"/>
          </a:bodyPr>
          <a:lstStyle>
            <a:defPPr marR="0" lvl="0" algn="l" rtl="0">
              <a:lnSpc>
                <a:spcPct val="100000"/>
              </a:lnSpc>
              <a:spcBef>
                <a:spcPts val="0"/>
              </a:spcBef>
              <a:spcAft>
                <a:spcPts val="0"/>
              </a:spcAft>
            </a:defPPr>
            <a:lvl1pPr marR="0" lvl="0" algn="ctr" rtl="0" eaLnBrk="1" hangingPunct="1">
              <a:lnSpc>
                <a:spcPct val="100000"/>
              </a:lnSpc>
              <a:spcBef>
                <a:spcPts val="0"/>
              </a:spcBef>
              <a:spcAft>
                <a:spcPts val="0"/>
              </a:spcAft>
              <a:buClr>
                <a:schemeClr val="accent1"/>
              </a:buClr>
              <a:buSzPts val="3600"/>
              <a:buFont typeface="PT Sans Narrow"/>
              <a:buNone/>
              <a:defRPr sz="6000" b="1" i="0" u="none" strike="noStrike" cap="none">
                <a:solidFill>
                  <a:schemeClr val="accent1"/>
                </a:solidFill>
                <a:latin typeface="PT Sans Narrow"/>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9pPr>
          </a:lstStyle>
          <a:p>
            <a:r>
              <a:rPr lang="en-US" sz="3600" b="0" kern="0" dirty="0">
                <a:solidFill>
                  <a:schemeClr val="tx1"/>
                </a:solidFill>
                <a:latin typeface="Arial Black" panose="020B0A04020102020204" pitchFamily="34" charset="0"/>
              </a:rPr>
              <a:t>Business Overview </a:t>
            </a:r>
            <a:endParaRPr lang="en-IN" sz="3600" b="0" kern="0" dirty="0">
              <a:solidFill>
                <a:schemeClr val="tx1"/>
              </a:solidFill>
              <a:latin typeface="Arial Black" panose="020B0A04020102020204" pitchFamily="34" charset="0"/>
            </a:endParaRPr>
          </a:p>
        </p:txBody>
      </p:sp>
      <p:sp>
        <p:nvSpPr>
          <p:cNvPr id="7" name="Text Placeholder 1">
            <a:extLst>
              <a:ext uri="{FF2B5EF4-FFF2-40B4-BE49-F238E27FC236}">
                <a16:creationId xmlns:a16="http://schemas.microsoft.com/office/drawing/2014/main" id="{CC588EFB-6CBD-2276-7A2B-4B9BC66A8476}"/>
              </a:ext>
            </a:extLst>
          </p:cNvPr>
          <p:cNvSpPr txBox="1">
            <a:spLocks/>
          </p:cNvSpPr>
          <p:nvPr/>
        </p:nvSpPr>
        <p:spPr>
          <a:xfrm>
            <a:off x="226143" y="862264"/>
            <a:ext cx="11847872" cy="5133471"/>
          </a:xfrm>
        </p:spPr>
        <p:txBody>
          <a:bodyPr/>
          <a:lstStyle>
            <a:defPPr marR="0" lvl="0" algn="l" rtl="0">
              <a:lnSpc>
                <a:spcPct val="100000"/>
              </a:lnSpc>
              <a:spcBef>
                <a:spcPts val="0"/>
              </a:spcBef>
              <a:spcAft>
                <a:spcPts val="0"/>
              </a:spcAft>
            </a:defPPr>
            <a:lvl1pPr marL="0" marR="0" lvl="0" indent="0" algn="ctr" rtl="0" eaLnBrk="1" hangingPunct="1">
              <a:lnSpc>
                <a:spcPct val="100000"/>
              </a:lnSpc>
              <a:spcBef>
                <a:spcPts val="0"/>
              </a:spcBef>
              <a:spcAft>
                <a:spcPts val="0"/>
              </a:spcAft>
              <a:buClr>
                <a:srgbClr val="000000"/>
              </a:buClr>
              <a:buFont typeface="Arial"/>
              <a:buNone/>
              <a:defRPr sz="2400" b="0" i="0" u="none" strike="noStrike" cap="none">
                <a:solidFill>
                  <a:srgbClr val="000000"/>
                </a:solidFill>
                <a:latin typeface="Raleway" pitchFamily="2" charset="0"/>
                <a:ea typeface="Raleway" pitchFamily="2" charset="0"/>
                <a:cs typeface="Arial"/>
                <a:sym typeface="Arial"/>
              </a:defRPr>
            </a:lvl1pPr>
            <a:lvl2pPr marL="457200" marR="0" lvl="1" indent="0" algn="ctr" rtl="0" eaLnBrk="1" hangingPunct="1">
              <a:lnSpc>
                <a:spcPct val="100000"/>
              </a:lnSpc>
              <a:spcBef>
                <a:spcPts val="0"/>
              </a:spcBef>
              <a:spcAft>
                <a:spcPts val="0"/>
              </a:spcAft>
              <a:buClr>
                <a:srgbClr val="000000"/>
              </a:buClr>
              <a:buFont typeface="Arial"/>
              <a:buNone/>
              <a:defRPr sz="2000" b="0" i="0" u="none" strike="noStrike" cap="none">
                <a:solidFill>
                  <a:srgbClr val="000000"/>
                </a:solidFill>
                <a:latin typeface="Arial"/>
                <a:ea typeface="Arial"/>
                <a:cs typeface="Arial"/>
                <a:sym typeface="Arial"/>
              </a:defRPr>
            </a:lvl2pPr>
            <a:lvl3pPr marL="914400" marR="0" lvl="2" indent="0" algn="ctr" rtl="0" eaLnBrk="1" hangingPunct="1">
              <a:lnSpc>
                <a:spcPct val="100000"/>
              </a:lnSpc>
              <a:spcBef>
                <a:spcPts val="0"/>
              </a:spcBef>
              <a:spcAft>
                <a:spcPts val="0"/>
              </a:spcAft>
              <a:buClr>
                <a:srgbClr val="000000"/>
              </a:buClr>
              <a:buFont typeface="Arial"/>
              <a:buNone/>
              <a:defRPr sz="1800" b="0" i="0" u="none" strike="noStrike" cap="none">
                <a:solidFill>
                  <a:srgbClr val="000000"/>
                </a:solidFill>
                <a:latin typeface="Arial"/>
                <a:ea typeface="Arial"/>
                <a:cs typeface="Arial"/>
                <a:sym typeface="Arial"/>
              </a:defRPr>
            </a:lvl3pPr>
            <a:lvl4pPr marL="1371600" marR="0" lvl="3" indent="0" algn="ctr" rtl="0" eaLnBrk="1" hangingPunct="1">
              <a:lnSpc>
                <a:spcPct val="100000"/>
              </a:lnSpc>
              <a:spcBef>
                <a:spcPts val="0"/>
              </a:spcBef>
              <a:spcAft>
                <a:spcPts val="0"/>
              </a:spcAft>
              <a:buClr>
                <a:srgbClr val="000000"/>
              </a:buClr>
              <a:buFont typeface="Arial"/>
              <a:buNone/>
              <a:defRPr sz="1600" b="0" i="0" u="none" strike="noStrike" cap="none">
                <a:solidFill>
                  <a:srgbClr val="000000"/>
                </a:solidFill>
                <a:latin typeface="Arial"/>
                <a:ea typeface="Arial"/>
                <a:cs typeface="Arial"/>
                <a:sym typeface="Arial"/>
              </a:defRPr>
            </a:lvl4pPr>
            <a:lvl5pPr marL="1828800" marR="0" lvl="4" indent="0" algn="ctr" rtl="0" eaLnBrk="1" hangingPunct="1">
              <a:lnSpc>
                <a:spcPct val="100000"/>
              </a:lnSpc>
              <a:spcBef>
                <a:spcPts val="0"/>
              </a:spcBef>
              <a:spcAft>
                <a:spcPts val="0"/>
              </a:spcAft>
              <a:buClr>
                <a:srgbClr val="000000"/>
              </a:buClr>
              <a:buFont typeface="Arial"/>
              <a:buNone/>
              <a:defRPr sz="1600" b="0" i="0" u="none" strike="noStrike" cap="none">
                <a:solidFill>
                  <a:srgbClr val="000000"/>
                </a:solidFill>
                <a:latin typeface="Arial"/>
                <a:ea typeface="Arial"/>
                <a:cs typeface="Arial"/>
                <a:sym typeface="Arial"/>
              </a:defRPr>
            </a:lvl5pPr>
            <a:lvl6pPr marL="2286000" marR="0" lvl="5" indent="0" algn="ctr" rtl="0" eaLnBrk="1" hangingPunct="1">
              <a:lnSpc>
                <a:spcPct val="100000"/>
              </a:lnSpc>
              <a:spcBef>
                <a:spcPts val="0"/>
              </a:spcBef>
              <a:spcAft>
                <a:spcPts val="0"/>
              </a:spcAft>
              <a:buClr>
                <a:srgbClr val="000000"/>
              </a:buClr>
              <a:buFont typeface="Arial"/>
              <a:buNone/>
              <a:defRPr sz="1600" b="0" i="0" u="none" strike="noStrike" cap="none">
                <a:solidFill>
                  <a:srgbClr val="000000"/>
                </a:solidFill>
                <a:latin typeface="Arial"/>
                <a:ea typeface="Arial"/>
                <a:cs typeface="Arial"/>
                <a:sym typeface="Arial"/>
              </a:defRPr>
            </a:lvl6pPr>
            <a:lvl7pPr marL="2743200" marR="0" lvl="6" indent="0" algn="ctr" rtl="0" eaLnBrk="1" hangingPunct="1">
              <a:lnSpc>
                <a:spcPct val="100000"/>
              </a:lnSpc>
              <a:spcBef>
                <a:spcPts val="0"/>
              </a:spcBef>
              <a:spcAft>
                <a:spcPts val="0"/>
              </a:spcAft>
              <a:buClr>
                <a:srgbClr val="000000"/>
              </a:buClr>
              <a:buFont typeface="Arial"/>
              <a:buNone/>
              <a:defRPr sz="1600" b="0" i="0" u="none" strike="noStrike" cap="none">
                <a:solidFill>
                  <a:srgbClr val="000000"/>
                </a:solidFill>
                <a:latin typeface="Arial"/>
                <a:ea typeface="Arial"/>
                <a:cs typeface="Arial"/>
                <a:sym typeface="Arial"/>
              </a:defRPr>
            </a:lvl7pPr>
            <a:lvl8pPr marL="3200400" marR="0" lvl="7" indent="0" algn="ctr" rtl="0" eaLnBrk="1" hangingPunct="1">
              <a:lnSpc>
                <a:spcPct val="100000"/>
              </a:lnSpc>
              <a:spcBef>
                <a:spcPts val="0"/>
              </a:spcBef>
              <a:spcAft>
                <a:spcPts val="0"/>
              </a:spcAft>
              <a:buClr>
                <a:srgbClr val="000000"/>
              </a:buClr>
              <a:buFont typeface="Arial"/>
              <a:buNone/>
              <a:defRPr sz="1600" b="0" i="0" u="none" strike="noStrike" cap="none">
                <a:solidFill>
                  <a:srgbClr val="000000"/>
                </a:solidFill>
                <a:latin typeface="Arial"/>
                <a:ea typeface="Arial"/>
                <a:cs typeface="Arial"/>
                <a:sym typeface="Arial"/>
              </a:defRPr>
            </a:lvl8pPr>
            <a:lvl9pPr marL="3657600" marR="0" lvl="8" indent="0" algn="ctr" rtl="0" eaLnBrk="1" hangingPunct="1">
              <a:lnSpc>
                <a:spcPct val="100000"/>
              </a:lnSpc>
              <a:spcBef>
                <a:spcPts val="0"/>
              </a:spcBef>
              <a:spcAft>
                <a:spcPts val="0"/>
              </a:spcAft>
              <a:buClr>
                <a:srgbClr val="000000"/>
              </a:buClr>
              <a:buFont typeface="Arial"/>
              <a:buNone/>
              <a:defRPr sz="1600" b="0" i="0" u="none" strike="noStrike" cap="none">
                <a:solidFill>
                  <a:srgbClr val="000000"/>
                </a:solidFill>
                <a:latin typeface="Arial"/>
                <a:ea typeface="Arial"/>
                <a:cs typeface="Arial"/>
                <a:sym typeface="Arial"/>
              </a:defRPr>
            </a:lvl9pPr>
          </a:lstStyle>
          <a:p>
            <a:pPr algn="l">
              <a:lnSpc>
                <a:spcPct val="150000"/>
              </a:lnSpc>
            </a:pPr>
            <a:r>
              <a:rPr lang="en-US" sz="2000" kern="0" dirty="0">
                <a:latin typeface="Bahnschrift" panose="020B0502040204020203" pitchFamily="34" charset="0"/>
                <a:cs typeface="Arial" panose="020B0604020202020204" pitchFamily="34" charset="0"/>
              </a:rPr>
              <a:t>Berka Dataset shows the real-world banking dataset how the banks really works , how customer accounts are managed how the financial transactions flow between the banking systems . This datasets tells us spending patterns ,customer behavior including  spending  patterns, account management , loan usage ,risk categorizes</a:t>
            </a:r>
            <a:endParaRPr lang="en-IN" sz="2000" kern="0" dirty="0">
              <a:latin typeface="Bahnschrift" panose="020B0502040204020203" pitchFamily="34" charset="0"/>
              <a:cs typeface="Arial" panose="020B0604020202020204" pitchFamily="34" charset="0"/>
            </a:endParaRPr>
          </a:p>
          <a:p>
            <a:pPr algn="l">
              <a:lnSpc>
                <a:spcPct val="150000"/>
              </a:lnSpc>
              <a:buFont typeface="Wingdings" panose="05000000000000000000" pitchFamily="2" charset="2"/>
              <a:buChar char="v"/>
            </a:pPr>
            <a:r>
              <a:rPr lang="en-IN" sz="2000" u="sng" kern="0" dirty="0">
                <a:solidFill>
                  <a:srgbClr val="00B050"/>
                </a:solidFill>
                <a:latin typeface="Bahnschrift" panose="020B0502040204020203" pitchFamily="34" charset="0"/>
                <a:cs typeface="Arial" panose="020B0604020202020204" pitchFamily="34" charset="0"/>
              </a:rPr>
              <a:t>This datasets allows us to understand :</a:t>
            </a:r>
          </a:p>
          <a:p>
            <a:pPr marL="342900" indent="-342900" algn="l">
              <a:lnSpc>
                <a:spcPct val="150000"/>
              </a:lnSpc>
              <a:buFont typeface="Arial" panose="020B0604020202020204" pitchFamily="34" charset="0"/>
              <a:buChar char="•"/>
            </a:pPr>
            <a:r>
              <a:rPr lang="en-IN" sz="2000" kern="0" dirty="0">
                <a:latin typeface="Bahnschrift" panose="020B0502040204020203" pitchFamily="34" charset="0"/>
                <a:cs typeface="Arial" panose="020B0604020202020204" pitchFamily="34" charset="0"/>
              </a:rPr>
              <a:t>Which type of transactions occurs more frequently .</a:t>
            </a:r>
          </a:p>
          <a:p>
            <a:pPr marL="342900" indent="-342900" algn="l">
              <a:lnSpc>
                <a:spcPct val="150000"/>
              </a:lnSpc>
              <a:buFont typeface="Arial" panose="020B0604020202020204" pitchFamily="34" charset="0"/>
              <a:buChar char="•"/>
            </a:pPr>
            <a:r>
              <a:rPr lang="en-IN" sz="2000" kern="0" dirty="0">
                <a:latin typeface="Bahnschrift" panose="020B0502040204020203" pitchFamily="34" charset="0"/>
                <a:cs typeface="Arial" panose="020B0604020202020204" pitchFamily="34" charset="0"/>
              </a:rPr>
              <a:t>How the money is flowing between the accounts </a:t>
            </a:r>
          </a:p>
          <a:p>
            <a:pPr marL="342900" indent="-342900" algn="l">
              <a:lnSpc>
                <a:spcPct val="150000"/>
              </a:lnSpc>
              <a:buFont typeface="Arial" panose="020B0604020202020204" pitchFamily="34" charset="0"/>
              <a:buChar char="•"/>
            </a:pPr>
            <a:r>
              <a:rPr lang="en-IN" sz="2000" kern="0" dirty="0">
                <a:latin typeface="Bahnschrift" panose="020B0502040204020203" pitchFamily="34" charset="0"/>
                <a:cs typeface="Arial" panose="020B0604020202020204" pitchFamily="34" charset="0"/>
              </a:rPr>
              <a:t>Categorizing Customer as Low Risk customer to High Risk Customer </a:t>
            </a:r>
          </a:p>
          <a:p>
            <a:pPr marL="342900" indent="-342900" algn="l">
              <a:lnSpc>
                <a:spcPct val="150000"/>
              </a:lnSpc>
              <a:buFont typeface="Arial" panose="020B0604020202020204" pitchFamily="34" charset="0"/>
              <a:buChar char="•"/>
            </a:pPr>
            <a:r>
              <a:rPr lang="en-IN" sz="2000" kern="0" dirty="0">
                <a:latin typeface="Bahnschrift" panose="020B0502040204020203" pitchFamily="34" charset="0"/>
                <a:cs typeface="Arial" panose="020B0604020202020204" pitchFamily="34" charset="0"/>
              </a:rPr>
              <a:t>How the regional and demographic differences affect banking activity </a:t>
            </a:r>
          </a:p>
          <a:p>
            <a:pPr marL="342900" indent="-342900" algn="l">
              <a:lnSpc>
                <a:spcPct val="150000"/>
              </a:lnSpc>
              <a:buFont typeface="Arial" panose="020B0604020202020204" pitchFamily="34" charset="0"/>
              <a:buChar char="•"/>
            </a:pPr>
            <a:r>
              <a:rPr lang="en-IN" sz="2000" kern="0" dirty="0">
                <a:latin typeface="Bahnschrift" panose="020B0502040204020203" pitchFamily="34" charset="0"/>
                <a:cs typeface="Arial" panose="020B0604020202020204" pitchFamily="34" charset="0"/>
              </a:rPr>
              <a:t>How account ownership structured (ownership v/s authorized user)</a:t>
            </a:r>
            <a:r>
              <a:rPr lang="en-IN" sz="2000" kern="0" dirty="0">
                <a:latin typeface="Aptos" panose="020B0004020202020204" pitchFamily="34" charset="0"/>
              </a:rPr>
              <a:t>	 </a:t>
            </a:r>
            <a:endParaRPr lang="en-US" sz="2000" kern="0" dirty="0">
              <a:latin typeface="Aptos" panose="020B0004020202020204" pitchFamily="34" charset="0"/>
            </a:endParaRPr>
          </a:p>
        </p:txBody>
      </p:sp>
    </p:spTree>
    <p:extLst>
      <p:ext uri="{BB962C8B-B14F-4D97-AF65-F5344CB8AC3E}">
        <p14:creationId xmlns:p14="http://schemas.microsoft.com/office/powerpoint/2010/main" val="39619936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A8AE397-FF71-98B4-FAC7-C2EA39E33650}"/>
              </a:ext>
            </a:extLst>
          </p:cNvPr>
          <p:cNvSpPr>
            <a:spLocks noGrp="1"/>
          </p:cNvSpPr>
          <p:nvPr>
            <p:ph type="body" idx="1"/>
          </p:nvPr>
        </p:nvSpPr>
        <p:spPr>
          <a:xfrm>
            <a:off x="176980" y="806245"/>
            <a:ext cx="11176819" cy="5172800"/>
          </a:xfrm>
        </p:spPr>
        <p:txBody>
          <a:bodyPr>
            <a:normAutofit/>
          </a:bodyPr>
          <a:lstStyle/>
          <a:p>
            <a:pPr marL="186262" indent="0">
              <a:lnSpc>
                <a:spcPct val="120000"/>
              </a:lnSpc>
              <a:buNone/>
            </a:pPr>
            <a:r>
              <a:rPr lang="en-US" b="1" u="sng" dirty="0">
                <a:solidFill>
                  <a:srgbClr val="00B050"/>
                </a:solidFill>
                <a:latin typeface="Bahnschrift" panose="020B0502040204020203" pitchFamily="34" charset="0"/>
              </a:rPr>
              <a:t>Tables Brief Explanation</a:t>
            </a:r>
            <a:r>
              <a:rPr lang="en-US" u="sng" dirty="0">
                <a:solidFill>
                  <a:srgbClr val="00B050"/>
                </a:solidFill>
                <a:latin typeface="Bahnschrift" panose="020B0502040204020203" pitchFamily="34" charset="0"/>
              </a:rPr>
              <a:t>:</a:t>
            </a:r>
          </a:p>
          <a:p>
            <a:pPr>
              <a:lnSpc>
                <a:spcPct val="120000"/>
              </a:lnSpc>
              <a:buFont typeface="Wingdings" panose="05000000000000000000" pitchFamily="2" charset="2"/>
              <a:buChar char="v"/>
            </a:pPr>
            <a:r>
              <a:rPr lang="en-US" dirty="0">
                <a:latin typeface="Bahnschrift" panose="020B0502040204020203" pitchFamily="34" charset="0"/>
              </a:rPr>
              <a:t>Account Table – Account Details.</a:t>
            </a:r>
          </a:p>
          <a:p>
            <a:pPr>
              <a:lnSpc>
                <a:spcPct val="120000"/>
              </a:lnSpc>
              <a:buFont typeface="Wingdings" panose="05000000000000000000" pitchFamily="2" charset="2"/>
              <a:buChar char="v"/>
            </a:pPr>
            <a:r>
              <a:rPr lang="en-US" dirty="0">
                <a:latin typeface="Bahnschrift" panose="020B0502040204020203" pitchFamily="34" charset="0"/>
              </a:rPr>
              <a:t>Card – Clients Card &amp; Card Type Details.</a:t>
            </a:r>
          </a:p>
          <a:p>
            <a:pPr>
              <a:lnSpc>
                <a:spcPct val="120000"/>
              </a:lnSpc>
              <a:buFont typeface="Wingdings" panose="05000000000000000000" pitchFamily="2" charset="2"/>
              <a:buChar char="v"/>
            </a:pPr>
            <a:r>
              <a:rPr lang="en-US" dirty="0">
                <a:latin typeface="Bahnschrift" panose="020B0502040204020203" pitchFamily="34" charset="0"/>
              </a:rPr>
              <a:t>Client – Client details.</a:t>
            </a:r>
          </a:p>
          <a:p>
            <a:pPr>
              <a:lnSpc>
                <a:spcPct val="120000"/>
              </a:lnSpc>
              <a:buFont typeface="Wingdings" panose="05000000000000000000" pitchFamily="2" charset="2"/>
              <a:buChar char="v"/>
            </a:pPr>
            <a:r>
              <a:rPr lang="en-US" dirty="0" err="1">
                <a:latin typeface="Bahnschrift" panose="020B0502040204020203" pitchFamily="34" charset="0"/>
              </a:rPr>
              <a:t>Disp</a:t>
            </a:r>
            <a:r>
              <a:rPr lang="en-US" dirty="0">
                <a:latin typeface="Bahnschrift" panose="020B0502040204020203" pitchFamily="34" charset="0"/>
              </a:rPr>
              <a:t> (Disposition) –  Who operate the account.</a:t>
            </a:r>
          </a:p>
          <a:p>
            <a:pPr>
              <a:lnSpc>
                <a:spcPct val="120000"/>
              </a:lnSpc>
              <a:buFont typeface="Wingdings" panose="05000000000000000000" pitchFamily="2" charset="2"/>
              <a:buChar char="v"/>
            </a:pPr>
            <a:r>
              <a:rPr lang="en-US" dirty="0">
                <a:latin typeface="Bahnschrift" panose="020B0502040204020203" pitchFamily="34" charset="0"/>
              </a:rPr>
              <a:t>District –  anonymized/coded features about districts/customers.</a:t>
            </a:r>
          </a:p>
          <a:p>
            <a:pPr>
              <a:lnSpc>
                <a:spcPct val="120000"/>
              </a:lnSpc>
              <a:buFont typeface="Wingdings" panose="05000000000000000000" pitchFamily="2" charset="2"/>
              <a:buChar char="v"/>
            </a:pPr>
            <a:r>
              <a:rPr lang="en-US" dirty="0">
                <a:latin typeface="Bahnschrift" panose="020B0502040204020203" pitchFamily="34" charset="0"/>
              </a:rPr>
              <a:t>Loan – Clients and their loan information</a:t>
            </a:r>
          </a:p>
          <a:p>
            <a:pPr>
              <a:lnSpc>
                <a:spcPct val="120000"/>
              </a:lnSpc>
              <a:buFont typeface="Wingdings" panose="05000000000000000000" pitchFamily="2" charset="2"/>
              <a:buChar char="v"/>
            </a:pPr>
            <a:r>
              <a:rPr lang="en-US" dirty="0">
                <a:latin typeface="Bahnschrift" panose="020B0502040204020203" pitchFamily="34" charset="0"/>
              </a:rPr>
              <a:t>Order -  Money Transfer</a:t>
            </a:r>
          </a:p>
          <a:p>
            <a:pPr>
              <a:lnSpc>
                <a:spcPct val="120000"/>
              </a:lnSpc>
              <a:buFont typeface="Wingdings" panose="05000000000000000000" pitchFamily="2" charset="2"/>
              <a:buChar char="v"/>
            </a:pPr>
            <a:r>
              <a:rPr lang="en-US" dirty="0">
                <a:latin typeface="Bahnschrift" panose="020B0502040204020203" pitchFamily="34" charset="0"/>
              </a:rPr>
              <a:t>Trans – All transactions in the account</a:t>
            </a:r>
          </a:p>
          <a:p>
            <a:endParaRPr lang="en-IN" dirty="0"/>
          </a:p>
        </p:txBody>
      </p:sp>
      <p:sp>
        <p:nvSpPr>
          <p:cNvPr id="4" name="Title 2">
            <a:extLst>
              <a:ext uri="{FF2B5EF4-FFF2-40B4-BE49-F238E27FC236}">
                <a16:creationId xmlns:a16="http://schemas.microsoft.com/office/drawing/2014/main" id="{4F8765F6-6A6F-6FB9-F2A3-2AD0D65709B5}"/>
              </a:ext>
            </a:extLst>
          </p:cNvPr>
          <p:cNvSpPr txBox="1">
            <a:spLocks/>
          </p:cNvSpPr>
          <p:nvPr/>
        </p:nvSpPr>
        <p:spPr>
          <a:xfrm>
            <a:off x="0" y="0"/>
            <a:ext cx="12192000" cy="668594"/>
          </a:xfrm>
          <a:prstGeom prst="rect">
            <a:avLst/>
          </a:prstGeom>
          <a:solidFill>
            <a:schemeClr val="accent2"/>
          </a:solidFill>
          <a:ln>
            <a:noFill/>
          </a:ln>
        </p:spPr>
        <p:txBody>
          <a:bodyPr spcFirstLastPara="1" wrap="square" lIns="91425" tIns="91425" rIns="91425" bIns="91425" anchor="b" anchorCtr="0">
            <a:normAutofit fontScale="92500" lnSpcReduction="10000"/>
          </a:bodyPr>
          <a:lstStyle>
            <a:defPPr marR="0" lvl="0" algn="l" rtl="0">
              <a:lnSpc>
                <a:spcPct val="100000"/>
              </a:lnSpc>
              <a:spcBef>
                <a:spcPts val="0"/>
              </a:spcBef>
              <a:spcAft>
                <a:spcPts val="0"/>
              </a:spcAft>
            </a:defPPr>
            <a:lvl1pPr marR="0" lvl="0" algn="ctr" rtl="0" eaLnBrk="1" hangingPunct="1">
              <a:lnSpc>
                <a:spcPct val="100000"/>
              </a:lnSpc>
              <a:spcBef>
                <a:spcPts val="0"/>
              </a:spcBef>
              <a:spcAft>
                <a:spcPts val="0"/>
              </a:spcAft>
              <a:buClr>
                <a:schemeClr val="accent1"/>
              </a:buClr>
              <a:buSzPts val="3600"/>
              <a:buFont typeface="PT Sans Narrow"/>
              <a:buNone/>
              <a:defRPr sz="6000" b="1" i="0" u="none" strike="noStrike" cap="none">
                <a:solidFill>
                  <a:schemeClr val="accent1"/>
                </a:solidFill>
                <a:latin typeface="PT Sans Narrow"/>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3600"/>
              <a:buFont typeface="PT Sans Narrow"/>
              <a:buNone/>
              <a:defRPr sz="3600" b="1" i="0" u="none" strike="noStrike" cap="none">
                <a:solidFill>
                  <a:schemeClr val="accent1"/>
                </a:solidFill>
                <a:latin typeface="PT Sans Narrow"/>
                <a:ea typeface="PT Sans Narrow"/>
                <a:cs typeface="PT Sans Narrow"/>
                <a:sym typeface="PT Sans Narrow"/>
              </a:defRPr>
            </a:lvl9pPr>
          </a:lstStyle>
          <a:p>
            <a:r>
              <a:rPr lang="en-US" sz="3600" b="0" kern="0" dirty="0">
                <a:solidFill>
                  <a:schemeClr val="tx1"/>
                </a:solidFill>
                <a:latin typeface="Arial Black" panose="020B0A04020102020204" pitchFamily="34" charset="0"/>
              </a:rPr>
              <a:t>Table Overview </a:t>
            </a:r>
            <a:endParaRPr lang="en-IN" sz="3600" b="0" kern="0" dirty="0">
              <a:solidFill>
                <a:schemeClr val="tx1"/>
              </a:solidFill>
              <a:latin typeface="Arial Black" panose="020B0A04020102020204" pitchFamily="34" charset="0"/>
            </a:endParaRPr>
          </a:p>
        </p:txBody>
      </p:sp>
    </p:spTree>
    <p:extLst>
      <p:ext uri="{BB962C8B-B14F-4D97-AF65-F5344CB8AC3E}">
        <p14:creationId xmlns:p14="http://schemas.microsoft.com/office/powerpoint/2010/main" val="1619067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C833B104-E8E7-76E8-1A50-99E41DFC122D}"/>
              </a:ext>
            </a:extLst>
          </p:cNvPr>
          <p:cNvSpPr txBox="1">
            <a:spLocks/>
          </p:cNvSpPr>
          <p:nvPr/>
        </p:nvSpPr>
        <p:spPr>
          <a:xfrm>
            <a:off x="0" y="0"/>
            <a:ext cx="12192000" cy="668594"/>
          </a:xfrm>
          <a:prstGeom prst="rect">
            <a:avLst/>
          </a:prstGeom>
          <a:solidFill>
            <a:schemeClr val="accent2"/>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US" sz="3600" b="0" kern="0">
                <a:latin typeface="Arial Black" panose="020B0A04020102020204" pitchFamily="34" charset="0"/>
              </a:rPr>
              <a:t>Table Summaries </a:t>
            </a:r>
            <a:endParaRPr lang="en-IN" sz="3600" b="0" kern="0" dirty="0">
              <a:latin typeface="Arial Black" panose="020B0A04020102020204" pitchFamily="34" charset="0"/>
            </a:endParaRPr>
          </a:p>
        </p:txBody>
      </p:sp>
      <p:graphicFrame>
        <p:nvGraphicFramePr>
          <p:cNvPr id="5" name="Table 4">
            <a:extLst>
              <a:ext uri="{FF2B5EF4-FFF2-40B4-BE49-F238E27FC236}">
                <a16:creationId xmlns:a16="http://schemas.microsoft.com/office/drawing/2014/main" id="{68FE09EC-A177-C9D7-B1B0-6FBEEBD2E253}"/>
              </a:ext>
            </a:extLst>
          </p:cNvPr>
          <p:cNvGraphicFramePr>
            <a:graphicFrameLocks noGrp="1"/>
          </p:cNvGraphicFramePr>
          <p:nvPr>
            <p:extLst>
              <p:ext uri="{D42A27DB-BD31-4B8C-83A1-F6EECF244321}">
                <p14:modId xmlns:p14="http://schemas.microsoft.com/office/powerpoint/2010/main" val="2547389041"/>
              </p:ext>
            </p:extLst>
          </p:nvPr>
        </p:nvGraphicFramePr>
        <p:xfrm>
          <a:off x="193367" y="876982"/>
          <a:ext cx="11782323" cy="5258347"/>
        </p:xfrm>
        <a:graphic>
          <a:graphicData uri="http://schemas.openxmlformats.org/drawingml/2006/table">
            <a:tbl>
              <a:tblPr firstRow="1" bandRow="1">
                <a:tableStyleId>{93296810-A885-4BE3-A3E7-6D5BEEA58F35}</a:tableStyleId>
              </a:tblPr>
              <a:tblGrid>
                <a:gridCol w="3139768">
                  <a:extLst>
                    <a:ext uri="{9D8B030D-6E8A-4147-A177-3AD203B41FA5}">
                      <a16:colId xmlns:a16="http://schemas.microsoft.com/office/drawing/2014/main" val="3048807718"/>
                    </a:ext>
                  </a:extLst>
                </a:gridCol>
                <a:gridCol w="5397910">
                  <a:extLst>
                    <a:ext uri="{9D8B030D-6E8A-4147-A177-3AD203B41FA5}">
                      <a16:colId xmlns:a16="http://schemas.microsoft.com/office/drawing/2014/main" val="3600727286"/>
                    </a:ext>
                  </a:extLst>
                </a:gridCol>
                <a:gridCol w="3244645">
                  <a:extLst>
                    <a:ext uri="{9D8B030D-6E8A-4147-A177-3AD203B41FA5}">
                      <a16:colId xmlns:a16="http://schemas.microsoft.com/office/drawing/2014/main" val="1598491843"/>
                    </a:ext>
                  </a:extLst>
                </a:gridCol>
              </a:tblGrid>
              <a:tr h="593505">
                <a:tc>
                  <a:txBody>
                    <a:bodyPr/>
                    <a:lstStyle/>
                    <a:p>
                      <a:pPr algn="ctr"/>
                      <a:r>
                        <a:rPr lang="en-US" sz="2000" dirty="0"/>
                        <a:t>Tables </a:t>
                      </a:r>
                      <a:endParaRPr lang="en-IN" sz="2000" dirty="0"/>
                    </a:p>
                  </a:txBody>
                  <a:tcPr/>
                </a:tc>
                <a:tc>
                  <a:txBody>
                    <a:bodyPr/>
                    <a:lstStyle/>
                    <a:p>
                      <a:pPr algn="ctr"/>
                      <a:r>
                        <a:rPr lang="en-US" sz="2000" dirty="0"/>
                        <a:t>Details</a:t>
                      </a:r>
                      <a:endParaRPr lang="en-IN" sz="2000" dirty="0"/>
                    </a:p>
                  </a:txBody>
                  <a:tcPr/>
                </a:tc>
                <a:tc>
                  <a:txBody>
                    <a:bodyPr/>
                    <a:lstStyle/>
                    <a:p>
                      <a:pPr algn="ctr"/>
                      <a:r>
                        <a:rPr lang="en-US" sz="2000" dirty="0"/>
                        <a:t>Rows/Columns</a:t>
                      </a:r>
                      <a:endParaRPr lang="en-IN" sz="2000" dirty="0"/>
                    </a:p>
                  </a:txBody>
                  <a:tcPr/>
                </a:tc>
                <a:extLst>
                  <a:ext uri="{0D108BD9-81ED-4DB2-BD59-A6C34878D82A}">
                    <a16:rowId xmlns:a16="http://schemas.microsoft.com/office/drawing/2014/main" val="1537792066"/>
                  </a:ext>
                </a:extLst>
              </a:tr>
              <a:tr h="1237611">
                <a:tc>
                  <a:txBody>
                    <a:bodyPr/>
                    <a:lstStyle/>
                    <a:p>
                      <a:pPr algn="l"/>
                      <a:r>
                        <a:rPr lang="en-US" dirty="0"/>
                        <a:t>Account </a:t>
                      </a:r>
                      <a:endParaRPr lang="en-IN" dirty="0"/>
                    </a:p>
                  </a:txBody>
                  <a:tcPr/>
                </a:tc>
                <a:tc>
                  <a:txBody>
                    <a:bodyPr/>
                    <a:lstStyle/>
                    <a:p>
                      <a:r>
                        <a:rPr lang="en-IN" sz="1800" dirty="0" err="1"/>
                        <a:t>account_id</a:t>
                      </a:r>
                      <a:r>
                        <a:rPr lang="en-IN" sz="1800" dirty="0"/>
                        <a:t> – </a:t>
                      </a:r>
                      <a:r>
                        <a:rPr lang="en-IN" sz="1800" dirty="0" err="1"/>
                        <a:t>smallint</a:t>
                      </a:r>
                      <a:endParaRPr lang="en-IN" sz="1800" dirty="0"/>
                    </a:p>
                    <a:p>
                      <a:r>
                        <a:rPr lang="en-IN" sz="1800" dirty="0" err="1"/>
                        <a:t>District_id</a:t>
                      </a:r>
                      <a:r>
                        <a:rPr lang="en-IN" sz="1800" dirty="0"/>
                        <a:t> – </a:t>
                      </a:r>
                      <a:r>
                        <a:rPr lang="en-IN" sz="1800" dirty="0" err="1"/>
                        <a:t>tinyint</a:t>
                      </a:r>
                      <a:endParaRPr lang="en-IN" sz="1800" dirty="0"/>
                    </a:p>
                    <a:p>
                      <a:r>
                        <a:rPr lang="en-IN" sz="1800" dirty="0"/>
                        <a:t>Frequency – </a:t>
                      </a:r>
                      <a:r>
                        <a:rPr lang="en-IN" sz="1800" dirty="0" err="1"/>
                        <a:t>nvarchar</a:t>
                      </a:r>
                      <a:r>
                        <a:rPr lang="en-IN" sz="1800" dirty="0"/>
                        <a:t>(50)</a:t>
                      </a:r>
                    </a:p>
                    <a:p>
                      <a:r>
                        <a:rPr lang="en-IN" sz="1800" dirty="0"/>
                        <a:t>Date – date </a:t>
                      </a:r>
                    </a:p>
                  </a:txBody>
                  <a:tcPr/>
                </a:tc>
                <a:tc>
                  <a:txBody>
                    <a:bodyPr/>
                    <a:lstStyle/>
                    <a:p>
                      <a:r>
                        <a:rPr lang="en-US" dirty="0"/>
                        <a:t>4 Columns ,4500 rows </a:t>
                      </a:r>
                      <a:endParaRPr lang="en-IN" dirty="0"/>
                    </a:p>
                  </a:txBody>
                  <a:tcPr/>
                </a:tc>
                <a:extLst>
                  <a:ext uri="{0D108BD9-81ED-4DB2-BD59-A6C34878D82A}">
                    <a16:rowId xmlns:a16="http://schemas.microsoft.com/office/drawing/2014/main" val="1175657020"/>
                  </a:ext>
                </a:extLst>
              </a:tr>
              <a:tr h="1237611">
                <a:tc>
                  <a:txBody>
                    <a:bodyPr/>
                    <a:lstStyle/>
                    <a:p>
                      <a:r>
                        <a:rPr lang="en-US" dirty="0"/>
                        <a:t>Card </a:t>
                      </a:r>
                      <a:endParaRPr lang="en-IN" dirty="0"/>
                    </a:p>
                  </a:txBody>
                  <a:tcPr/>
                </a:tc>
                <a:tc>
                  <a:txBody>
                    <a:bodyPr/>
                    <a:lstStyle/>
                    <a:p>
                      <a:r>
                        <a:rPr lang="en-US" sz="1800" dirty="0" err="1"/>
                        <a:t>Card_id</a:t>
                      </a:r>
                      <a:r>
                        <a:rPr lang="en-US" sz="1800" dirty="0"/>
                        <a:t> – </a:t>
                      </a:r>
                      <a:r>
                        <a:rPr lang="en-US" sz="1800" dirty="0" err="1"/>
                        <a:t>smallint</a:t>
                      </a:r>
                      <a:endParaRPr lang="en-US" sz="1800" dirty="0"/>
                    </a:p>
                    <a:p>
                      <a:r>
                        <a:rPr lang="en-US" sz="1800" dirty="0" err="1"/>
                        <a:t>Disp_id</a:t>
                      </a:r>
                      <a:r>
                        <a:rPr lang="en-US" sz="1800" dirty="0"/>
                        <a:t> – </a:t>
                      </a:r>
                      <a:r>
                        <a:rPr lang="en-US" sz="1800" dirty="0" err="1"/>
                        <a:t>smallint</a:t>
                      </a:r>
                      <a:endParaRPr lang="en-US" sz="1800" dirty="0"/>
                    </a:p>
                    <a:p>
                      <a:r>
                        <a:rPr lang="en-US" sz="1800" dirty="0"/>
                        <a:t>Type – </a:t>
                      </a:r>
                      <a:r>
                        <a:rPr lang="en-US" sz="1800" dirty="0" err="1"/>
                        <a:t>nvarchar</a:t>
                      </a:r>
                      <a:r>
                        <a:rPr lang="en-US" sz="1800" dirty="0"/>
                        <a:t>(50)</a:t>
                      </a:r>
                    </a:p>
                    <a:p>
                      <a:r>
                        <a:rPr lang="en-US" sz="1800" dirty="0"/>
                        <a:t>Issued – </a:t>
                      </a:r>
                      <a:r>
                        <a:rPr lang="en-US" sz="1800" dirty="0" err="1"/>
                        <a:t>nvarchar</a:t>
                      </a:r>
                      <a:r>
                        <a:rPr lang="en-US" sz="1800" dirty="0"/>
                        <a:t>(50)</a:t>
                      </a:r>
                      <a:endParaRPr lang="en-IN" sz="1800" dirty="0"/>
                    </a:p>
                  </a:txBody>
                  <a:tcPr/>
                </a:tc>
                <a:tc>
                  <a:txBody>
                    <a:bodyPr/>
                    <a:lstStyle/>
                    <a:p>
                      <a:r>
                        <a:rPr lang="en-US" dirty="0"/>
                        <a:t>4 Columns , 892 Rows </a:t>
                      </a:r>
                      <a:endParaRPr lang="en-IN" dirty="0"/>
                    </a:p>
                  </a:txBody>
                  <a:tcPr/>
                </a:tc>
                <a:extLst>
                  <a:ext uri="{0D108BD9-81ED-4DB2-BD59-A6C34878D82A}">
                    <a16:rowId xmlns:a16="http://schemas.microsoft.com/office/drawing/2014/main" val="2802274677"/>
                  </a:ext>
                </a:extLst>
              </a:tr>
              <a:tr h="952009">
                <a:tc>
                  <a:txBody>
                    <a:bodyPr/>
                    <a:lstStyle/>
                    <a:p>
                      <a:r>
                        <a:rPr lang="en-US" dirty="0"/>
                        <a:t>Client </a:t>
                      </a:r>
                      <a:endParaRPr lang="en-IN" dirty="0"/>
                    </a:p>
                  </a:txBody>
                  <a:tcPr/>
                </a:tc>
                <a:tc>
                  <a:txBody>
                    <a:bodyPr/>
                    <a:lstStyle/>
                    <a:p>
                      <a:r>
                        <a:rPr lang="en-US" sz="1800" dirty="0" err="1"/>
                        <a:t>Client_id</a:t>
                      </a:r>
                      <a:r>
                        <a:rPr lang="en-US" sz="1800" dirty="0"/>
                        <a:t> – </a:t>
                      </a:r>
                      <a:r>
                        <a:rPr lang="en-US" sz="1800" dirty="0" err="1"/>
                        <a:t>smallint</a:t>
                      </a:r>
                      <a:endParaRPr lang="en-US" sz="1800" dirty="0"/>
                    </a:p>
                    <a:p>
                      <a:r>
                        <a:rPr lang="en-US" sz="1800" dirty="0" err="1"/>
                        <a:t>Birth_number</a:t>
                      </a:r>
                      <a:r>
                        <a:rPr lang="en-US" sz="1800" dirty="0"/>
                        <a:t> – int</a:t>
                      </a:r>
                    </a:p>
                    <a:p>
                      <a:r>
                        <a:rPr lang="en-US" sz="1800" dirty="0" err="1"/>
                        <a:t>District_id</a:t>
                      </a:r>
                      <a:r>
                        <a:rPr lang="en-US" sz="1800" dirty="0"/>
                        <a:t> - </a:t>
                      </a:r>
                      <a:r>
                        <a:rPr lang="en-US" sz="1800" dirty="0" err="1"/>
                        <a:t>Tinyint</a:t>
                      </a:r>
                      <a:endParaRPr lang="en-IN" sz="1800" dirty="0"/>
                    </a:p>
                  </a:txBody>
                  <a:tcPr/>
                </a:tc>
                <a:tc>
                  <a:txBody>
                    <a:bodyPr/>
                    <a:lstStyle/>
                    <a:p>
                      <a:r>
                        <a:rPr lang="en-US" dirty="0"/>
                        <a:t>3 Columns , 5,369 Rows </a:t>
                      </a:r>
                      <a:endParaRPr lang="en-IN" dirty="0"/>
                    </a:p>
                  </a:txBody>
                  <a:tcPr/>
                </a:tc>
                <a:extLst>
                  <a:ext uri="{0D108BD9-81ED-4DB2-BD59-A6C34878D82A}">
                    <a16:rowId xmlns:a16="http://schemas.microsoft.com/office/drawing/2014/main" val="1852340120"/>
                  </a:ext>
                </a:extLst>
              </a:tr>
              <a:tr h="1237611">
                <a:tc>
                  <a:txBody>
                    <a:bodyPr/>
                    <a:lstStyle/>
                    <a:p>
                      <a:r>
                        <a:rPr lang="en-US" dirty="0" err="1"/>
                        <a:t>Disp</a:t>
                      </a:r>
                      <a:endParaRPr lang="en-IN" dirty="0"/>
                    </a:p>
                  </a:txBody>
                  <a:tcPr/>
                </a:tc>
                <a:tc>
                  <a:txBody>
                    <a:bodyPr/>
                    <a:lstStyle/>
                    <a:p>
                      <a:r>
                        <a:rPr lang="en-US" sz="1800" dirty="0" err="1"/>
                        <a:t>Disp_id</a:t>
                      </a:r>
                      <a:r>
                        <a:rPr lang="en-US" sz="1800" dirty="0"/>
                        <a:t> – </a:t>
                      </a:r>
                      <a:r>
                        <a:rPr lang="en-US" sz="1800" dirty="0" err="1"/>
                        <a:t>smallint</a:t>
                      </a:r>
                      <a:endParaRPr lang="en-US" sz="1800" dirty="0"/>
                    </a:p>
                    <a:p>
                      <a:r>
                        <a:rPr lang="en-US" sz="1800" dirty="0" err="1"/>
                        <a:t>Client_id</a:t>
                      </a:r>
                      <a:r>
                        <a:rPr lang="en-US" sz="1800" dirty="0"/>
                        <a:t> – </a:t>
                      </a:r>
                      <a:r>
                        <a:rPr lang="en-US" sz="1800" dirty="0" err="1"/>
                        <a:t>smallint</a:t>
                      </a:r>
                      <a:endParaRPr lang="en-US" sz="1800" dirty="0"/>
                    </a:p>
                    <a:p>
                      <a:r>
                        <a:rPr lang="en-US" sz="1800" dirty="0" err="1"/>
                        <a:t>Account_id</a:t>
                      </a:r>
                      <a:r>
                        <a:rPr lang="en-US" sz="1800" dirty="0"/>
                        <a:t> – </a:t>
                      </a:r>
                      <a:r>
                        <a:rPr lang="en-US" sz="1800" dirty="0" err="1"/>
                        <a:t>smallint</a:t>
                      </a:r>
                      <a:endParaRPr lang="en-US" sz="1800" dirty="0"/>
                    </a:p>
                    <a:p>
                      <a:r>
                        <a:rPr lang="en-US" sz="1800" dirty="0"/>
                        <a:t>Type – </a:t>
                      </a:r>
                      <a:r>
                        <a:rPr lang="en-US" sz="1800" dirty="0" err="1"/>
                        <a:t>nvarchar</a:t>
                      </a:r>
                      <a:r>
                        <a:rPr lang="en-US" sz="1800" dirty="0"/>
                        <a:t>(50)</a:t>
                      </a:r>
                      <a:endParaRPr lang="en-IN" sz="18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4 Columns , 5,369 Rows </a:t>
                      </a:r>
                      <a:endParaRPr lang="en-IN" dirty="0"/>
                    </a:p>
                    <a:p>
                      <a:endParaRPr lang="en-IN" dirty="0"/>
                    </a:p>
                  </a:txBody>
                  <a:tcPr/>
                </a:tc>
                <a:extLst>
                  <a:ext uri="{0D108BD9-81ED-4DB2-BD59-A6C34878D82A}">
                    <a16:rowId xmlns:a16="http://schemas.microsoft.com/office/drawing/2014/main" val="3403981776"/>
                  </a:ext>
                </a:extLst>
              </a:tr>
            </a:tbl>
          </a:graphicData>
        </a:graphic>
      </p:graphicFrame>
    </p:spTree>
    <p:extLst>
      <p:ext uri="{BB962C8B-B14F-4D97-AF65-F5344CB8AC3E}">
        <p14:creationId xmlns:p14="http://schemas.microsoft.com/office/powerpoint/2010/main" val="1492811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290D9DB2-4822-C867-ECC3-50870E8DEBF6}"/>
              </a:ext>
            </a:extLst>
          </p:cNvPr>
          <p:cNvSpPr txBox="1">
            <a:spLocks/>
          </p:cNvSpPr>
          <p:nvPr/>
        </p:nvSpPr>
        <p:spPr>
          <a:xfrm>
            <a:off x="0" y="0"/>
            <a:ext cx="12192000" cy="668594"/>
          </a:xfrm>
          <a:prstGeom prst="rect">
            <a:avLst/>
          </a:prstGeom>
          <a:solidFill>
            <a:schemeClr val="accent2"/>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US" sz="3600" b="0" kern="0">
                <a:latin typeface="Arial Black" panose="020B0A04020102020204" pitchFamily="34" charset="0"/>
              </a:rPr>
              <a:t>Table Summaries </a:t>
            </a:r>
            <a:endParaRPr lang="en-IN" sz="3600" b="0" kern="0" dirty="0">
              <a:latin typeface="Arial Black" panose="020B0A04020102020204" pitchFamily="34" charset="0"/>
            </a:endParaRPr>
          </a:p>
        </p:txBody>
      </p:sp>
      <p:graphicFrame>
        <p:nvGraphicFramePr>
          <p:cNvPr id="5" name="Table 4">
            <a:extLst>
              <a:ext uri="{FF2B5EF4-FFF2-40B4-BE49-F238E27FC236}">
                <a16:creationId xmlns:a16="http://schemas.microsoft.com/office/drawing/2014/main" id="{2A98BDC5-30D0-D253-7491-27037F9884ED}"/>
              </a:ext>
            </a:extLst>
          </p:cNvPr>
          <p:cNvGraphicFramePr>
            <a:graphicFrameLocks noGrp="1"/>
          </p:cNvGraphicFramePr>
          <p:nvPr>
            <p:extLst>
              <p:ext uri="{D42A27DB-BD31-4B8C-83A1-F6EECF244321}">
                <p14:modId xmlns:p14="http://schemas.microsoft.com/office/powerpoint/2010/main" val="2598675944"/>
              </p:ext>
            </p:extLst>
          </p:nvPr>
        </p:nvGraphicFramePr>
        <p:xfrm>
          <a:off x="39330" y="906228"/>
          <a:ext cx="12113341" cy="5267468"/>
        </p:xfrm>
        <a:graphic>
          <a:graphicData uri="http://schemas.openxmlformats.org/drawingml/2006/table">
            <a:tbl>
              <a:tblPr firstRow="1" bandRow="1">
                <a:tableStyleId>{93296810-A885-4BE3-A3E7-6D5BEEA58F35}</a:tableStyleId>
              </a:tblPr>
              <a:tblGrid>
                <a:gridCol w="3038167">
                  <a:extLst>
                    <a:ext uri="{9D8B030D-6E8A-4147-A177-3AD203B41FA5}">
                      <a16:colId xmlns:a16="http://schemas.microsoft.com/office/drawing/2014/main" val="3048807718"/>
                    </a:ext>
                  </a:extLst>
                </a:gridCol>
                <a:gridCol w="6879948">
                  <a:extLst>
                    <a:ext uri="{9D8B030D-6E8A-4147-A177-3AD203B41FA5}">
                      <a16:colId xmlns:a16="http://schemas.microsoft.com/office/drawing/2014/main" val="3600727286"/>
                    </a:ext>
                  </a:extLst>
                </a:gridCol>
                <a:gridCol w="2195226">
                  <a:extLst>
                    <a:ext uri="{9D8B030D-6E8A-4147-A177-3AD203B41FA5}">
                      <a16:colId xmlns:a16="http://schemas.microsoft.com/office/drawing/2014/main" val="1598491843"/>
                    </a:ext>
                  </a:extLst>
                </a:gridCol>
              </a:tblGrid>
              <a:tr h="526638">
                <a:tc>
                  <a:txBody>
                    <a:bodyPr/>
                    <a:lstStyle/>
                    <a:p>
                      <a:pPr algn="ctr"/>
                      <a:r>
                        <a:rPr lang="en-US" sz="2000" dirty="0"/>
                        <a:t>Tables </a:t>
                      </a:r>
                      <a:endParaRPr lang="en-IN" sz="2000" dirty="0"/>
                    </a:p>
                  </a:txBody>
                  <a:tcPr/>
                </a:tc>
                <a:tc>
                  <a:txBody>
                    <a:bodyPr/>
                    <a:lstStyle/>
                    <a:p>
                      <a:pPr algn="ctr"/>
                      <a:r>
                        <a:rPr lang="en-US" sz="2000" dirty="0"/>
                        <a:t>Details</a:t>
                      </a:r>
                      <a:endParaRPr lang="en-IN" sz="2000" dirty="0"/>
                    </a:p>
                  </a:txBody>
                  <a:tcPr/>
                </a:tc>
                <a:tc>
                  <a:txBody>
                    <a:bodyPr/>
                    <a:lstStyle/>
                    <a:p>
                      <a:pPr algn="ctr"/>
                      <a:r>
                        <a:rPr lang="en-US" sz="2000" dirty="0"/>
                        <a:t>Rows/Columns</a:t>
                      </a:r>
                      <a:endParaRPr lang="en-IN" sz="2000" dirty="0"/>
                    </a:p>
                  </a:txBody>
                  <a:tcPr/>
                </a:tc>
                <a:extLst>
                  <a:ext uri="{0D108BD9-81ED-4DB2-BD59-A6C34878D82A}">
                    <a16:rowId xmlns:a16="http://schemas.microsoft.com/office/drawing/2014/main" val="1537792066"/>
                  </a:ext>
                </a:extLst>
              </a:tr>
              <a:tr h="1455288">
                <a:tc>
                  <a:txBody>
                    <a:bodyPr/>
                    <a:lstStyle/>
                    <a:p>
                      <a:pPr algn="l"/>
                      <a:r>
                        <a:rPr lang="en-US" dirty="0"/>
                        <a:t>Districts </a:t>
                      </a:r>
                      <a:endParaRPr lang="en-IN" dirty="0"/>
                    </a:p>
                  </a:txBody>
                  <a:tcPr/>
                </a:tc>
                <a:tc>
                  <a:txBody>
                    <a:bodyPr/>
                    <a:lstStyle/>
                    <a:p>
                      <a:r>
                        <a:rPr lang="en-US" sz="1800" dirty="0"/>
                        <a:t>A1 –</a:t>
                      </a:r>
                      <a:r>
                        <a:rPr lang="en-US" sz="1800" dirty="0" err="1"/>
                        <a:t>Tinyint</a:t>
                      </a:r>
                      <a:r>
                        <a:rPr lang="en-US" sz="1800" dirty="0"/>
                        <a:t> ,A2 – </a:t>
                      </a:r>
                      <a:r>
                        <a:rPr lang="en-US" sz="1800" dirty="0" err="1"/>
                        <a:t>nvarchar</a:t>
                      </a:r>
                      <a:r>
                        <a:rPr lang="en-US" sz="1800" dirty="0"/>
                        <a:t>(50),A3 – </a:t>
                      </a:r>
                      <a:r>
                        <a:rPr lang="en-US" sz="1800" dirty="0" err="1"/>
                        <a:t>nvarchar</a:t>
                      </a:r>
                      <a:r>
                        <a:rPr lang="en-US" sz="1800" dirty="0"/>
                        <a:t>(50),A4 – int , A5 – </a:t>
                      </a:r>
                      <a:r>
                        <a:rPr lang="en-US" sz="1800" dirty="0" err="1"/>
                        <a:t>tinyint</a:t>
                      </a:r>
                      <a:r>
                        <a:rPr lang="en-US" sz="1800" dirty="0"/>
                        <a:t> ,A6 -  </a:t>
                      </a:r>
                      <a:r>
                        <a:rPr lang="en-US" sz="1800" dirty="0" err="1"/>
                        <a:t>tinyint</a:t>
                      </a:r>
                      <a:r>
                        <a:rPr lang="en-US" sz="1800" dirty="0"/>
                        <a:t>, A7 – </a:t>
                      </a:r>
                      <a:r>
                        <a:rPr lang="en-US" sz="1800" dirty="0" err="1"/>
                        <a:t>tinyint</a:t>
                      </a:r>
                      <a:r>
                        <a:rPr lang="en-US" sz="1800" dirty="0"/>
                        <a:t> , A8 – </a:t>
                      </a:r>
                      <a:r>
                        <a:rPr lang="en-US" sz="1800" dirty="0" err="1"/>
                        <a:t>tinyint</a:t>
                      </a:r>
                      <a:r>
                        <a:rPr lang="en-US" sz="1800" dirty="0"/>
                        <a:t>, A9 – tinyint,A10 – float,A11 – smallint,A12 – </a:t>
                      </a:r>
                      <a:r>
                        <a:rPr lang="en-US" sz="1800" dirty="0" err="1"/>
                        <a:t>nvarchar</a:t>
                      </a:r>
                      <a:r>
                        <a:rPr lang="en-US" sz="1800" dirty="0"/>
                        <a:t>(50),A13 – float,A14 – </a:t>
                      </a:r>
                      <a:r>
                        <a:rPr lang="en-US" sz="1800" dirty="0" err="1"/>
                        <a:t>tinyint</a:t>
                      </a:r>
                      <a:r>
                        <a:rPr lang="en-US" sz="1800" dirty="0"/>
                        <a:t>, A15 – </a:t>
                      </a:r>
                      <a:r>
                        <a:rPr lang="en-US" sz="1800" dirty="0" err="1"/>
                        <a:t>nvarchar</a:t>
                      </a:r>
                      <a:r>
                        <a:rPr lang="en-US" sz="1800" dirty="0"/>
                        <a:t>(50),A16-int</a:t>
                      </a:r>
                      <a:endParaRPr lang="en-IN" sz="1800" dirty="0"/>
                    </a:p>
                  </a:txBody>
                  <a:tcPr/>
                </a:tc>
                <a:tc>
                  <a:txBody>
                    <a:bodyPr/>
                    <a:lstStyle/>
                    <a:p>
                      <a:r>
                        <a:rPr lang="en-US" dirty="0"/>
                        <a:t>16 Columns ,77 rows </a:t>
                      </a:r>
                      <a:endParaRPr lang="en-IN" dirty="0"/>
                    </a:p>
                  </a:txBody>
                  <a:tcPr/>
                </a:tc>
                <a:extLst>
                  <a:ext uri="{0D108BD9-81ED-4DB2-BD59-A6C34878D82A}">
                    <a16:rowId xmlns:a16="http://schemas.microsoft.com/office/drawing/2014/main" val="1175657020"/>
                  </a:ext>
                </a:extLst>
              </a:tr>
              <a:tr h="1182422">
                <a:tc>
                  <a:txBody>
                    <a:bodyPr/>
                    <a:lstStyle/>
                    <a:p>
                      <a:r>
                        <a:rPr lang="en-US" dirty="0"/>
                        <a:t>Loan </a:t>
                      </a:r>
                      <a:endParaRPr lang="en-IN" dirty="0"/>
                    </a:p>
                  </a:txBody>
                  <a:tcPr/>
                </a:tc>
                <a:tc>
                  <a:txBody>
                    <a:bodyPr/>
                    <a:lstStyle/>
                    <a:p>
                      <a:r>
                        <a:rPr lang="en-US" sz="1800" dirty="0" err="1"/>
                        <a:t>loan_id</a:t>
                      </a:r>
                      <a:r>
                        <a:rPr lang="en-US" sz="1800" dirty="0"/>
                        <a:t> – </a:t>
                      </a:r>
                      <a:r>
                        <a:rPr lang="en-US" sz="1800" dirty="0" err="1"/>
                        <a:t>smallint</a:t>
                      </a:r>
                      <a:endParaRPr lang="en-US" sz="1800" dirty="0"/>
                    </a:p>
                    <a:p>
                      <a:r>
                        <a:rPr lang="en-US" sz="1800" dirty="0" err="1"/>
                        <a:t>account_id</a:t>
                      </a:r>
                      <a:r>
                        <a:rPr lang="en-US" sz="1800" dirty="0"/>
                        <a:t> – </a:t>
                      </a:r>
                      <a:r>
                        <a:rPr lang="en-US" sz="1800" dirty="0" err="1"/>
                        <a:t>smallint</a:t>
                      </a:r>
                      <a:endParaRPr lang="en-US" sz="1800" dirty="0"/>
                    </a:p>
                    <a:p>
                      <a:r>
                        <a:rPr lang="en-US" sz="1800" dirty="0"/>
                        <a:t>Date – </a:t>
                      </a:r>
                      <a:r>
                        <a:rPr lang="en-US" sz="1800" dirty="0" err="1"/>
                        <a:t>Date,Amount</a:t>
                      </a:r>
                      <a:r>
                        <a:rPr lang="en-US" sz="1800" dirty="0"/>
                        <a:t> – </a:t>
                      </a:r>
                      <a:r>
                        <a:rPr lang="en-US" sz="1800" dirty="0" err="1"/>
                        <a:t>Int,Duration</a:t>
                      </a:r>
                      <a:r>
                        <a:rPr lang="en-US" sz="1800" dirty="0"/>
                        <a:t> – </a:t>
                      </a:r>
                      <a:r>
                        <a:rPr lang="en-US" sz="1800" dirty="0" err="1"/>
                        <a:t>Tinyint</a:t>
                      </a:r>
                      <a:r>
                        <a:rPr lang="en-US" sz="1800" dirty="0"/>
                        <a:t> , payments – </a:t>
                      </a:r>
                      <a:r>
                        <a:rPr lang="en-US" sz="1800" dirty="0" err="1"/>
                        <a:t>float,status</a:t>
                      </a:r>
                      <a:r>
                        <a:rPr lang="en-US" sz="1800" dirty="0"/>
                        <a:t> – </a:t>
                      </a:r>
                      <a:r>
                        <a:rPr lang="en-US" sz="1800" dirty="0" err="1"/>
                        <a:t>nvarchar</a:t>
                      </a:r>
                      <a:r>
                        <a:rPr lang="en-US" sz="1800" dirty="0"/>
                        <a:t>(50)</a:t>
                      </a:r>
                    </a:p>
                  </a:txBody>
                  <a:tcPr/>
                </a:tc>
                <a:tc>
                  <a:txBody>
                    <a:bodyPr/>
                    <a:lstStyle/>
                    <a:p>
                      <a:r>
                        <a:rPr lang="en-US" dirty="0"/>
                        <a:t>7 Columns , 682 Rows </a:t>
                      </a:r>
                      <a:endParaRPr lang="en-IN" dirty="0"/>
                    </a:p>
                  </a:txBody>
                  <a:tcPr/>
                </a:tc>
                <a:extLst>
                  <a:ext uri="{0D108BD9-81ED-4DB2-BD59-A6C34878D82A}">
                    <a16:rowId xmlns:a16="http://schemas.microsoft.com/office/drawing/2014/main" val="2802274677"/>
                  </a:ext>
                </a:extLst>
              </a:tr>
              <a:tr h="909555">
                <a:tc>
                  <a:txBody>
                    <a:bodyPr/>
                    <a:lstStyle/>
                    <a:p>
                      <a:r>
                        <a:rPr lang="en-US" dirty="0"/>
                        <a:t>Order</a:t>
                      </a:r>
                      <a:endParaRPr lang="en-IN" dirty="0"/>
                    </a:p>
                  </a:txBody>
                  <a:tcPr/>
                </a:tc>
                <a:tc>
                  <a:txBody>
                    <a:bodyPr/>
                    <a:lstStyle/>
                    <a:p>
                      <a:r>
                        <a:rPr lang="en-US" sz="1800" dirty="0" err="1"/>
                        <a:t>Order_id</a:t>
                      </a:r>
                      <a:r>
                        <a:rPr lang="en-US" sz="1800" dirty="0"/>
                        <a:t> –</a:t>
                      </a:r>
                      <a:r>
                        <a:rPr lang="en-US" sz="1800" dirty="0" err="1"/>
                        <a:t>int,Account_id</a:t>
                      </a:r>
                      <a:r>
                        <a:rPr lang="en-US" sz="1800" dirty="0"/>
                        <a:t> – </a:t>
                      </a:r>
                      <a:r>
                        <a:rPr lang="en-US" sz="1800" dirty="0" err="1"/>
                        <a:t>smallint</a:t>
                      </a:r>
                      <a:endParaRPr lang="en-US" sz="1800" dirty="0"/>
                    </a:p>
                    <a:p>
                      <a:r>
                        <a:rPr lang="en-US" sz="1800" dirty="0"/>
                        <a:t>,</a:t>
                      </a:r>
                      <a:r>
                        <a:rPr lang="en-US" sz="1800" dirty="0" err="1"/>
                        <a:t>bank_to</a:t>
                      </a:r>
                      <a:r>
                        <a:rPr lang="en-US" sz="1800" dirty="0"/>
                        <a:t> – </a:t>
                      </a:r>
                      <a:r>
                        <a:rPr lang="en-US" sz="1800" dirty="0" err="1"/>
                        <a:t>nvarchar</a:t>
                      </a:r>
                      <a:r>
                        <a:rPr lang="en-US" sz="1800" dirty="0"/>
                        <a:t>(50),</a:t>
                      </a:r>
                      <a:r>
                        <a:rPr lang="en-US" sz="1800" dirty="0" err="1"/>
                        <a:t>account_to</a:t>
                      </a:r>
                      <a:r>
                        <a:rPr lang="en-US" sz="1800" dirty="0"/>
                        <a:t> – int, amount- </a:t>
                      </a:r>
                      <a:r>
                        <a:rPr lang="en-US" sz="1800" dirty="0" err="1"/>
                        <a:t>float,k_symbols</a:t>
                      </a:r>
                      <a:r>
                        <a:rPr lang="en-US" sz="1800" dirty="0"/>
                        <a:t> – </a:t>
                      </a:r>
                      <a:r>
                        <a:rPr lang="en-US" sz="1800" dirty="0" err="1"/>
                        <a:t>nvarchar</a:t>
                      </a:r>
                      <a:r>
                        <a:rPr lang="en-US" sz="1800" dirty="0"/>
                        <a:t>(50)</a:t>
                      </a:r>
                    </a:p>
                  </a:txBody>
                  <a:tcPr/>
                </a:tc>
                <a:tc>
                  <a:txBody>
                    <a:bodyPr/>
                    <a:lstStyle/>
                    <a:p>
                      <a:r>
                        <a:rPr lang="en-US" dirty="0"/>
                        <a:t>6 Columns , 6,471Rows </a:t>
                      </a:r>
                      <a:endParaRPr lang="en-IN" dirty="0"/>
                    </a:p>
                  </a:txBody>
                  <a:tcPr/>
                </a:tc>
                <a:extLst>
                  <a:ext uri="{0D108BD9-81ED-4DB2-BD59-A6C34878D82A}">
                    <a16:rowId xmlns:a16="http://schemas.microsoft.com/office/drawing/2014/main" val="1852340120"/>
                  </a:ext>
                </a:extLst>
              </a:tr>
              <a:tr h="1182422">
                <a:tc>
                  <a:txBody>
                    <a:bodyPr/>
                    <a:lstStyle/>
                    <a:p>
                      <a:r>
                        <a:rPr lang="en-US" dirty="0"/>
                        <a:t>Trans</a:t>
                      </a:r>
                      <a:endParaRPr lang="en-IN" dirty="0"/>
                    </a:p>
                  </a:txBody>
                  <a:tcPr/>
                </a:tc>
                <a:tc>
                  <a:txBody>
                    <a:bodyPr/>
                    <a:lstStyle/>
                    <a:p>
                      <a:r>
                        <a:rPr lang="en-US" sz="1800" dirty="0" err="1"/>
                        <a:t>trans_id</a:t>
                      </a:r>
                      <a:r>
                        <a:rPr lang="en-US" sz="1800" dirty="0"/>
                        <a:t> – int, </a:t>
                      </a:r>
                      <a:r>
                        <a:rPr lang="en-US" sz="1800" dirty="0" err="1"/>
                        <a:t>account_id</a:t>
                      </a:r>
                      <a:r>
                        <a:rPr lang="en-US" sz="1800" dirty="0"/>
                        <a:t> – </a:t>
                      </a:r>
                      <a:r>
                        <a:rPr lang="en-US" sz="1800" dirty="0" err="1"/>
                        <a:t>smallint,date</a:t>
                      </a:r>
                      <a:r>
                        <a:rPr lang="en-US" sz="1800" dirty="0"/>
                        <a:t> - </a:t>
                      </a:r>
                      <a:r>
                        <a:rPr lang="en-US" sz="1800" dirty="0" err="1"/>
                        <a:t>date,type</a:t>
                      </a:r>
                      <a:r>
                        <a:rPr lang="en-US" sz="1800" dirty="0"/>
                        <a:t>- </a:t>
                      </a:r>
                      <a:r>
                        <a:rPr lang="en-US" sz="1800" dirty="0" err="1"/>
                        <a:t>nvarchar</a:t>
                      </a:r>
                      <a:r>
                        <a:rPr lang="en-US" sz="1800" dirty="0"/>
                        <a:t>(50),operation – </a:t>
                      </a:r>
                      <a:r>
                        <a:rPr lang="en-US" sz="1800" dirty="0" err="1"/>
                        <a:t>nvarchar</a:t>
                      </a:r>
                      <a:r>
                        <a:rPr lang="en-US" sz="1800" dirty="0"/>
                        <a:t>(50),amount – float , Balance – </a:t>
                      </a:r>
                      <a:r>
                        <a:rPr lang="en-US" sz="1800" dirty="0" err="1"/>
                        <a:t>float,k_symbol</a:t>
                      </a:r>
                      <a:r>
                        <a:rPr lang="en-US" sz="1800" dirty="0"/>
                        <a:t> – </a:t>
                      </a:r>
                      <a:r>
                        <a:rPr lang="en-US" sz="1800" dirty="0" err="1"/>
                        <a:t>nvarchar</a:t>
                      </a:r>
                      <a:r>
                        <a:rPr lang="en-US" sz="1800" dirty="0"/>
                        <a:t>(50),bank – </a:t>
                      </a:r>
                      <a:r>
                        <a:rPr lang="en-US" sz="1800" dirty="0" err="1"/>
                        <a:t>nvarchar</a:t>
                      </a:r>
                      <a:r>
                        <a:rPr lang="en-US" sz="1800" dirty="0"/>
                        <a:t>(50),account - int</a:t>
                      </a:r>
                      <a:endParaRPr lang="en-IN" sz="1800"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10 Columns , 10,56320 Rows </a:t>
                      </a:r>
                      <a:endParaRPr lang="en-IN" dirty="0"/>
                    </a:p>
                    <a:p>
                      <a:endParaRPr lang="en-IN" dirty="0"/>
                    </a:p>
                  </a:txBody>
                  <a:tcPr/>
                </a:tc>
                <a:extLst>
                  <a:ext uri="{0D108BD9-81ED-4DB2-BD59-A6C34878D82A}">
                    <a16:rowId xmlns:a16="http://schemas.microsoft.com/office/drawing/2014/main" val="3403981776"/>
                  </a:ext>
                </a:extLst>
              </a:tr>
            </a:tbl>
          </a:graphicData>
        </a:graphic>
      </p:graphicFrame>
    </p:spTree>
    <p:extLst>
      <p:ext uri="{BB962C8B-B14F-4D97-AF65-F5344CB8AC3E}">
        <p14:creationId xmlns:p14="http://schemas.microsoft.com/office/powerpoint/2010/main" val="86594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18F72608-775A-8E56-6793-2672CC6848BE}"/>
              </a:ext>
            </a:extLst>
          </p:cNvPr>
          <p:cNvSpPr txBox="1">
            <a:spLocks/>
          </p:cNvSpPr>
          <p:nvPr/>
        </p:nvSpPr>
        <p:spPr>
          <a:xfrm>
            <a:off x="1" y="0"/>
            <a:ext cx="12192000" cy="698090"/>
          </a:xfrm>
          <a:prstGeom prst="rect">
            <a:avLst/>
          </a:prstGeom>
          <a:solidFill>
            <a:schemeClr val="accent2"/>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US" sz="3600" kern="0"/>
              <a:t>ERD DIAGRAM</a:t>
            </a:r>
            <a:endParaRPr lang="en-IN" sz="3600" kern="0" dirty="0"/>
          </a:p>
        </p:txBody>
      </p:sp>
      <p:pic>
        <p:nvPicPr>
          <p:cNvPr id="5" name="Picture 4">
            <a:extLst>
              <a:ext uri="{FF2B5EF4-FFF2-40B4-BE49-F238E27FC236}">
                <a16:creationId xmlns:a16="http://schemas.microsoft.com/office/drawing/2014/main" id="{5B4BB892-4824-5E1F-8B69-F692DE07F6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26" y="894734"/>
            <a:ext cx="12034683" cy="5329083"/>
          </a:xfrm>
          <a:prstGeom prst="rect">
            <a:avLst/>
          </a:prstGeom>
        </p:spPr>
      </p:pic>
    </p:spTree>
    <p:extLst>
      <p:ext uri="{BB962C8B-B14F-4D97-AF65-F5344CB8AC3E}">
        <p14:creationId xmlns:p14="http://schemas.microsoft.com/office/powerpoint/2010/main" val="10604624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756C9EB2-1827-5C12-D338-E5AD904ABBD2}"/>
              </a:ext>
            </a:extLst>
          </p:cNvPr>
          <p:cNvSpPr txBox="1">
            <a:spLocks/>
          </p:cNvSpPr>
          <p:nvPr/>
        </p:nvSpPr>
        <p:spPr>
          <a:xfrm>
            <a:off x="1" y="0"/>
            <a:ext cx="12192000" cy="698090"/>
          </a:xfrm>
          <a:prstGeom prst="rect">
            <a:avLst/>
          </a:prstGeom>
          <a:solidFill>
            <a:schemeClr val="accent2"/>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US" sz="3600" kern="0"/>
              <a:t>ERD DIAGRAM Explanation </a:t>
            </a:r>
            <a:endParaRPr lang="en-IN" sz="3600" kern="0" dirty="0"/>
          </a:p>
        </p:txBody>
      </p:sp>
      <p:sp>
        <p:nvSpPr>
          <p:cNvPr id="5" name="Text Placeholder 1">
            <a:extLst>
              <a:ext uri="{FF2B5EF4-FFF2-40B4-BE49-F238E27FC236}">
                <a16:creationId xmlns:a16="http://schemas.microsoft.com/office/drawing/2014/main" id="{9816ADAC-CC2A-C19F-4B1A-19ACE8200872}"/>
              </a:ext>
            </a:extLst>
          </p:cNvPr>
          <p:cNvSpPr>
            <a:spLocks noGrp="1"/>
          </p:cNvSpPr>
          <p:nvPr>
            <p:ph type="body" idx="1"/>
          </p:nvPr>
        </p:nvSpPr>
        <p:spPr>
          <a:xfrm>
            <a:off x="373626" y="914400"/>
            <a:ext cx="10980174" cy="5064645"/>
          </a:xfrm>
        </p:spPr>
        <p:txBody>
          <a:bodyPr>
            <a:normAutofit/>
          </a:bodyPr>
          <a:lstStyle/>
          <a:p>
            <a:r>
              <a:rPr lang="en-US" dirty="0">
                <a:latin typeface="Bahnschrift" panose="020B0502040204020203" pitchFamily="34" charset="0"/>
              </a:rPr>
              <a:t>This is the </a:t>
            </a:r>
            <a:r>
              <a:rPr lang="en-US" b="1" dirty="0">
                <a:solidFill>
                  <a:schemeClr val="bg2"/>
                </a:solidFill>
                <a:latin typeface="Bahnschrift" panose="020B0502040204020203" pitchFamily="34" charset="0"/>
              </a:rPr>
              <a:t>Galaxy schema </a:t>
            </a:r>
            <a:r>
              <a:rPr lang="en-US" dirty="0">
                <a:latin typeface="Bahnschrift" panose="020B0502040204020203" pitchFamily="34" charset="0"/>
              </a:rPr>
              <a:t>as there is more than one fact table and other are dimensions of the fact's tables</a:t>
            </a:r>
          </a:p>
          <a:p>
            <a:pPr>
              <a:buFont typeface="Wingdings" panose="05000000000000000000" pitchFamily="2" charset="2"/>
              <a:buChar char="v"/>
            </a:pPr>
            <a:r>
              <a:rPr lang="en-US" dirty="0">
                <a:latin typeface="Bahnschrift" panose="020B0502040204020203" pitchFamily="34" charset="0"/>
              </a:rPr>
              <a:t>Fact Tables are:</a:t>
            </a:r>
          </a:p>
          <a:p>
            <a:pPr>
              <a:buFont typeface="Arial" panose="020B0604020202020204" pitchFamily="34" charset="0"/>
              <a:buChar char="•"/>
            </a:pPr>
            <a:r>
              <a:rPr lang="en-US" dirty="0">
                <a:latin typeface="Bahnschrift" panose="020B0502040204020203" pitchFamily="34" charset="0"/>
              </a:rPr>
              <a:t>Order – facts about orders</a:t>
            </a:r>
          </a:p>
          <a:p>
            <a:pPr>
              <a:buFont typeface="Arial" panose="020B0604020202020204" pitchFamily="34" charset="0"/>
              <a:buChar char="•"/>
            </a:pPr>
            <a:r>
              <a:rPr lang="en-US" dirty="0">
                <a:latin typeface="Bahnschrift" panose="020B0502040204020203" pitchFamily="34" charset="0"/>
              </a:rPr>
              <a:t>Trans – Facts about Transactions</a:t>
            </a:r>
          </a:p>
          <a:p>
            <a:pPr>
              <a:buFont typeface="Arial" panose="020B0604020202020204" pitchFamily="34" charset="0"/>
              <a:buChar char="•"/>
            </a:pPr>
            <a:r>
              <a:rPr lang="en-US" dirty="0">
                <a:latin typeface="Bahnschrift" panose="020B0502040204020203" pitchFamily="34" charset="0"/>
              </a:rPr>
              <a:t>Loan – Facts about loans </a:t>
            </a:r>
          </a:p>
          <a:p>
            <a:pPr marL="186262" indent="0">
              <a:buNone/>
            </a:pPr>
            <a:endParaRPr lang="en-US" dirty="0">
              <a:latin typeface="Bahnschrift" panose="020B0502040204020203" pitchFamily="34" charset="0"/>
            </a:endParaRPr>
          </a:p>
          <a:p>
            <a:pPr>
              <a:buFont typeface="Wingdings" panose="05000000000000000000" pitchFamily="2" charset="2"/>
              <a:buChar char="v"/>
            </a:pPr>
            <a:r>
              <a:rPr lang="en-US" dirty="0">
                <a:latin typeface="Bahnschrift" panose="020B0502040204020203" pitchFamily="34" charset="0"/>
              </a:rPr>
              <a:t>Dimensions Tables are – Account , Card , Client , </a:t>
            </a:r>
            <a:r>
              <a:rPr lang="en-US" dirty="0" err="1">
                <a:latin typeface="Bahnschrift" panose="020B0502040204020203" pitchFamily="34" charset="0"/>
              </a:rPr>
              <a:t>Disp</a:t>
            </a:r>
            <a:r>
              <a:rPr lang="en-US" dirty="0">
                <a:latin typeface="Bahnschrift" panose="020B0502040204020203" pitchFamily="34" charset="0"/>
              </a:rPr>
              <a:t> , District.</a:t>
            </a:r>
          </a:p>
          <a:p>
            <a:r>
              <a:rPr lang="en-US" b="1" dirty="0">
                <a:latin typeface="Bahnschrift" panose="020B0502040204020203" pitchFamily="34" charset="0"/>
              </a:rPr>
              <a:t>Fact vs Dimension Confusion</a:t>
            </a:r>
          </a:p>
          <a:p>
            <a:r>
              <a:rPr lang="en-US" b="1" dirty="0">
                <a:latin typeface="Bahnschrift" panose="020B0502040204020203" pitchFamily="34" charset="0"/>
              </a:rPr>
              <a:t>Fact table</a:t>
            </a:r>
            <a:r>
              <a:rPr lang="en-US" dirty="0">
                <a:latin typeface="Bahnschrift" panose="020B0502040204020203" pitchFamily="34" charset="0"/>
              </a:rPr>
              <a:t> → stores measurable data (Trans, Order, Loan)</a:t>
            </a:r>
          </a:p>
          <a:p>
            <a:r>
              <a:rPr lang="en-US" b="1" dirty="0">
                <a:latin typeface="Bahnschrift" panose="020B0502040204020203" pitchFamily="34" charset="0"/>
              </a:rPr>
              <a:t>Dimension table</a:t>
            </a:r>
            <a:r>
              <a:rPr lang="en-US" dirty="0">
                <a:latin typeface="Bahnschrift" panose="020B0502040204020203" pitchFamily="34" charset="0"/>
              </a:rPr>
              <a:t> → stores descriptive attributes (Account , Card , Client , </a:t>
            </a:r>
            <a:r>
              <a:rPr lang="en-US" dirty="0" err="1">
                <a:latin typeface="Bahnschrift" panose="020B0502040204020203" pitchFamily="34" charset="0"/>
              </a:rPr>
              <a:t>Disp</a:t>
            </a:r>
            <a:r>
              <a:rPr lang="en-US" dirty="0">
                <a:latin typeface="Bahnschrift" panose="020B0502040204020203" pitchFamily="34" charset="0"/>
              </a:rPr>
              <a:t> , District.)</a:t>
            </a:r>
          </a:p>
          <a:p>
            <a:r>
              <a:rPr lang="en-US" dirty="0">
                <a:latin typeface="Bahnschrift" panose="020B0502040204020203" pitchFamily="34" charset="0"/>
              </a:rPr>
              <a:t>Most tables in  ERD connecting to Account are </a:t>
            </a:r>
            <a:r>
              <a:rPr lang="en-US" b="1" dirty="0">
                <a:latin typeface="Bahnschrift" panose="020B0502040204020203" pitchFamily="34" charset="0"/>
              </a:rPr>
              <a:t>dimensions</a:t>
            </a:r>
            <a:r>
              <a:rPr lang="en-US" dirty="0">
                <a:latin typeface="Bahnschrift" panose="020B0502040204020203" pitchFamily="34" charset="0"/>
              </a:rPr>
              <a:t>. The Account table gives context to multiple fact tables.</a:t>
            </a:r>
          </a:p>
          <a:p>
            <a:pPr>
              <a:buFont typeface="Wingdings" panose="05000000000000000000" pitchFamily="2" charset="2"/>
              <a:buChar char="v"/>
            </a:pPr>
            <a:endParaRPr lang="en-US" dirty="0">
              <a:latin typeface="Bahnschrift" panose="020B0502040204020203" pitchFamily="34" charset="0"/>
            </a:endParaRPr>
          </a:p>
          <a:p>
            <a:endParaRPr lang="en-IN" dirty="0"/>
          </a:p>
        </p:txBody>
      </p:sp>
    </p:spTree>
    <p:extLst>
      <p:ext uri="{BB962C8B-B14F-4D97-AF65-F5344CB8AC3E}">
        <p14:creationId xmlns:p14="http://schemas.microsoft.com/office/powerpoint/2010/main" val="2903238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EC603C11-58C8-7F52-6DCF-57600A4E915D}"/>
              </a:ext>
            </a:extLst>
          </p:cNvPr>
          <p:cNvSpPr txBox="1">
            <a:spLocks/>
          </p:cNvSpPr>
          <p:nvPr/>
        </p:nvSpPr>
        <p:spPr>
          <a:xfrm>
            <a:off x="1" y="0"/>
            <a:ext cx="12192000" cy="698090"/>
          </a:xfrm>
          <a:prstGeom prst="rect">
            <a:avLst/>
          </a:prstGeom>
          <a:solidFill>
            <a:schemeClr val="accent2"/>
          </a:solidFill>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5333" b="0" i="0" u="none" strike="noStrike" cap="none">
                <a:solidFill>
                  <a:schemeClr val="tx1"/>
                </a:solidFill>
                <a:latin typeface="Raleway" pitchFamily="2" charset="0"/>
                <a:ea typeface="Raleway" pitchFamily="2" charset="0"/>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buClr>
                <a:schemeClr val="accent1"/>
              </a:buClr>
              <a:buSzPts val="2400"/>
            </a:pPr>
            <a:r>
              <a:rPr lang="en-IN" sz="3600" dirty="0">
                <a:latin typeface="Bahnschrift" panose="020B0502040204020203" pitchFamily="34" charset="0"/>
                <a:sym typeface="PT Sans Narrow"/>
              </a:rPr>
              <a:t>Table Relationship Diagram</a:t>
            </a:r>
          </a:p>
        </p:txBody>
      </p:sp>
      <p:sp>
        <p:nvSpPr>
          <p:cNvPr id="5" name="Rectangle 4">
            <a:extLst>
              <a:ext uri="{FF2B5EF4-FFF2-40B4-BE49-F238E27FC236}">
                <a16:creationId xmlns:a16="http://schemas.microsoft.com/office/drawing/2014/main" id="{1F0EB313-E5B4-FA56-6448-5A697BE4F5E0}"/>
              </a:ext>
            </a:extLst>
          </p:cNvPr>
          <p:cNvSpPr/>
          <p:nvPr/>
        </p:nvSpPr>
        <p:spPr>
          <a:xfrm>
            <a:off x="388373" y="758329"/>
            <a:ext cx="2074607" cy="6980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2"/>
                </a:solidFill>
              </a:rPr>
              <a:t>Loan</a:t>
            </a:r>
            <a:endParaRPr lang="en-IN" sz="2000" dirty="0">
              <a:solidFill>
                <a:schemeClr val="bg2"/>
              </a:solidFill>
            </a:endParaRPr>
          </a:p>
        </p:txBody>
      </p:sp>
      <p:sp>
        <p:nvSpPr>
          <p:cNvPr id="6" name="Rectangle 5">
            <a:extLst>
              <a:ext uri="{FF2B5EF4-FFF2-40B4-BE49-F238E27FC236}">
                <a16:creationId xmlns:a16="http://schemas.microsoft.com/office/drawing/2014/main" id="{937F6037-DC7D-30DC-B6E5-1CF8297FF8CB}"/>
              </a:ext>
            </a:extLst>
          </p:cNvPr>
          <p:cNvSpPr/>
          <p:nvPr/>
        </p:nvSpPr>
        <p:spPr>
          <a:xfrm>
            <a:off x="5004614" y="737419"/>
            <a:ext cx="2074607" cy="6980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Order</a:t>
            </a:r>
            <a:endParaRPr lang="en-IN" dirty="0"/>
          </a:p>
        </p:txBody>
      </p:sp>
      <p:sp>
        <p:nvSpPr>
          <p:cNvPr id="7" name="Rectangle 6">
            <a:extLst>
              <a:ext uri="{FF2B5EF4-FFF2-40B4-BE49-F238E27FC236}">
                <a16:creationId xmlns:a16="http://schemas.microsoft.com/office/drawing/2014/main" id="{4518E79E-6855-4203-D7E5-92BE0E591D78}"/>
              </a:ext>
            </a:extLst>
          </p:cNvPr>
          <p:cNvSpPr/>
          <p:nvPr/>
        </p:nvSpPr>
        <p:spPr>
          <a:xfrm>
            <a:off x="9674942" y="698090"/>
            <a:ext cx="2074607" cy="6541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Trans</a:t>
            </a:r>
            <a:endParaRPr lang="en-IN" dirty="0">
              <a:solidFill>
                <a:schemeClr val="bg2"/>
              </a:solidFill>
            </a:endParaRPr>
          </a:p>
        </p:txBody>
      </p:sp>
      <p:sp>
        <p:nvSpPr>
          <p:cNvPr id="8" name="Rectangle: Rounded Corners 7">
            <a:extLst>
              <a:ext uri="{FF2B5EF4-FFF2-40B4-BE49-F238E27FC236}">
                <a16:creationId xmlns:a16="http://schemas.microsoft.com/office/drawing/2014/main" id="{A122C9E5-069A-587F-F553-4A5EC2064649}"/>
              </a:ext>
            </a:extLst>
          </p:cNvPr>
          <p:cNvSpPr/>
          <p:nvPr/>
        </p:nvSpPr>
        <p:spPr>
          <a:xfrm>
            <a:off x="373608" y="1683753"/>
            <a:ext cx="2074607" cy="435085"/>
          </a:xfrm>
          <a:prstGeom prst="roundRect">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Fact Table</a:t>
            </a:r>
            <a:endParaRPr lang="en-IN" dirty="0">
              <a:solidFill>
                <a:schemeClr val="bg2"/>
              </a:solidFill>
            </a:endParaRPr>
          </a:p>
        </p:txBody>
      </p:sp>
      <p:sp>
        <p:nvSpPr>
          <p:cNvPr id="9" name="Rectangle: Rounded Corners 8">
            <a:extLst>
              <a:ext uri="{FF2B5EF4-FFF2-40B4-BE49-F238E27FC236}">
                <a16:creationId xmlns:a16="http://schemas.microsoft.com/office/drawing/2014/main" id="{1F2638D0-19CB-838E-BB7B-8BE0EAB2E750}"/>
              </a:ext>
            </a:extLst>
          </p:cNvPr>
          <p:cNvSpPr/>
          <p:nvPr/>
        </p:nvSpPr>
        <p:spPr>
          <a:xfrm>
            <a:off x="5004614" y="1557168"/>
            <a:ext cx="2074607" cy="435085"/>
          </a:xfrm>
          <a:prstGeom prst="roundRect">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Fact Table</a:t>
            </a:r>
            <a:endParaRPr lang="en-IN" dirty="0">
              <a:solidFill>
                <a:schemeClr val="bg2"/>
              </a:solidFill>
            </a:endParaRPr>
          </a:p>
        </p:txBody>
      </p:sp>
      <p:sp>
        <p:nvSpPr>
          <p:cNvPr id="10" name="Rectangle: Rounded Corners 9">
            <a:extLst>
              <a:ext uri="{FF2B5EF4-FFF2-40B4-BE49-F238E27FC236}">
                <a16:creationId xmlns:a16="http://schemas.microsoft.com/office/drawing/2014/main" id="{514053C6-496D-99BB-ACD5-F1709F2D6194}"/>
              </a:ext>
            </a:extLst>
          </p:cNvPr>
          <p:cNvSpPr/>
          <p:nvPr/>
        </p:nvSpPr>
        <p:spPr>
          <a:xfrm>
            <a:off x="9635620" y="1479742"/>
            <a:ext cx="2074607" cy="435085"/>
          </a:xfrm>
          <a:prstGeom prst="roundRect">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Fact Table</a:t>
            </a:r>
            <a:endParaRPr lang="en-IN" dirty="0">
              <a:solidFill>
                <a:schemeClr val="bg2"/>
              </a:solidFill>
            </a:endParaRPr>
          </a:p>
        </p:txBody>
      </p:sp>
      <p:cxnSp>
        <p:nvCxnSpPr>
          <p:cNvPr id="11" name="Straight Connector 10">
            <a:extLst>
              <a:ext uri="{FF2B5EF4-FFF2-40B4-BE49-F238E27FC236}">
                <a16:creationId xmlns:a16="http://schemas.microsoft.com/office/drawing/2014/main" id="{82700EC1-25C1-F073-75C1-E5BB897024CE}"/>
              </a:ext>
            </a:extLst>
          </p:cNvPr>
          <p:cNvCxnSpPr>
            <a:cxnSpLocks/>
          </p:cNvCxnSpPr>
          <p:nvPr/>
        </p:nvCxnSpPr>
        <p:spPr>
          <a:xfrm>
            <a:off x="1425676" y="2133600"/>
            <a:ext cx="1" cy="550606"/>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7BC04B8D-D379-0B96-E894-563F2D3E1091}"/>
              </a:ext>
            </a:extLst>
          </p:cNvPr>
          <p:cNvCxnSpPr>
            <a:cxnSpLocks/>
          </p:cNvCxnSpPr>
          <p:nvPr/>
        </p:nvCxnSpPr>
        <p:spPr>
          <a:xfrm>
            <a:off x="1425677" y="2684206"/>
            <a:ext cx="3018504" cy="0"/>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3E4490AE-293A-3CA2-8439-CE1D5BFFC42D}"/>
              </a:ext>
            </a:extLst>
          </p:cNvPr>
          <p:cNvCxnSpPr>
            <a:cxnSpLocks/>
          </p:cNvCxnSpPr>
          <p:nvPr/>
        </p:nvCxnSpPr>
        <p:spPr>
          <a:xfrm>
            <a:off x="5933757" y="2047581"/>
            <a:ext cx="9838" cy="435085"/>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81D1825-27DB-2002-4F27-2988BBB0881E}"/>
              </a:ext>
            </a:extLst>
          </p:cNvPr>
          <p:cNvCxnSpPr>
            <a:cxnSpLocks/>
          </p:cNvCxnSpPr>
          <p:nvPr/>
        </p:nvCxnSpPr>
        <p:spPr>
          <a:xfrm>
            <a:off x="10840064" y="1992253"/>
            <a:ext cx="0" cy="593036"/>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648689-48F3-4E04-1F91-8E4D1BB2C0D8}"/>
              </a:ext>
            </a:extLst>
          </p:cNvPr>
          <p:cNvCxnSpPr>
            <a:cxnSpLocks/>
          </p:cNvCxnSpPr>
          <p:nvPr/>
        </p:nvCxnSpPr>
        <p:spPr>
          <a:xfrm>
            <a:off x="7821560" y="2585289"/>
            <a:ext cx="3018504" cy="0"/>
          </a:xfrm>
          <a:prstGeom prst="line">
            <a:avLst/>
          </a:prstGeom>
          <a:ln w="28575">
            <a:solidFill>
              <a:schemeClr val="bg2"/>
            </a:solidFill>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3A6F10D4-D5C8-E2F7-E37E-1AB1FADC8006}"/>
              </a:ext>
            </a:extLst>
          </p:cNvPr>
          <p:cNvSpPr/>
          <p:nvPr/>
        </p:nvSpPr>
        <p:spPr>
          <a:xfrm>
            <a:off x="4807968" y="2482666"/>
            <a:ext cx="2271254" cy="5948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Account</a:t>
            </a:r>
            <a:endParaRPr lang="en-IN" dirty="0">
              <a:solidFill>
                <a:schemeClr val="bg2"/>
              </a:solidFill>
            </a:endParaRPr>
          </a:p>
        </p:txBody>
      </p:sp>
      <p:sp>
        <p:nvSpPr>
          <p:cNvPr id="17" name="Rectangle 16">
            <a:extLst>
              <a:ext uri="{FF2B5EF4-FFF2-40B4-BE49-F238E27FC236}">
                <a16:creationId xmlns:a16="http://schemas.microsoft.com/office/drawing/2014/main" id="{89212C5C-634F-C22A-82C9-5EF33F99995E}"/>
              </a:ext>
            </a:extLst>
          </p:cNvPr>
          <p:cNvSpPr/>
          <p:nvPr/>
        </p:nvSpPr>
        <p:spPr>
          <a:xfrm>
            <a:off x="4807968" y="3286417"/>
            <a:ext cx="2271254" cy="5948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District</a:t>
            </a:r>
            <a:endParaRPr lang="en-IN" dirty="0">
              <a:solidFill>
                <a:schemeClr val="bg2"/>
              </a:solidFill>
            </a:endParaRPr>
          </a:p>
        </p:txBody>
      </p:sp>
      <p:sp>
        <p:nvSpPr>
          <p:cNvPr id="18" name="Rectangle 17">
            <a:extLst>
              <a:ext uri="{FF2B5EF4-FFF2-40B4-BE49-F238E27FC236}">
                <a16:creationId xmlns:a16="http://schemas.microsoft.com/office/drawing/2014/main" id="{EF71EAB3-5146-0AE5-86F2-86690CA9C94D}"/>
              </a:ext>
            </a:extLst>
          </p:cNvPr>
          <p:cNvSpPr/>
          <p:nvPr/>
        </p:nvSpPr>
        <p:spPr>
          <a:xfrm>
            <a:off x="4807967" y="4090184"/>
            <a:ext cx="2271255" cy="5948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Client</a:t>
            </a:r>
            <a:endParaRPr lang="en-IN" dirty="0">
              <a:solidFill>
                <a:schemeClr val="bg2"/>
              </a:solidFill>
            </a:endParaRPr>
          </a:p>
        </p:txBody>
      </p:sp>
      <p:sp>
        <p:nvSpPr>
          <p:cNvPr id="19" name="Rectangle 18">
            <a:extLst>
              <a:ext uri="{FF2B5EF4-FFF2-40B4-BE49-F238E27FC236}">
                <a16:creationId xmlns:a16="http://schemas.microsoft.com/office/drawing/2014/main" id="{2D080E92-DD84-D0A9-93B7-19DD5B4CE7EE}"/>
              </a:ext>
            </a:extLst>
          </p:cNvPr>
          <p:cNvSpPr/>
          <p:nvPr/>
        </p:nvSpPr>
        <p:spPr>
          <a:xfrm>
            <a:off x="4807967" y="4977529"/>
            <a:ext cx="2271255" cy="59487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bg2"/>
                </a:solidFill>
              </a:rPr>
              <a:t>Disp</a:t>
            </a:r>
            <a:endParaRPr lang="en-IN" dirty="0">
              <a:solidFill>
                <a:schemeClr val="bg2"/>
              </a:solidFill>
            </a:endParaRPr>
          </a:p>
        </p:txBody>
      </p:sp>
      <p:sp>
        <p:nvSpPr>
          <p:cNvPr id="20" name="Rectangle 19">
            <a:extLst>
              <a:ext uri="{FF2B5EF4-FFF2-40B4-BE49-F238E27FC236}">
                <a16:creationId xmlns:a16="http://schemas.microsoft.com/office/drawing/2014/main" id="{BC0331FB-D247-98D5-29AE-8B551B2AB671}"/>
              </a:ext>
            </a:extLst>
          </p:cNvPr>
          <p:cNvSpPr/>
          <p:nvPr/>
        </p:nvSpPr>
        <p:spPr>
          <a:xfrm>
            <a:off x="4807967" y="5773960"/>
            <a:ext cx="2349914" cy="53585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2"/>
                </a:solidFill>
              </a:rPr>
              <a:t>Card</a:t>
            </a:r>
            <a:endParaRPr lang="en-IN" dirty="0">
              <a:solidFill>
                <a:schemeClr val="bg2"/>
              </a:solidFill>
            </a:endParaRPr>
          </a:p>
        </p:txBody>
      </p:sp>
      <p:cxnSp>
        <p:nvCxnSpPr>
          <p:cNvPr id="21" name="Straight Arrow Connector 20">
            <a:extLst>
              <a:ext uri="{FF2B5EF4-FFF2-40B4-BE49-F238E27FC236}">
                <a16:creationId xmlns:a16="http://schemas.microsoft.com/office/drawing/2014/main" id="{8EE917BA-9885-CEA6-1B63-310345335896}"/>
              </a:ext>
            </a:extLst>
          </p:cNvPr>
          <p:cNvCxnSpPr/>
          <p:nvPr/>
        </p:nvCxnSpPr>
        <p:spPr>
          <a:xfrm>
            <a:off x="5943595" y="3077539"/>
            <a:ext cx="0" cy="208878"/>
          </a:xfrm>
          <a:prstGeom prst="straightConnector1">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D6652E0-AA55-1819-1AE9-A9BD69BE4285}"/>
              </a:ext>
            </a:extLst>
          </p:cNvPr>
          <p:cNvCxnSpPr/>
          <p:nvPr/>
        </p:nvCxnSpPr>
        <p:spPr>
          <a:xfrm>
            <a:off x="5933757" y="3881306"/>
            <a:ext cx="0" cy="208878"/>
          </a:xfrm>
          <a:prstGeom prst="straightConnector1">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7B0F9C2-8A76-CD95-58AC-A342DA9E0470}"/>
              </a:ext>
            </a:extLst>
          </p:cNvPr>
          <p:cNvCxnSpPr>
            <a:cxnSpLocks/>
          </p:cNvCxnSpPr>
          <p:nvPr/>
        </p:nvCxnSpPr>
        <p:spPr>
          <a:xfrm>
            <a:off x="5943594" y="4685057"/>
            <a:ext cx="1" cy="292472"/>
          </a:xfrm>
          <a:prstGeom prst="straightConnector1">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089CBE79-017B-1AB2-4EBA-9C31A678345E}"/>
              </a:ext>
            </a:extLst>
          </p:cNvPr>
          <p:cNvCxnSpPr/>
          <p:nvPr/>
        </p:nvCxnSpPr>
        <p:spPr>
          <a:xfrm>
            <a:off x="5943594" y="5565082"/>
            <a:ext cx="0" cy="208878"/>
          </a:xfrm>
          <a:prstGeom prst="straightConnector1">
            <a:avLst/>
          </a:prstGeom>
          <a:ln w="28575">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25" name="Rectangle: Rounded Corners 24">
            <a:extLst>
              <a:ext uri="{FF2B5EF4-FFF2-40B4-BE49-F238E27FC236}">
                <a16:creationId xmlns:a16="http://schemas.microsoft.com/office/drawing/2014/main" id="{A22BE8BD-CCF5-8239-F1D8-A97514DB8406}"/>
              </a:ext>
            </a:extLst>
          </p:cNvPr>
          <p:cNvSpPr/>
          <p:nvPr/>
        </p:nvSpPr>
        <p:spPr>
          <a:xfrm>
            <a:off x="7703573" y="2917751"/>
            <a:ext cx="2074607" cy="808675"/>
          </a:xfrm>
          <a:prstGeom prst="roundRect">
            <a:avLst/>
          </a:prstGeom>
          <a:solidFill>
            <a:srgbClr val="FFFFCC"/>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u="sng" dirty="0">
                <a:solidFill>
                  <a:schemeClr val="bg2"/>
                </a:solidFill>
              </a:rPr>
              <a:t>Dimension Tables</a:t>
            </a:r>
            <a:endParaRPr lang="en-IN" u="sng" dirty="0">
              <a:solidFill>
                <a:schemeClr val="bg2"/>
              </a:solidFill>
            </a:endParaRPr>
          </a:p>
        </p:txBody>
      </p:sp>
    </p:spTree>
    <p:extLst>
      <p:ext uri="{BB962C8B-B14F-4D97-AF65-F5344CB8AC3E}">
        <p14:creationId xmlns:p14="http://schemas.microsoft.com/office/powerpoint/2010/main" val="7858063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D8F47F84-1BD6-1C94-7532-8D05D8DC281D}"/>
              </a:ext>
            </a:extLst>
          </p:cNvPr>
          <p:cNvSpPr txBox="1">
            <a:spLocks/>
          </p:cNvSpPr>
          <p:nvPr/>
        </p:nvSpPr>
        <p:spPr>
          <a:xfrm>
            <a:off x="1" y="0"/>
            <a:ext cx="12192000" cy="698090"/>
          </a:xfrm>
          <a:prstGeom prst="rect">
            <a:avLst/>
          </a:prstGeom>
          <a:solidFill>
            <a:schemeClr val="accent2"/>
          </a:solidFill>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5333" b="0" i="0" u="none" strike="noStrike" cap="none">
                <a:solidFill>
                  <a:schemeClr val="tx1"/>
                </a:solidFill>
                <a:latin typeface="Raleway" pitchFamily="2" charset="0"/>
                <a:ea typeface="Raleway" pitchFamily="2" charset="0"/>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buClr>
                <a:schemeClr val="accent1"/>
              </a:buClr>
              <a:buSzPts val="2400"/>
            </a:pPr>
            <a:r>
              <a:rPr lang="en-IN" sz="3600" dirty="0">
                <a:latin typeface="Bahnschrift" panose="020B0502040204020203" pitchFamily="34" charset="0"/>
              </a:rPr>
              <a:t>Data Cleaning &amp; Pre-Processing Steps</a:t>
            </a:r>
            <a:r>
              <a:rPr lang="en-US" sz="3600" dirty="0">
                <a:latin typeface="Bahnschrift" panose="020B0502040204020203" pitchFamily="34" charset="0"/>
                <a:sym typeface="PT Sans Narrow"/>
              </a:rPr>
              <a:t> </a:t>
            </a:r>
            <a:endParaRPr lang="en-IN" sz="3600" dirty="0">
              <a:latin typeface="Bahnschrift" panose="020B0502040204020203" pitchFamily="34" charset="0"/>
              <a:sym typeface="PT Sans Narrow"/>
            </a:endParaRPr>
          </a:p>
        </p:txBody>
      </p:sp>
      <p:sp>
        <p:nvSpPr>
          <p:cNvPr id="5" name="Text Placeholder 1">
            <a:extLst>
              <a:ext uri="{FF2B5EF4-FFF2-40B4-BE49-F238E27FC236}">
                <a16:creationId xmlns:a16="http://schemas.microsoft.com/office/drawing/2014/main" id="{8F182EEC-E057-314D-1397-0959CA4F0DA5}"/>
              </a:ext>
            </a:extLst>
          </p:cNvPr>
          <p:cNvSpPr>
            <a:spLocks noGrp="1"/>
          </p:cNvSpPr>
          <p:nvPr>
            <p:ph type="body" idx="1"/>
          </p:nvPr>
        </p:nvSpPr>
        <p:spPr>
          <a:xfrm>
            <a:off x="707923" y="875071"/>
            <a:ext cx="10645878" cy="5112774"/>
          </a:xfrm>
        </p:spPr>
        <p:txBody>
          <a:bodyPr/>
          <a:lstStyle/>
          <a:p>
            <a:pPr>
              <a:buFont typeface="Wingdings" panose="05000000000000000000" pitchFamily="2" charset="2"/>
              <a:buChar char="v"/>
            </a:pPr>
            <a:r>
              <a:rPr lang="en-US" b="1" u="sng" dirty="0">
                <a:solidFill>
                  <a:srgbClr val="00B050"/>
                </a:solidFill>
                <a:latin typeface="Bahnschrift" panose="020B0502040204020203" pitchFamily="34" charset="0"/>
              </a:rPr>
              <a:t>Account Table </a:t>
            </a:r>
          </a:p>
          <a:p>
            <a:pPr>
              <a:buFont typeface="Arial" panose="020B0604020202020204" pitchFamily="34" charset="0"/>
              <a:buChar char="•"/>
            </a:pPr>
            <a:r>
              <a:rPr lang="en-US" dirty="0">
                <a:latin typeface="Bahnschrift" panose="020B0502040204020203" pitchFamily="34" charset="0"/>
              </a:rPr>
              <a:t>The Column Frequency in Account Table is In </a:t>
            </a:r>
            <a:r>
              <a:rPr lang="en-IN" dirty="0">
                <a:latin typeface="Bahnschrift" panose="020B0502040204020203" pitchFamily="34" charset="0"/>
              </a:rPr>
              <a:t>Czech </a:t>
            </a:r>
            <a:r>
              <a:rPr lang="en-US" dirty="0">
                <a:latin typeface="Bahnschrift" panose="020B0502040204020203" pitchFamily="34" charset="0"/>
              </a:rPr>
              <a:t>Language</a:t>
            </a:r>
          </a:p>
          <a:p>
            <a:pPr>
              <a:buFont typeface="Arial" panose="020B0604020202020204" pitchFamily="34" charset="0"/>
              <a:buChar char="•"/>
            </a:pPr>
            <a:r>
              <a:rPr lang="en-US" dirty="0">
                <a:latin typeface="Bahnschrift" panose="020B0502040204020203" pitchFamily="34" charset="0"/>
              </a:rPr>
              <a:t>Frequency Column values are :</a:t>
            </a:r>
          </a:p>
          <a:p>
            <a:pPr>
              <a:buFont typeface="Arial" panose="020B0604020202020204" pitchFamily="34" charset="0"/>
              <a:buChar char="•"/>
            </a:pPr>
            <a:r>
              <a:rPr lang="en-IN" dirty="0">
                <a:latin typeface="Bahnschrift" panose="020B0502040204020203" pitchFamily="34" charset="0"/>
              </a:rPr>
              <a:t>‘POPLATEK MESICNE’                       'Monthly Fee’</a:t>
            </a:r>
          </a:p>
          <a:p>
            <a:pPr>
              <a:buFont typeface="Arial" panose="020B0604020202020204" pitchFamily="34" charset="0"/>
              <a:buChar char="•"/>
            </a:pPr>
            <a:r>
              <a:rPr lang="en-IN" dirty="0">
                <a:latin typeface="Bahnschrift" panose="020B0502040204020203" pitchFamily="34" charset="0"/>
              </a:rPr>
              <a:t> ‘POPLATEK TYDNE’                           'Weekly Fee'</a:t>
            </a:r>
          </a:p>
          <a:p>
            <a:pPr>
              <a:buFont typeface="Arial" panose="020B0604020202020204" pitchFamily="34" charset="0"/>
              <a:buChar char="•"/>
            </a:pPr>
            <a:r>
              <a:rPr lang="en-IN" dirty="0">
                <a:latin typeface="Bahnschrift" panose="020B0502040204020203" pitchFamily="34" charset="0"/>
              </a:rPr>
              <a:t> ‘POPLATEK PO OBRATU’                  'Fee Per Transactions’</a:t>
            </a:r>
          </a:p>
          <a:p>
            <a:pPr>
              <a:buFont typeface="Arial" panose="020B0604020202020204" pitchFamily="34" charset="0"/>
              <a:buChar char="•"/>
            </a:pPr>
            <a:endParaRPr lang="en-IN" dirty="0">
              <a:latin typeface="Bahnschrift" panose="020B0502040204020203" pitchFamily="34" charset="0"/>
            </a:endParaRPr>
          </a:p>
          <a:p>
            <a:pPr>
              <a:buFont typeface="Wingdings" panose="05000000000000000000" pitchFamily="2" charset="2"/>
              <a:buChar char="v"/>
            </a:pPr>
            <a:r>
              <a:rPr lang="en-IN" b="1" u="sng" dirty="0">
                <a:solidFill>
                  <a:srgbClr val="00B050"/>
                </a:solidFill>
                <a:latin typeface="Bahnschrift" panose="020B0502040204020203" pitchFamily="34" charset="0"/>
              </a:rPr>
              <a:t>Card Table </a:t>
            </a:r>
          </a:p>
          <a:p>
            <a:pPr>
              <a:buFont typeface="Arial" panose="020B0604020202020204" pitchFamily="34" charset="0"/>
              <a:buChar char="•"/>
            </a:pPr>
            <a:r>
              <a:rPr lang="en-IN" dirty="0">
                <a:latin typeface="Bahnschrift" panose="020B0502040204020203" pitchFamily="34" charset="0"/>
              </a:rPr>
              <a:t>The Column Issued is In string format like YYMMDD 00:00:00 </a:t>
            </a:r>
          </a:p>
          <a:p>
            <a:pPr>
              <a:buFont typeface="Arial" panose="020B0604020202020204" pitchFamily="34" charset="0"/>
              <a:buChar char="•"/>
            </a:pPr>
            <a:r>
              <a:rPr lang="en-IN" dirty="0">
                <a:latin typeface="Bahnschrift" panose="020B0502040204020203" pitchFamily="34" charset="0"/>
              </a:rPr>
              <a:t>So changed that and only  taken the date part </a:t>
            </a:r>
          </a:p>
          <a:p>
            <a:pPr>
              <a:buFont typeface="Arial" panose="020B0604020202020204" pitchFamily="34" charset="0"/>
              <a:buChar char="•"/>
            </a:pPr>
            <a:r>
              <a:rPr lang="en-IN" dirty="0">
                <a:latin typeface="Bahnschrift" panose="020B0502040204020203" pitchFamily="34" charset="0"/>
              </a:rPr>
              <a:t>Converted it to YYYY-MM-DD  and then in Date type </a:t>
            </a:r>
            <a:endParaRPr lang="en-US" dirty="0">
              <a:latin typeface="Bahnschrift" panose="020B0502040204020203" pitchFamily="34" charset="0"/>
            </a:endParaRPr>
          </a:p>
          <a:p>
            <a:pPr>
              <a:buFont typeface="Arial" panose="020B0604020202020204" pitchFamily="34" charset="0"/>
              <a:buChar char="•"/>
            </a:pPr>
            <a:endParaRPr lang="en-IN" dirty="0"/>
          </a:p>
        </p:txBody>
      </p:sp>
    </p:spTree>
    <p:extLst>
      <p:ext uri="{BB962C8B-B14F-4D97-AF65-F5344CB8AC3E}">
        <p14:creationId xmlns:p14="http://schemas.microsoft.com/office/powerpoint/2010/main" val="40428081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DB7FC1F0-B1C7-E74D-5689-8485F11D6987}"/>
              </a:ext>
            </a:extLst>
          </p:cNvPr>
          <p:cNvSpPr txBox="1">
            <a:spLocks/>
          </p:cNvSpPr>
          <p:nvPr/>
        </p:nvSpPr>
        <p:spPr>
          <a:xfrm>
            <a:off x="1" y="0"/>
            <a:ext cx="12192000" cy="698090"/>
          </a:xfrm>
          <a:prstGeom prst="rect">
            <a:avLst/>
          </a:prstGeom>
          <a:solidFill>
            <a:schemeClr val="accent2"/>
          </a:solidFill>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5333" b="0" i="0" u="none" strike="noStrike" cap="none">
                <a:solidFill>
                  <a:schemeClr val="tx1"/>
                </a:solidFill>
                <a:latin typeface="Raleway" pitchFamily="2" charset="0"/>
                <a:ea typeface="Raleway" pitchFamily="2" charset="0"/>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buClr>
                <a:schemeClr val="accent1"/>
              </a:buClr>
              <a:buSzPts val="2400"/>
            </a:pPr>
            <a:r>
              <a:rPr lang="en-IN" sz="3600" dirty="0">
                <a:latin typeface="Bahnschrift" panose="020B0502040204020203" pitchFamily="34" charset="0"/>
              </a:rPr>
              <a:t>Data Cleaning &amp; Pre-Processing Steps</a:t>
            </a:r>
            <a:r>
              <a:rPr lang="en-US" sz="3600" dirty="0">
                <a:latin typeface="Bahnschrift" panose="020B0502040204020203" pitchFamily="34" charset="0"/>
                <a:sym typeface="PT Sans Narrow"/>
              </a:rPr>
              <a:t> </a:t>
            </a:r>
            <a:endParaRPr lang="en-IN" sz="3600" dirty="0">
              <a:latin typeface="Bahnschrift" panose="020B0502040204020203" pitchFamily="34" charset="0"/>
              <a:sym typeface="PT Sans Narrow"/>
            </a:endParaRPr>
          </a:p>
        </p:txBody>
      </p:sp>
      <p:sp>
        <p:nvSpPr>
          <p:cNvPr id="5" name="Text Placeholder 1">
            <a:extLst>
              <a:ext uri="{FF2B5EF4-FFF2-40B4-BE49-F238E27FC236}">
                <a16:creationId xmlns:a16="http://schemas.microsoft.com/office/drawing/2014/main" id="{1AC7D23F-C9FD-92AB-1349-892CB61DB6B8}"/>
              </a:ext>
            </a:extLst>
          </p:cNvPr>
          <p:cNvSpPr>
            <a:spLocks noGrp="1"/>
          </p:cNvSpPr>
          <p:nvPr>
            <p:ph type="body" idx="1"/>
          </p:nvPr>
        </p:nvSpPr>
        <p:spPr>
          <a:xfrm>
            <a:off x="688258" y="953729"/>
            <a:ext cx="10675374" cy="5192464"/>
          </a:xfrm>
        </p:spPr>
        <p:txBody>
          <a:bodyPr/>
          <a:lstStyle/>
          <a:p>
            <a:pPr>
              <a:buFont typeface="Wingdings" panose="05000000000000000000" pitchFamily="2" charset="2"/>
              <a:buChar char="v"/>
            </a:pPr>
            <a:r>
              <a:rPr lang="en-US" b="1" u="sng" dirty="0">
                <a:solidFill>
                  <a:srgbClr val="00B050"/>
                </a:solidFill>
                <a:latin typeface="Bahnschrift" panose="020B0502040204020203" pitchFamily="34" charset="0"/>
              </a:rPr>
              <a:t>Client Table </a:t>
            </a:r>
          </a:p>
          <a:p>
            <a:pPr>
              <a:buFont typeface="Wingdings" panose="05000000000000000000" pitchFamily="2" charset="2"/>
              <a:buChar char="§"/>
            </a:pPr>
            <a:r>
              <a:rPr lang="en-US" dirty="0">
                <a:latin typeface="Bahnschrift" panose="020B0502040204020203" pitchFamily="34" charset="0"/>
              </a:rPr>
              <a:t>In Client Table the birth number is in coded form which has both gender and dob </a:t>
            </a:r>
          </a:p>
          <a:p>
            <a:pPr>
              <a:buFont typeface="Wingdings" panose="05000000000000000000" pitchFamily="2" charset="2"/>
              <a:buChar char="§"/>
            </a:pPr>
            <a:r>
              <a:rPr lang="en-US" dirty="0">
                <a:latin typeface="Bahnschrift" panose="020B0502040204020203" pitchFamily="34" charset="0"/>
              </a:rPr>
              <a:t>For Females +50 is in Month and if month &lt;=12 then that is male </a:t>
            </a:r>
          </a:p>
          <a:p>
            <a:pPr>
              <a:buFont typeface="Wingdings" panose="05000000000000000000" pitchFamily="2" charset="2"/>
              <a:buChar char="§"/>
            </a:pPr>
            <a:r>
              <a:rPr lang="en-US" dirty="0">
                <a:latin typeface="Bahnschrift" panose="020B0502040204020203" pitchFamily="34" charset="0"/>
              </a:rPr>
              <a:t>Like for female it is 706213 where 70 is the year , 62 is month which is &gt;12 so the original month will be 62-50 then 02 and the gender will be female and other are male </a:t>
            </a:r>
          </a:p>
          <a:p>
            <a:pPr>
              <a:buFont typeface="Wingdings" panose="05000000000000000000" pitchFamily="2" charset="2"/>
              <a:buChar char="§"/>
            </a:pPr>
            <a:r>
              <a:rPr lang="en-US" dirty="0">
                <a:latin typeface="Bahnschrift" panose="020B0502040204020203" pitchFamily="34" charset="0"/>
              </a:rPr>
              <a:t>So , if month &gt;12 then gender Female other are Male </a:t>
            </a:r>
          </a:p>
          <a:p>
            <a:pPr>
              <a:buFont typeface="Wingdings" panose="05000000000000000000" pitchFamily="2" charset="2"/>
              <a:buChar char="§"/>
            </a:pPr>
            <a:r>
              <a:rPr lang="en-US" dirty="0">
                <a:latin typeface="Bahnschrift" panose="020B0502040204020203" pitchFamily="34" charset="0"/>
              </a:rPr>
              <a:t>For Month Part if Month&gt;12 then minus it by 50 to get month part and then do concatenation to get dob.</a:t>
            </a:r>
          </a:p>
          <a:p>
            <a:pPr>
              <a:buFont typeface="Wingdings" panose="05000000000000000000" pitchFamily="2" charset="2"/>
              <a:buChar char="§"/>
            </a:pPr>
            <a:endParaRPr lang="en-US" dirty="0">
              <a:latin typeface="Bahnschrift" panose="020B0502040204020203" pitchFamily="34" charset="0"/>
            </a:endParaRPr>
          </a:p>
          <a:p>
            <a:pPr>
              <a:buFont typeface="Wingdings" panose="05000000000000000000" pitchFamily="2" charset="2"/>
              <a:buChar char="v"/>
            </a:pPr>
            <a:r>
              <a:rPr lang="en-US" b="1" u="sng" dirty="0" err="1">
                <a:solidFill>
                  <a:srgbClr val="00B050"/>
                </a:solidFill>
                <a:latin typeface="Bahnschrift" panose="020B0502040204020203" pitchFamily="34" charset="0"/>
              </a:rPr>
              <a:t>Disp</a:t>
            </a:r>
            <a:r>
              <a:rPr lang="en-US" b="1" u="sng" dirty="0">
                <a:solidFill>
                  <a:srgbClr val="00B050"/>
                </a:solidFill>
                <a:latin typeface="Bahnschrift" panose="020B0502040204020203" pitchFamily="34" charset="0"/>
              </a:rPr>
              <a:t> Table</a:t>
            </a:r>
          </a:p>
          <a:p>
            <a:pPr>
              <a:buFont typeface="Arial" panose="020B0604020202020204" pitchFamily="34" charset="0"/>
              <a:buChar char="•"/>
            </a:pPr>
            <a:r>
              <a:rPr lang="en-US" dirty="0">
                <a:latin typeface="Bahnschrift" panose="020B0502040204020203" pitchFamily="34" charset="0"/>
              </a:rPr>
              <a:t>No such changes is needed </a:t>
            </a:r>
          </a:p>
          <a:p>
            <a:pPr>
              <a:buFont typeface="Wingdings" panose="05000000000000000000" pitchFamily="2" charset="2"/>
              <a:buChar char="§"/>
            </a:pPr>
            <a:endParaRPr lang="en-US" dirty="0">
              <a:latin typeface="Bahnschrift" panose="020B0502040204020203" pitchFamily="34" charset="0"/>
            </a:endParaRPr>
          </a:p>
          <a:p>
            <a:endParaRPr lang="en-IN" dirty="0"/>
          </a:p>
        </p:txBody>
      </p:sp>
    </p:spTree>
    <p:extLst>
      <p:ext uri="{BB962C8B-B14F-4D97-AF65-F5344CB8AC3E}">
        <p14:creationId xmlns:p14="http://schemas.microsoft.com/office/powerpoint/2010/main" val="18512836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407B66B9-CAA8-5635-4FA5-7B53B78A8070}"/>
              </a:ext>
            </a:extLst>
          </p:cNvPr>
          <p:cNvSpPr txBox="1">
            <a:spLocks/>
          </p:cNvSpPr>
          <p:nvPr/>
        </p:nvSpPr>
        <p:spPr>
          <a:xfrm>
            <a:off x="1" y="0"/>
            <a:ext cx="12192000" cy="698090"/>
          </a:xfrm>
          <a:prstGeom prst="rect">
            <a:avLst/>
          </a:prstGeom>
          <a:solidFill>
            <a:schemeClr val="accent2"/>
          </a:solidFill>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5333" b="0" i="0" u="none" strike="noStrike" cap="none">
                <a:solidFill>
                  <a:schemeClr val="tx1"/>
                </a:solidFill>
                <a:latin typeface="Raleway" pitchFamily="2" charset="0"/>
                <a:ea typeface="Raleway" pitchFamily="2" charset="0"/>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buClr>
                <a:schemeClr val="accent1"/>
              </a:buClr>
              <a:buSzPts val="2400"/>
            </a:pPr>
            <a:r>
              <a:rPr lang="en-IN" sz="3600" dirty="0">
                <a:latin typeface="Bahnschrift" panose="020B0502040204020203" pitchFamily="34" charset="0"/>
              </a:rPr>
              <a:t>Data Cleaning &amp; Pre-Processing Steps</a:t>
            </a:r>
            <a:r>
              <a:rPr lang="en-US" sz="3600" dirty="0">
                <a:latin typeface="Bahnschrift" panose="020B0502040204020203" pitchFamily="34" charset="0"/>
                <a:sym typeface="PT Sans Narrow"/>
              </a:rPr>
              <a:t> </a:t>
            </a:r>
            <a:endParaRPr lang="en-IN" sz="3600" dirty="0">
              <a:latin typeface="Bahnschrift" panose="020B0502040204020203" pitchFamily="34" charset="0"/>
              <a:sym typeface="PT Sans Narrow"/>
            </a:endParaRPr>
          </a:p>
        </p:txBody>
      </p:sp>
      <p:sp>
        <p:nvSpPr>
          <p:cNvPr id="5" name="Text Placeholder 1">
            <a:extLst>
              <a:ext uri="{FF2B5EF4-FFF2-40B4-BE49-F238E27FC236}">
                <a16:creationId xmlns:a16="http://schemas.microsoft.com/office/drawing/2014/main" id="{BE26CEB4-A384-64A8-1F0D-AD4E4F183851}"/>
              </a:ext>
            </a:extLst>
          </p:cNvPr>
          <p:cNvSpPr>
            <a:spLocks noGrp="1"/>
          </p:cNvSpPr>
          <p:nvPr>
            <p:ph type="body" idx="1"/>
          </p:nvPr>
        </p:nvSpPr>
        <p:spPr>
          <a:xfrm>
            <a:off x="540774" y="894735"/>
            <a:ext cx="10813026" cy="5084310"/>
          </a:xfrm>
        </p:spPr>
        <p:txBody>
          <a:bodyPr/>
          <a:lstStyle/>
          <a:p>
            <a:pPr>
              <a:buFont typeface="Wingdings" panose="05000000000000000000" pitchFamily="2" charset="2"/>
              <a:buChar char="v"/>
            </a:pPr>
            <a:r>
              <a:rPr lang="en-US" b="1" u="sng" dirty="0">
                <a:solidFill>
                  <a:srgbClr val="00B050"/>
                </a:solidFill>
                <a:latin typeface="Bahnschrift" panose="020B0502040204020203" pitchFamily="34" charset="0"/>
              </a:rPr>
              <a:t>District Table </a:t>
            </a:r>
          </a:p>
          <a:p>
            <a:pPr>
              <a:buFont typeface="Arial" panose="020B0604020202020204" pitchFamily="34" charset="0"/>
              <a:buChar char="•"/>
            </a:pPr>
            <a:r>
              <a:rPr lang="en-US" dirty="0">
                <a:latin typeface="Bahnschrift" panose="020B0502040204020203" pitchFamily="34" charset="0"/>
              </a:rPr>
              <a:t>District Table all Columns are in the coded Format it ranges from A1-A16 with different information and with different datatypes</a:t>
            </a:r>
          </a:p>
          <a:p>
            <a:pPr>
              <a:buFont typeface="Arial" panose="020B0604020202020204" pitchFamily="34" charset="0"/>
              <a:buChar char="•"/>
            </a:pPr>
            <a:r>
              <a:rPr lang="en-US" dirty="0">
                <a:latin typeface="Bahnschrift" panose="020B0502040204020203" pitchFamily="34" charset="0"/>
              </a:rPr>
              <a:t>So, Changed the Column names Accordingly :</a:t>
            </a:r>
          </a:p>
          <a:p>
            <a:pPr>
              <a:buFont typeface="Arial" panose="020B0604020202020204" pitchFamily="34" charset="0"/>
              <a:buChar char="•"/>
            </a:pPr>
            <a:r>
              <a:rPr lang="en-US" dirty="0">
                <a:latin typeface="Bahnschrift" panose="020B0502040204020203" pitchFamily="34" charset="0"/>
              </a:rPr>
              <a:t>A1    ------------------&gt; </a:t>
            </a:r>
            <a:r>
              <a:rPr lang="en-IN" dirty="0" err="1">
                <a:latin typeface="Bahnschrift" panose="020B0502040204020203" pitchFamily="34" charset="0"/>
              </a:rPr>
              <a:t>District_Ids</a:t>
            </a:r>
            <a:endParaRPr lang="en-IN" dirty="0">
              <a:latin typeface="Bahnschrift" panose="020B0502040204020203" pitchFamily="34" charset="0"/>
            </a:endParaRPr>
          </a:p>
          <a:p>
            <a:pPr>
              <a:buFont typeface="Arial" panose="020B0604020202020204" pitchFamily="34" charset="0"/>
              <a:buChar char="•"/>
            </a:pPr>
            <a:r>
              <a:rPr lang="en-US" dirty="0">
                <a:latin typeface="Bahnschrift" panose="020B0502040204020203" pitchFamily="34" charset="0"/>
              </a:rPr>
              <a:t>A2    ------------------&gt; </a:t>
            </a:r>
            <a:r>
              <a:rPr lang="en-IN" dirty="0" err="1">
                <a:latin typeface="Bahnschrift" panose="020B0502040204020203" pitchFamily="34" charset="0"/>
              </a:rPr>
              <a:t>District_Name</a:t>
            </a:r>
            <a:endParaRPr lang="en-IN" dirty="0">
              <a:latin typeface="Bahnschrift" panose="020B0502040204020203" pitchFamily="34" charset="0"/>
            </a:endParaRPr>
          </a:p>
          <a:p>
            <a:pPr>
              <a:buFont typeface="Arial" panose="020B0604020202020204" pitchFamily="34" charset="0"/>
              <a:buChar char="•"/>
            </a:pPr>
            <a:r>
              <a:rPr lang="en-US" dirty="0">
                <a:latin typeface="Bahnschrift" panose="020B0502040204020203" pitchFamily="34" charset="0"/>
              </a:rPr>
              <a:t>A3    ------------------&gt; </a:t>
            </a:r>
            <a:r>
              <a:rPr lang="en-IN" dirty="0">
                <a:latin typeface="Bahnschrift" panose="020B0502040204020203" pitchFamily="34" charset="0"/>
              </a:rPr>
              <a:t>Region</a:t>
            </a:r>
          </a:p>
          <a:p>
            <a:pPr>
              <a:buFont typeface="Arial" panose="020B0604020202020204" pitchFamily="34" charset="0"/>
              <a:buChar char="•"/>
            </a:pPr>
            <a:r>
              <a:rPr lang="en-US" dirty="0">
                <a:latin typeface="Bahnschrift" panose="020B0502040204020203" pitchFamily="34" charset="0"/>
              </a:rPr>
              <a:t>A4    ------------------&gt; </a:t>
            </a:r>
            <a:r>
              <a:rPr lang="en-IN" dirty="0">
                <a:latin typeface="Bahnschrift" panose="020B0502040204020203" pitchFamily="34" charset="0"/>
              </a:rPr>
              <a:t>Population</a:t>
            </a:r>
          </a:p>
          <a:p>
            <a:pPr>
              <a:buFont typeface="Arial" panose="020B0604020202020204" pitchFamily="34" charset="0"/>
              <a:buChar char="•"/>
            </a:pPr>
            <a:r>
              <a:rPr lang="en-US" dirty="0">
                <a:latin typeface="Bahnschrift" panose="020B0502040204020203" pitchFamily="34" charset="0"/>
              </a:rPr>
              <a:t>A5    ------------------&gt; </a:t>
            </a:r>
            <a:r>
              <a:rPr lang="en-IN" dirty="0">
                <a:latin typeface="Bahnschrift" panose="020B0502040204020203" pitchFamily="34" charset="0"/>
              </a:rPr>
              <a:t>Villages</a:t>
            </a:r>
          </a:p>
          <a:p>
            <a:pPr>
              <a:buFont typeface="Arial" panose="020B0604020202020204" pitchFamily="34" charset="0"/>
              <a:buChar char="•"/>
            </a:pPr>
            <a:r>
              <a:rPr lang="en-US" dirty="0">
                <a:latin typeface="Bahnschrift" panose="020B0502040204020203" pitchFamily="34" charset="0"/>
              </a:rPr>
              <a:t>A6    ------------------&gt; </a:t>
            </a:r>
            <a:r>
              <a:rPr lang="en-IN" dirty="0" err="1">
                <a:latin typeface="Bahnschrift" panose="020B0502040204020203" pitchFamily="34" charset="0"/>
              </a:rPr>
              <a:t>Small_Town</a:t>
            </a:r>
            <a:endParaRPr lang="en-IN" dirty="0">
              <a:latin typeface="Bahnschrift" panose="020B0502040204020203" pitchFamily="34" charset="0"/>
            </a:endParaRPr>
          </a:p>
          <a:p>
            <a:pPr>
              <a:buFont typeface="Arial" panose="020B0604020202020204" pitchFamily="34" charset="0"/>
              <a:buChar char="•"/>
            </a:pPr>
            <a:r>
              <a:rPr lang="en-US" dirty="0">
                <a:latin typeface="Bahnschrift" panose="020B0502040204020203" pitchFamily="34" charset="0"/>
              </a:rPr>
              <a:t>A7    ------------------&gt; </a:t>
            </a:r>
            <a:r>
              <a:rPr lang="en-IN" dirty="0" err="1">
                <a:latin typeface="Bahnschrift" panose="020B0502040204020203" pitchFamily="34" charset="0"/>
              </a:rPr>
              <a:t>Medium_Town</a:t>
            </a:r>
            <a:endParaRPr lang="en-IN" dirty="0">
              <a:latin typeface="Bahnschrift" panose="020B0502040204020203" pitchFamily="34" charset="0"/>
            </a:endParaRPr>
          </a:p>
          <a:p>
            <a:pPr>
              <a:buFont typeface="Arial" panose="020B0604020202020204" pitchFamily="34" charset="0"/>
              <a:buChar char="•"/>
            </a:pPr>
            <a:r>
              <a:rPr lang="en-US" dirty="0">
                <a:latin typeface="Bahnschrift" panose="020B0502040204020203" pitchFamily="34" charset="0"/>
              </a:rPr>
              <a:t>A8    ------------------&gt; </a:t>
            </a:r>
            <a:r>
              <a:rPr lang="en-IN" dirty="0" err="1">
                <a:latin typeface="Bahnschrift" panose="020B0502040204020203" pitchFamily="34" charset="0"/>
              </a:rPr>
              <a:t>Large_Town</a:t>
            </a:r>
            <a:endParaRPr lang="en-IN" dirty="0">
              <a:latin typeface="Bahnschrift" panose="020B0502040204020203" pitchFamily="34" charset="0"/>
            </a:endParaRPr>
          </a:p>
          <a:p>
            <a:pPr>
              <a:buFont typeface="Arial" panose="020B0604020202020204" pitchFamily="34" charset="0"/>
              <a:buChar char="•"/>
            </a:pPr>
            <a:endParaRPr lang="en-IN" dirty="0">
              <a:latin typeface="Bahnschrift" panose="020B0502040204020203" pitchFamily="34" charset="0"/>
            </a:endParaRPr>
          </a:p>
          <a:p>
            <a:pPr>
              <a:buFont typeface="Arial" panose="020B0604020202020204" pitchFamily="34" charset="0"/>
              <a:buChar char="•"/>
            </a:pPr>
            <a:endParaRPr lang="en-IN" dirty="0"/>
          </a:p>
          <a:p>
            <a:pPr>
              <a:buFont typeface="Arial" panose="020B0604020202020204" pitchFamily="34" charset="0"/>
              <a:buChar char="•"/>
            </a:pPr>
            <a:endParaRPr lang="en-IN" dirty="0"/>
          </a:p>
          <a:p>
            <a:pPr>
              <a:buFont typeface="Arial" panose="020B0604020202020204" pitchFamily="34" charset="0"/>
              <a:buChar char="•"/>
            </a:pPr>
            <a:endParaRPr lang="en-IN" dirty="0"/>
          </a:p>
          <a:p>
            <a:pPr>
              <a:buFont typeface="Arial" panose="020B0604020202020204" pitchFamily="34" charset="0"/>
              <a:buChar char="•"/>
            </a:pPr>
            <a:endParaRPr lang="en-IN" dirty="0"/>
          </a:p>
        </p:txBody>
      </p:sp>
    </p:spTree>
    <p:extLst>
      <p:ext uri="{BB962C8B-B14F-4D97-AF65-F5344CB8AC3E}">
        <p14:creationId xmlns:p14="http://schemas.microsoft.com/office/powerpoint/2010/main" val="386408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294BEEF4-CC4A-89F5-EAEE-6995F76919C9}"/>
              </a:ext>
            </a:extLst>
          </p:cNvPr>
          <p:cNvSpPr txBox="1">
            <a:spLocks/>
          </p:cNvSpPr>
          <p:nvPr/>
        </p:nvSpPr>
        <p:spPr>
          <a:xfrm>
            <a:off x="1" y="0"/>
            <a:ext cx="12192000" cy="698090"/>
          </a:xfrm>
          <a:prstGeom prst="rect">
            <a:avLst/>
          </a:prstGeom>
          <a:solidFill>
            <a:schemeClr val="accent2"/>
          </a:solidFill>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5333" b="0" i="0" u="none" strike="noStrike" cap="none">
                <a:solidFill>
                  <a:schemeClr val="tx1"/>
                </a:solidFill>
                <a:latin typeface="Raleway" pitchFamily="2" charset="0"/>
                <a:ea typeface="Raleway" pitchFamily="2" charset="0"/>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buClr>
                <a:schemeClr val="accent1"/>
              </a:buClr>
              <a:buSzPts val="2400"/>
            </a:pPr>
            <a:r>
              <a:rPr lang="en-IN" sz="3600" dirty="0">
                <a:latin typeface="Bahnschrift" panose="020B0502040204020203" pitchFamily="34" charset="0"/>
              </a:rPr>
              <a:t>Data Cleaning &amp; Pre-Processing Steps</a:t>
            </a:r>
            <a:r>
              <a:rPr lang="en-US" sz="3600" dirty="0">
                <a:latin typeface="Bahnschrift" panose="020B0502040204020203" pitchFamily="34" charset="0"/>
                <a:sym typeface="PT Sans Narrow"/>
              </a:rPr>
              <a:t> </a:t>
            </a:r>
            <a:endParaRPr lang="en-IN" sz="3600" dirty="0">
              <a:latin typeface="Bahnschrift" panose="020B0502040204020203" pitchFamily="34" charset="0"/>
              <a:sym typeface="PT Sans Narrow"/>
            </a:endParaRPr>
          </a:p>
        </p:txBody>
      </p:sp>
      <p:sp>
        <p:nvSpPr>
          <p:cNvPr id="5" name="Text Placeholder 1">
            <a:extLst>
              <a:ext uri="{FF2B5EF4-FFF2-40B4-BE49-F238E27FC236}">
                <a16:creationId xmlns:a16="http://schemas.microsoft.com/office/drawing/2014/main" id="{B715E9F3-5B65-FB80-D38E-639F92402CFB}"/>
              </a:ext>
            </a:extLst>
          </p:cNvPr>
          <p:cNvSpPr>
            <a:spLocks noGrp="1"/>
          </p:cNvSpPr>
          <p:nvPr>
            <p:ph type="body" idx="1"/>
          </p:nvPr>
        </p:nvSpPr>
        <p:spPr>
          <a:xfrm>
            <a:off x="749709" y="922196"/>
            <a:ext cx="10515600" cy="5213132"/>
          </a:xfrm>
        </p:spPr>
        <p:txBody>
          <a:bodyPr>
            <a:normAutofit/>
          </a:bodyPr>
          <a:lstStyle/>
          <a:p>
            <a:r>
              <a:rPr lang="en-US" dirty="0">
                <a:latin typeface="Bahnschrift" panose="020B0502040204020203" pitchFamily="34" charset="0"/>
              </a:rPr>
              <a:t>A9    ------------------&gt; </a:t>
            </a:r>
            <a:r>
              <a:rPr lang="en-IN" dirty="0" err="1">
                <a:latin typeface="Bahnschrift" panose="020B0502040204020203" pitchFamily="34" charset="0"/>
              </a:rPr>
              <a:t>No_Of_Cities</a:t>
            </a:r>
            <a:endParaRPr lang="en-IN" dirty="0">
              <a:latin typeface="Bahnschrift" panose="020B0502040204020203" pitchFamily="34" charset="0"/>
            </a:endParaRPr>
          </a:p>
          <a:p>
            <a:r>
              <a:rPr lang="en-US" dirty="0">
                <a:latin typeface="Bahnschrift" panose="020B0502040204020203" pitchFamily="34" charset="0"/>
              </a:rPr>
              <a:t>A10    ------------------&gt; </a:t>
            </a:r>
            <a:r>
              <a:rPr lang="en-IN" dirty="0" err="1">
                <a:latin typeface="Bahnschrift" panose="020B0502040204020203" pitchFamily="34" charset="0"/>
              </a:rPr>
              <a:t>Ratio_Of_Urban_Populations</a:t>
            </a:r>
            <a:endParaRPr lang="en-IN" dirty="0">
              <a:latin typeface="Bahnschrift" panose="020B0502040204020203" pitchFamily="34" charset="0"/>
            </a:endParaRPr>
          </a:p>
          <a:p>
            <a:r>
              <a:rPr lang="en-US" dirty="0">
                <a:latin typeface="Bahnschrift" panose="020B0502040204020203" pitchFamily="34" charset="0"/>
              </a:rPr>
              <a:t>A11    ------------------&gt; </a:t>
            </a:r>
            <a:r>
              <a:rPr lang="en-IN" dirty="0" err="1">
                <a:latin typeface="Bahnschrift" panose="020B0502040204020203" pitchFamily="34" charset="0"/>
              </a:rPr>
              <a:t>Avg_Salary</a:t>
            </a:r>
            <a:endParaRPr lang="en-IN" dirty="0">
              <a:latin typeface="Bahnschrift" panose="020B0502040204020203" pitchFamily="34" charset="0"/>
            </a:endParaRPr>
          </a:p>
          <a:p>
            <a:r>
              <a:rPr lang="en-US" dirty="0">
                <a:latin typeface="Bahnschrift" panose="020B0502040204020203" pitchFamily="34" charset="0"/>
              </a:rPr>
              <a:t>A12    ------------------&gt; </a:t>
            </a:r>
            <a:r>
              <a:rPr lang="en-IN" dirty="0">
                <a:latin typeface="Bahnschrift" panose="020B0502040204020203" pitchFamily="34" charset="0"/>
              </a:rPr>
              <a:t>Unemployment_Rate_1995</a:t>
            </a:r>
          </a:p>
          <a:p>
            <a:r>
              <a:rPr lang="en-US" dirty="0">
                <a:latin typeface="Bahnschrift" panose="020B0502040204020203" pitchFamily="34" charset="0"/>
              </a:rPr>
              <a:t>A13    ------------------&gt; </a:t>
            </a:r>
            <a:r>
              <a:rPr lang="en-IN" dirty="0">
                <a:latin typeface="Bahnschrift" panose="020B0502040204020203" pitchFamily="34" charset="0"/>
              </a:rPr>
              <a:t>Unemployment_Rate_1996</a:t>
            </a:r>
          </a:p>
          <a:p>
            <a:r>
              <a:rPr lang="en-US" dirty="0">
                <a:latin typeface="Bahnschrift" panose="020B0502040204020203" pitchFamily="34" charset="0"/>
              </a:rPr>
              <a:t>A14    ------------------&gt; No_of_Enterprenuers_per_1000</a:t>
            </a:r>
          </a:p>
          <a:p>
            <a:r>
              <a:rPr lang="en-US" dirty="0">
                <a:latin typeface="Bahnschrift" panose="020B0502040204020203" pitchFamily="34" charset="0"/>
              </a:rPr>
              <a:t>A15    ------------------&gt; No_of_Crimes_Commited_1995</a:t>
            </a:r>
            <a:endParaRPr lang="en-IN" dirty="0">
              <a:latin typeface="Bahnschrift" panose="020B0502040204020203" pitchFamily="34" charset="0"/>
            </a:endParaRPr>
          </a:p>
          <a:p>
            <a:r>
              <a:rPr lang="en-US" dirty="0">
                <a:latin typeface="Bahnschrift" panose="020B0502040204020203" pitchFamily="34" charset="0"/>
              </a:rPr>
              <a:t>A16    ------------------&gt; No_of_Crimes_Commited_1996</a:t>
            </a:r>
            <a:endParaRPr lang="en-IN" dirty="0">
              <a:latin typeface="Bahnschrift" panose="020B0502040204020203" pitchFamily="34" charset="0"/>
            </a:endParaRPr>
          </a:p>
          <a:p>
            <a:pPr marL="186262" indent="0">
              <a:buNone/>
            </a:pPr>
            <a:endParaRPr lang="en-IN" dirty="0">
              <a:latin typeface="Bahnschrift" panose="020B0502040204020203" pitchFamily="34" charset="0"/>
            </a:endParaRPr>
          </a:p>
          <a:p>
            <a:pPr>
              <a:buFont typeface="Wingdings" panose="05000000000000000000" pitchFamily="2" charset="2"/>
              <a:buChar char="v"/>
            </a:pPr>
            <a:r>
              <a:rPr lang="en-IN" b="1" u="sng" dirty="0">
                <a:solidFill>
                  <a:srgbClr val="00B050"/>
                </a:solidFill>
                <a:latin typeface="Bahnschrift" panose="020B0502040204020203" pitchFamily="34" charset="0"/>
              </a:rPr>
              <a:t>Loan Table </a:t>
            </a:r>
          </a:p>
          <a:p>
            <a:pPr>
              <a:buFont typeface="Arial" panose="020B0604020202020204" pitchFamily="34" charset="0"/>
              <a:buChar char="•"/>
            </a:pPr>
            <a:r>
              <a:rPr lang="en-IN" dirty="0">
                <a:latin typeface="Bahnschrift" panose="020B0502040204020203" pitchFamily="34" charset="0"/>
              </a:rPr>
              <a:t>There is no need to make changes </a:t>
            </a:r>
          </a:p>
          <a:p>
            <a:pPr marL="186262" indent="0">
              <a:buNone/>
            </a:pPr>
            <a:endParaRPr lang="en-IN" dirty="0"/>
          </a:p>
        </p:txBody>
      </p:sp>
    </p:spTree>
    <p:extLst>
      <p:ext uri="{BB962C8B-B14F-4D97-AF65-F5344CB8AC3E}">
        <p14:creationId xmlns:p14="http://schemas.microsoft.com/office/powerpoint/2010/main" val="22607179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6075742C-F84F-4750-E010-0C53B3BAD743}"/>
              </a:ext>
            </a:extLst>
          </p:cNvPr>
          <p:cNvSpPr txBox="1">
            <a:spLocks/>
          </p:cNvSpPr>
          <p:nvPr/>
        </p:nvSpPr>
        <p:spPr>
          <a:xfrm>
            <a:off x="1" y="0"/>
            <a:ext cx="12192000" cy="698090"/>
          </a:xfrm>
          <a:prstGeom prst="rect">
            <a:avLst/>
          </a:prstGeom>
          <a:solidFill>
            <a:schemeClr val="accent2"/>
          </a:solidFill>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5333" b="0" i="0" u="none" strike="noStrike" cap="none">
                <a:solidFill>
                  <a:schemeClr val="tx1"/>
                </a:solidFill>
                <a:latin typeface="Raleway" pitchFamily="2" charset="0"/>
                <a:ea typeface="Raleway" pitchFamily="2" charset="0"/>
                <a:cs typeface="Arial"/>
                <a:sym typeface="Arial"/>
              </a:defRPr>
            </a:lvl1pPr>
            <a:lvl2pPr marR="0" lvl="1"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a:buClr>
                <a:schemeClr val="accent1"/>
              </a:buClr>
              <a:buSzPts val="2400"/>
            </a:pPr>
            <a:r>
              <a:rPr lang="en-IN" sz="3600" dirty="0">
                <a:latin typeface="Bahnschrift" panose="020B0502040204020203" pitchFamily="34" charset="0"/>
              </a:rPr>
              <a:t>Data Cleaning &amp; Pre-Processing Steps</a:t>
            </a:r>
            <a:r>
              <a:rPr lang="en-US" sz="3600" dirty="0">
                <a:latin typeface="Bahnschrift" panose="020B0502040204020203" pitchFamily="34" charset="0"/>
                <a:sym typeface="PT Sans Narrow"/>
              </a:rPr>
              <a:t> </a:t>
            </a:r>
            <a:endParaRPr lang="en-IN" sz="3600" dirty="0">
              <a:latin typeface="Bahnschrift" panose="020B0502040204020203" pitchFamily="34" charset="0"/>
              <a:sym typeface="PT Sans Narrow"/>
            </a:endParaRPr>
          </a:p>
        </p:txBody>
      </p:sp>
      <p:sp>
        <p:nvSpPr>
          <p:cNvPr id="5" name="Text Placeholder 1">
            <a:extLst>
              <a:ext uri="{FF2B5EF4-FFF2-40B4-BE49-F238E27FC236}">
                <a16:creationId xmlns:a16="http://schemas.microsoft.com/office/drawing/2014/main" id="{DF036D1F-4E1E-E3C5-67F1-E8FA861D8434}"/>
              </a:ext>
            </a:extLst>
          </p:cNvPr>
          <p:cNvSpPr>
            <a:spLocks noGrp="1"/>
          </p:cNvSpPr>
          <p:nvPr>
            <p:ph type="body" idx="1"/>
          </p:nvPr>
        </p:nvSpPr>
        <p:spPr>
          <a:xfrm>
            <a:off x="452284" y="855406"/>
            <a:ext cx="10901516" cy="5123639"/>
          </a:xfrm>
        </p:spPr>
        <p:txBody>
          <a:bodyPr/>
          <a:lstStyle/>
          <a:p>
            <a:pPr>
              <a:buFont typeface="Wingdings" panose="05000000000000000000" pitchFamily="2" charset="2"/>
              <a:buChar char="v"/>
            </a:pPr>
            <a:r>
              <a:rPr lang="en-US" b="1" u="sng" dirty="0">
                <a:solidFill>
                  <a:srgbClr val="00B050"/>
                </a:solidFill>
                <a:latin typeface="Bahnschrift" panose="020B0502040204020203" pitchFamily="34" charset="0"/>
              </a:rPr>
              <a:t>Order Table </a:t>
            </a:r>
          </a:p>
          <a:p>
            <a:pPr>
              <a:buFont typeface="Arial" panose="020B0604020202020204" pitchFamily="34" charset="0"/>
              <a:buChar char="•"/>
            </a:pPr>
            <a:r>
              <a:rPr lang="en-US" dirty="0">
                <a:latin typeface="Bahnschrift" panose="020B0502040204020203" pitchFamily="34" charset="0"/>
              </a:rPr>
              <a:t>In Order Table there is a column called as </a:t>
            </a:r>
            <a:r>
              <a:rPr lang="en-US" dirty="0" err="1">
                <a:latin typeface="Bahnschrift" panose="020B0502040204020203" pitchFamily="34" charset="0"/>
              </a:rPr>
              <a:t>k_symbol</a:t>
            </a:r>
            <a:r>
              <a:rPr lang="en-US" dirty="0">
                <a:latin typeface="Bahnschrift" panose="020B0502040204020203" pitchFamily="34" charset="0"/>
              </a:rPr>
              <a:t> which means describes </a:t>
            </a:r>
            <a:r>
              <a:rPr lang="en-US" b="1" dirty="0">
                <a:latin typeface="Bahnschrift" panose="020B0502040204020203" pitchFamily="34" charset="0"/>
              </a:rPr>
              <a:t>the intended purpose of a payment order</a:t>
            </a:r>
            <a:r>
              <a:rPr lang="en-US" dirty="0">
                <a:latin typeface="Bahnschrift" panose="020B0502040204020203" pitchFamily="34" charset="0"/>
              </a:rPr>
              <a:t>.</a:t>
            </a:r>
          </a:p>
          <a:p>
            <a:pPr>
              <a:buFont typeface="Arial" panose="020B0604020202020204" pitchFamily="34" charset="0"/>
              <a:buChar char="•"/>
            </a:pPr>
            <a:r>
              <a:rPr lang="en-US" dirty="0">
                <a:latin typeface="Bahnschrift" panose="020B0502040204020203" pitchFamily="34" charset="0"/>
              </a:rPr>
              <a:t>The values in this column is in </a:t>
            </a:r>
            <a:r>
              <a:rPr lang="en-IN" dirty="0">
                <a:latin typeface="Bahnschrift" panose="020B0502040204020203" pitchFamily="34" charset="0"/>
              </a:rPr>
              <a:t>Czech</a:t>
            </a:r>
            <a:r>
              <a:rPr lang="en-US" dirty="0">
                <a:latin typeface="Bahnschrift" panose="020B0502040204020203" pitchFamily="34" charset="0"/>
              </a:rPr>
              <a:t> language which need to get converted </a:t>
            </a:r>
          </a:p>
          <a:p>
            <a:pPr>
              <a:buFont typeface="Arial" panose="020B0604020202020204" pitchFamily="34" charset="0"/>
              <a:buChar char="•"/>
            </a:pPr>
            <a:r>
              <a:rPr lang="en-IN" dirty="0">
                <a:latin typeface="Bahnschrift" panose="020B0502040204020203" pitchFamily="34" charset="0"/>
              </a:rPr>
              <a:t>‘UVER‘     ---------</a:t>
            </a:r>
            <a:r>
              <a:rPr lang="en-IN" dirty="0">
                <a:latin typeface="Bahnschrift" panose="020B0502040204020203" pitchFamily="34" charset="0"/>
                <a:sym typeface="Wingdings" panose="05000000000000000000" pitchFamily="2" charset="2"/>
              </a:rPr>
              <a:t>&gt;  ‘</a:t>
            </a:r>
            <a:r>
              <a:rPr lang="en-IN" dirty="0">
                <a:latin typeface="Bahnschrift" panose="020B0502040204020203" pitchFamily="34" charset="0"/>
              </a:rPr>
              <a:t>Loan’</a:t>
            </a:r>
          </a:p>
          <a:p>
            <a:pPr>
              <a:buFont typeface="Arial" panose="020B0604020202020204" pitchFamily="34" charset="0"/>
              <a:buChar char="•"/>
            </a:pPr>
            <a:r>
              <a:rPr lang="en-IN" dirty="0">
                <a:latin typeface="Bahnschrift" panose="020B0502040204020203" pitchFamily="34" charset="0"/>
              </a:rPr>
              <a:t>‘SIPO‘     ---------</a:t>
            </a:r>
            <a:r>
              <a:rPr lang="en-IN" dirty="0">
                <a:latin typeface="Bahnschrift" panose="020B0502040204020203" pitchFamily="34" charset="0"/>
                <a:sym typeface="Wingdings" panose="05000000000000000000" pitchFamily="2" charset="2"/>
              </a:rPr>
              <a:t>&gt;  ‘</a:t>
            </a:r>
            <a:r>
              <a:rPr lang="en-IN" dirty="0" err="1">
                <a:latin typeface="Bahnschrift" panose="020B0502040204020203" pitchFamily="34" charset="0"/>
              </a:rPr>
              <a:t>SIPO_Payments</a:t>
            </a:r>
            <a:r>
              <a:rPr lang="en-IN" dirty="0">
                <a:latin typeface="Bahnschrift" panose="020B0502040204020203" pitchFamily="34" charset="0"/>
              </a:rPr>
              <a:t>’</a:t>
            </a:r>
          </a:p>
          <a:p>
            <a:pPr>
              <a:buFont typeface="Arial" panose="020B0604020202020204" pitchFamily="34" charset="0"/>
              <a:buChar char="•"/>
            </a:pPr>
            <a:r>
              <a:rPr lang="en-IN" dirty="0">
                <a:latin typeface="Bahnschrift" panose="020B0502040204020203" pitchFamily="34" charset="0"/>
              </a:rPr>
              <a:t>‘LEASING‘     ---------</a:t>
            </a:r>
            <a:r>
              <a:rPr lang="en-IN" dirty="0">
                <a:latin typeface="Bahnschrift" panose="020B0502040204020203" pitchFamily="34" charset="0"/>
                <a:sym typeface="Wingdings" panose="05000000000000000000" pitchFamily="2" charset="2"/>
              </a:rPr>
              <a:t>&gt;  ‘</a:t>
            </a:r>
            <a:r>
              <a:rPr lang="en-IN" dirty="0">
                <a:latin typeface="Bahnschrift" panose="020B0502040204020203" pitchFamily="34" charset="0"/>
              </a:rPr>
              <a:t>Leasing’</a:t>
            </a:r>
          </a:p>
          <a:p>
            <a:pPr>
              <a:buFont typeface="Arial" panose="020B0604020202020204" pitchFamily="34" charset="0"/>
              <a:buChar char="•"/>
            </a:pPr>
            <a:r>
              <a:rPr lang="en-IN" dirty="0">
                <a:latin typeface="Bahnschrift" panose="020B0502040204020203" pitchFamily="34" charset="0"/>
              </a:rPr>
              <a:t>‘POJISTNE‘     ---------</a:t>
            </a:r>
            <a:r>
              <a:rPr lang="en-IN" dirty="0">
                <a:latin typeface="Bahnschrift" panose="020B0502040204020203" pitchFamily="34" charset="0"/>
                <a:sym typeface="Wingdings" panose="05000000000000000000" pitchFamily="2" charset="2"/>
              </a:rPr>
              <a:t>&gt;  ‘</a:t>
            </a:r>
            <a:r>
              <a:rPr lang="en-IN" dirty="0">
                <a:latin typeface="Bahnschrift" panose="020B0502040204020203" pitchFamily="34" charset="0"/>
              </a:rPr>
              <a:t>Insurance’</a:t>
            </a:r>
          </a:p>
          <a:p>
            <a:pPr>
              <a:buFont typeface="Arial" panose="020B0604020202020204" pitchFamily="34" charset="0"/>
              <a:buChar char="•"/>
            </a:pPr>
            <a:r>
              <a:rPr lang="en-IN" dirty="0">
                <a:latin typeface="Bahnschrift" panose="020B0502040204020203" pitchFamily="34" charset="0"/>
              </a:rPr>
              <a:t>Nulls            ---------</a:t>
            </a:r>
            <a:r>
              <a:rPr lang="en-IN" dirty="0">
                <a:latin typeface="Bahnschrift" panose="020B0502040204020203" pitchFamily="34" charset="0"/>
                <a:sym typeface="Wingdings" panose="05000000000000000000" pitchFamily="2" charset="2"/>
              </a:rPr>
              <a:t>&gt;</a:t>
            </a:r>
            <a:r>
              <a:rPr lang="en-IN" dirty="0">
                <a:latin typeface="Bahnschrift" panose="020B0502040204020203" pitchFamily="34" charset="0"/>
              </a:rPr>
              <a:t> ‘None’</a:t>
            </a:r>
          </a:p>
          <a:p>
            <a:pPr marL="186262" indent="0">
              <a:buNone/>
            </a:pPr>
            <a:endParaRPr lang="en-IN" dirty="0">
              <a:latin typeface="Bahnschrift" panose="020B0502040204020203" pitchFamily="34" charset="0"/>
            </a:endParaRPr>
          </a:p>
          <a:p>
            <a:pPr>
              <a:buFont typeface="Wingdings" panose="05000000000000000000" pitchFamily="2" charset="2"/>
              <a:buChar char="v"/>
            </a:pPr>
            <a:r>
              <a:rPr lang="en-IN" b="1" u="sng" dirty="0">
                <a:solidFill>
                  <a:srgbClr val="00B050"/>
                </a:solidFill>
                <a:latin typeface="Bahnschrift" panose="020B0502040204020203" pitchFamily="34" charset="0"/>
              </a:rPr>
              <a:t>Trans Table </a:t>
            </a:r>
          </a:p>
          <a:p>
            <a:pPr>
              <a:buFont typeface="Arial" panose="020B0604020202020204" pitchFamily="34" charset="0"/>
              <a:buChar char="•"/>
            </a:pPr>
            <a:r>
              <a:rPr lang="en-IN" dirty="0">
                <a:latin typeface="Bahnschrift" panose="020B0502040204020203" pitchFamily="34" charset="0"/>
              </a:rPr>
              <a:t>In trans table there are columns </a:t>
            </a:r>
            <a:r>
              <a:rPr lang="en-IN" dirty="0" err="1">
                <a:latin typeface="Bahnschrift" panose="020B0502040204020203" pitchFamily="34" charset="0"/>
              </a:rPr>
              <a:t>type,operation,k_symbols</a:t>
            </a:r>
            <a:r>
              <a:rPr lang="en-IN" dirty="0">
                <a:latin typeface="Bahnschrift" panose="020B0502040204020203" pitchFamily="34" charset="0"/>
              </a:rPr>
              <a:t> which is not in the correct language so changed that.</a:t>
            </a:r>
          </a:p>
          <a:p>
            <a:pPr>
              <a:buFont typeface="Arial" panose="020B0604020202020204" pitchFamily="34" charset="0"/>
              <a:buChar char="•"/>
            </a:pPr>
            <a:endParaRPr lang="en-IN" dirty="0"/>
          </a:p>
          <a:p>
            <a:pPr>
              <a:buFont typeface="Arial" panose="020B0604020202020204" pitchFamily="34" charset="0"/>
              <a:buChar char="•"/>
            </a:pPr>
            <a:endParaRPr lang="en-IN" dirty="0"/>
          </a:p>
          <a:p>
            <a:pPr>
              <a:buFont typeface="Arial" panose="020B0604020202020204" pitchFamily="34" charset="0"/>
              <a:buChar char="•"/>
            </a:pPr>
            <a:endParaRPr lang="en-IN" dirty="0"/>
          </a:p>
          <a:p>
            <a:pPr>
              <a:buFont typeface="Arial" panose="020B0604020202020204" pitchFamily="34" charset="0"/>
              <a:buChar char="•"/>
            </a:pPr>
            <a:endParaRPr lang="en-IN" dirty="0"/>
          </a:p>
        </p:txBody>
      </p:sp>
    </p:spTree>
    <p:extLst>
      <p:ext uri="{BB962C8B-B14F-4D97-AF65-F5344CB8AC3E}">
        <p14:creationId xmlns:p14="http://schemas.microsoft.com/office/powerpoint/2010/main" val="12391614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25C1CEE-E14A-525C-E5DC-F3E066ABB2F3}"/>
              </a:ext>
            </a:extLst>
          </p:cNvPr>
          <p:cNvSpPr>
            <a:spLocks noGrp="1"/>
          </p:cNvSpPr>
          <p:nvPr>
            <p:ph type="body" idx="1"/>
          </p:nvPr>
        </p:nvSpPr>
        <p:spPr>
          <a:xfrm>
            <a:off x="540775" y="788522"/>
            <a:ext cx="10832690" cy="5280955"/>
          </a:xfrm>
        </p:spPr>
        <p:txBody>
          <a:bodyPr/>
          <a:lstStyle/>
          <a:p>
            <a:pPr>
              <a:buFont typeface="Wingdings" panose="05000000000000000000" pitchFamily="2" charset="2"/>
              <a:buChar char="v"/>
            </a:pPr>
            <a:r>
              <a:rPr lang="en-US" b="1" u="sng" dirty="0">
                <a:latin typeface="Bahnschrift" panose="020B0502040204020203" pitchFamily="34" charset="0"/>
              </a:rPr>
              <a:t>KPI’s</a:t>
            </a:r>
          </a:p>
          <a:p>
            <a:pPr>
              <a:buFont typeface="Arial" panose="020B0604020202020204" pitchFamily="34" charset="0"/>
              <a:buChar char="•"/>
            </a:pPr>
            <a:r>
              <a:rPr lang="en-US" dirty="0">
                <a:latin typeface="Bahnschrift" panose="020B0502040204020203" pitchFamily="34" charset="0"/>
              </a:rPr>
              <a:t>Total No. Of Accounts </a:t>
            </a:r>
          </a:p>
          <a:p>
            <a:pPr>
              <a:buFont typeface="Arial" panose="020B0604020202020204" pitchFamily="34" charset="0"/>
              <a:buChar char="•"/>
            </a:pPr>
            <a:r>
              <a:rPr lang="en-US" dirty="0">
                <a:latin typeface="Bahnschrift" panose="020B0502040204020203" pitchFamily="34" charset="0"/>
              </a:rPr>
              <a:t>Total No. Of Clients </a:t>
            </a:r>
          </a:p>
          <a:p>
            <a:pPr>
              <a:buFont typeface="Arial" panose="020B0604020202020204" pitchFamily="34" charset="0"/>
              <a:buChar char="•"/>
            </a:pPr>
            <a:r>
              <a:rPr lang="en-US" dirty="0">
                <a:latin typeface="Bahnschrift" panose="020B0502040204020203" pitchFamily="34" charset="0"/>
              </a:rPr>
              <a:t>Total No. Of Loan Granted </a:t>
            </a:r>
          </a:p>
          <a:p>
            <a:pPr>
              <a:buFont typeface="Arial" panose="020B0604020202020204" pitchFamily="34" charset="0"/>
              <a:buChar char="•"/>
            </a:pPr>
            <a:r>
              <a:rPr lang="en-US" dirty="0">
                <a:latin typeface="Bahnschrift" panose="020B0502040204020203" pitchFamily="34" charset="0"/>
              </a:rPr>
              <a:t>No. Of Transaction Type </a:t>
            </a:r>
          </a:p>
          <a:p>
            <a:pPr>
              <a:buFont typeface="Arial" panose="020B0604020202020204" pitchFamily="34" charset="0"/>
              <a:buChar char="•"/>
            </a:pPr>
            <a:r>
              <a:rPr lang="en-US" dirty="0">
                <a:latin typeface="Bahnschrift" panose="020B0502040204020203" pitchFamily="34" charset="0"/>
              </a:rPr>
              <a:t>Max Transaction Flow </a:t>
            </a:r>
          </a:p>
          <a:p>
            <a:pPr>
              <a:buFont typeface="Arial" panose="020B0604020202020204" pitchFamily="34" charset="0"/>
              <a:buChar char="•"/>
            </a:pPr>
            <a:r>
              <a:rPr lang="en-US" dirty="0">
                <a:latin typeface="Bahnschrift" panose="020B0502040204020203" pitchFamily="34" charset="0"/>
              </a:rPr>
              <a:t>Most Used Operation</a:t>
            </a:r>
          </a:p>
          <a:p>
            <a:pPr>
              <a:buFont typeface="Arial" panose="020B0604020202020204" pitchFamily="34" charset="0"/>
              <a:buChar char="•"/>
            </a:pPr>
            <a:r>
              <a:rPr lang="en-US" dirty="0">
                <a:latin typeface="Bahnschrift" panose="020B0502040204020203" pitchFamily="34" charset="0"/>
              </a:rPr>
              <a:t>Top </a:t>
            </a:r>
            <a:r>
              <a:rPr lang="en-US" dirty="0" err="1">
                <a:latin typeface="Bahnschrift" panose="020B0502040204020203" pitchFamily="34" charset="0"/>
              </a:rPr>
              <a:t>K_symbol</a:t>
            </a:r>
            <a:r>
              <a:rPr lang="en-US" dirty="0">
                <a:latin typeface="Bahnschrift" panose="020B0502040204020203" pitchFamily="34" charset="0"/>
              </a:rPr>
              <a:t> </a:t>
            </a:r>
          </a:p>
          <a:p>
            <a:pPr>
              <a:buFont typeface="Arial" panose="020B0604020202020204" pitchFamily="34" charset="0"/>
              <a:buChar char="•"/>
            </a:pPr>
            <a:r>
              <a:rPr lang="en-US" dirty="0">
                <a:latin typeface="Bahnschrift" panose="020B0502040204020203" pitchFamily="34" charset="0"/>
              </a:rPr>
              <a:t>Top 1 District Having Most Transaction </a:t>
            </a:r>
          </a:p>
          <a:p>
            <a:pPr>
              <a:buFont typeface="Arial" panose="020B0604020202020204" pitchFamily="34" charset="0"/>
              <a:buChar char="•"/>
            </a:pPr>
            <a:r>
              <a:rPr lang="en-US" dirty="0">
                <a:latin typeface="Bahnschrift" panose="020B0502040204020203" pitchFamily="34" charset="0"/>
              </a:rPr>
              <a:t>Avg Transaction Amount </a:t>
            </a:r>
          </a:p>
          <a:p>
            <a:pPr>
              <a:buFont typeface="Arial" panose="020B0604020202020204" pitchFamily="34" charset="0"/>
              <a:buChar char="•"/>
            </a:pPr>
            <a:r>
              <a:rPr lang="en-US" dirty="0">
                <a:latin typeface="Bahnschrift" panose="020B0502040204020203" pitchFamily="34" charset="0"/>
              </a:rPr>
              <a:t>Unemployment Rate </a:t>
            </a:r>
            <a:endParaRPr lang="en-IN" dirty="0">
              <a:latin typeface="Bahnschrift" panose="020B0502040204020203" pitchFamily="34" charset="0"/>
            </a:endParaRPr>
          </a:p>
        </p:txBody>
      </p:sp>
      <p:sp>
        <p:nvSpPr>
          <p:cNvPr id="4" name="Title 2">
            <a:extLst>
              <a:ext uri="{FF2B5EF4-FFF2-40B4-BE49-F238E27FC236}">
                <a16:creationId xmlns:a16="http://schemas.microsoft.com/office/drawing/2014/main" id="{EE2BA8EF-19CA-BDB6-2474-5A756E851FBB}"/>
              </a:ext>
            </a:extLst>
          </p:cNvPr>
          <p:cNvSpPr>
            <a:spLocks noGrp="1"/>
          </p:cNvSpPr>
          <p:nvPr>
            <p:ph type="title"/>
          </p:nvPr>
        </p:nvSpPr>
        <p:spPr>
          <a:xfrm>
            <a:off x="0" y="0"/>
            <a:ext cx="12192000" cy="698090"/>
          </a:xfrm>
          <a:solidFill>
            <a:schemeClr val="accent1"/>
          </a:solidFill>
        </p:spPr>
        <p:txBody>
          <a:bodyPr/>
          <a:lstStyle/>
          <a:p>
            <a:pPr algn="ctr"/>
            <a:r>
              <a:rPr lang="en-IN" sz="3600" dirty="0"/>
              <a:t>Business Questions / Analysis</a:t>
            </a:r>
          </a:p>
        </p:txBody>
      </p:sp>
    </p:spTree>
    <p:extLst>
      <p:ext uri="{BB962C8B-B14F-4D97-AF65-F5344CB8AC3E}">
        <p14:creationId xmlns:p14="http://schemas.microsoft.com/office/powerpoint/2010/main" val="26708780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C78568A-E1E5-20B8-F0BC-27FA3C37B02B}"/>
              </a:ext>
            </a:extLst>
          </p:cNvPr>
          <p:cNvSpPr>
            <a:spLocks noGrp="1"/>
          </p:cNvSpPr>
          <p:nvPr>
            <p:ph type="body" idx="1"/>
          </p:nvPr>
        </p:nvSpPr>
        <p:spPr>
          <a:xfrm>
            <a:off x="589935" y="796413"/>
            <a:ext cx="11130117" cy="5182632"/>
          </a:xfrm>
        </p:spPr>
        <p:txBody>
          <a:bodyPr>
            <a:normAutofit lnSpcReduction="10000"/>
          </a:bodyPr>
          <a:lstStyle/>
          <a:p>
            <a:pPr>
              <a:buFont typeface="Wingdings" panose="05000000000000000000" pitchFamily="2" charset="2"/>
              <a:buChar char="v"/>
            </a:pPr>
            <a:r>
              <a:rPr lang="en-US" b="1" u="sng" dirty="0">
                <a:latin typeface="Bahnschrift" panose="020B0502040204020203" pitchFamily="34" charset="0"/>
              </a:rPr>
              <a:t>Descriptive Analysis</a:t>
            </a:r>
          </a:p>
          <a:p>
            <a:pPr>
              <a:buFont typeface="Arial" panose="020B0604020202020204" pitchFamily="34" charset="0"/>
              <a:buChar char="•"/>
            </a:pPr>
            <a:r>
              <a:rPr lang="en-US" dirty="0">
                <a:latin typeface="Bahnschrift" panose="020B0502040204020203" pitchFamily="34" charset="0"/>
              </a:rPr>
              <a:t>Transaction Flow between Accounts &amp; for what operation.</a:t>
            </a:r>
          </a:p>
          <a:p>
            <a:pPr>
              <a:buFont typeface="Arial" panose="020B0604020202020204" pitchFamily="34" charset="0"/>
              <a:buChar char="•"/>
            </a:pPr>
            <a:r>
              <a:rPr lang="en-US" dirty="0">
                <a:latin typeface="Bahnschrift" panose="020B0502040204020203" pitchFamily="34" charset="0"/>
              </a:rPr>
              <a:t>Most Transaction held from which district.</a:t>
            </a:r>
          </a:p>
          <a:p>
            <a:pPr>
              <a:buFont typeface="Arial" panose="020B0604020202020204" pitchFamily="34" charset="0"/>
              <a:buChar char="•"/>
            </a:pPr>
            <a:r>
              <a:rPr lang="en-US" dirty="0">
                <a:latin typeface="Bahnschrift" panose="020B0502040204020203" pitchFamily="34" charset="0"/>
              </a:rPr>
              <a:t>Which Month more Transactions more held.</a:t>
            </a:r>
          </a:p>
          <a:p>
            <a:pPr>
              <a:buFont typeface="Arial" panose="020B0604020202020204" pitchFamily="34" charset="0"/>
              <a:buChar char="•"/>
            </a:pPr>
            <a:r>
              <a:rPr lang="en-US" dirty="0">
                <a:latin typeface="Bahnschrift" panose="020B0502040204020203" pitchFamily="34" charset="0"/>
              </a:rPr>
              <a:t>Which type of Transactions more held.</a:t>
            </a:r>
          </a:p>
          <a:p>
            <a:pPr>
              <a:buFont typeface="Arial" panose="020B0604020202020204" pitchFamily="34" charset="0"/>
              <a:buChar char="•"/>
            </a:pPr>
            <a:r>
              <a:rPr lang="en-US" dirty="0">
                <a:latin typeface="Bahnschrift" panose="020B0502040204020203" pitchFamily="34" charset="0"/>
              </a:rPr>
              <a:t>Which Bank more order are held </a:t>
            </a:r>
          </a:p>
          <a:p>
            <a:pPr>
              <a:buFont typeface="Arial" panose="020B0604020202020204" pitchFamily="34" charset="0"/>
              <a:buChar char="•"/>
            </a:pPr>
            <a:r>
              <a:rPr lang="en-US" dirty="0">
                <a:latin typeface="Bahnschrift" panose="020B0502040204020203" pitchFamily="34" charset="0"/>
              </a:rPr>
              <a:t>Which Type of customer is more (Owner/Deponent).</a:t>
            </a:r>
          </a:p>
          <a:p>
            <a:pPr marL="186262" indent="0">
              <a:buNone/>
            </a:pPr>
            <a:endParaRPr lang="en-US" dirty="0">
              <a:latin typeface="Bahnschrift" panose="020B0502040204020203" pitchFamily="34" charset="0"/>
            </a:endParaRPr>
          </a:p>
          <a:p>
            <a:pPr>
              <a:buFont typeface="Wingdings" panose="05000000000000000000" pitchFamily="2" charset="2"/>
              <a:buChar char="v"/>
            </a:pPr>
            <a:r>
              <a:rPr lang="en-US" b="1" u="sng" dirty="0">
                <a:latin typeface="Bahnschrift" panose="020B0502040204020203" pitchFamily="34" charset="0"/>
              </a:rPr>
              <a:t>Diagnostic Analysis</a:t>
            </a:r>
          </a:p>
          <a:p>
            <a:r>
              <a:rPr lang="en-US" dirty="0">
                <a:latin typeface="Bahnschrift" panose="020B0502040204020203" pitchFamily="34" charset="0"/>
              </a:rPr>
              <a:t>Why did loan is given to a district most.</a:t>
            </a:r>
          </a:p>
          <a:p>
            <a:r>
              <a:rPr lang="en-US" dirty="0">
                <a:latin typeface="Bahnschrift" panose="020B0502040204020203" pitchFamily="34" charset="0"/>
              </a:rPr>
              <a:t>Which Type of customer more going to take long-term loan.</a:t>
            </a:r>
          </a:p>
          <a:p>
            <a:r>
              <a:rPr lang="en-US" dirty="0">
                <a:latin typeface="Bahnschrift" panose="020B0502040204020203" pitchFamily="34" charset="0"/>
              </a:rPr>
              <a:t>What are factors going to take a loan.</a:t>
            </a:r>
          </a:p>
          <a:p>
            <a:pPr>
              <a:buFont typeface="Arial" panose="020B0604020202020204" pitchFamily="34" charset="0"/>
              <a:buChar char="•"/>
            </a:pPr>
            <a:r>
              <a:rPr lang="en-IN" dirty="0">
                <a:latin typeface="Bahnschrift" panose="020B0502040204020203" pitchFamily="34" charset="0"/>
              </a:rPr>
              <a:t>What is the difference between which type of loan.</a:t>
            </a:r>
          </a:p>
        </p:txBody>
      </p:sp>
      <p:sp>
        <p:nvSpPr>
          <p:cNvPr id="4" name="Title 2">
            <a:extLst>
              <a:ext uri="{FF2B5EF4-FFF2-40B4-BE49-F238E27FC236}">
                <a16:creationId xmlns:a16="http://schemas.microsoft.com/office/drawing/2014/main" id="{DF233DAB-35C6-BFCC-5C19-D78048CB72DD}"/>
              </a:ext>
            </a:extLst>
          </p:cNvPr>
          <p:cNvSpPr txBox="1">
            <a:spLocks/>
          </p:cNvSpPr>
          <p:nvPr/>
        </p:nvSpPr>
        <p:spPr>
          <a:xfrm>
            <a:off x="0" y="0"/>
            <a:ext cx="12192000" cy="698090"/>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IN" sz="3600" kern="0"/>
              <a:t>Business Questions / Analysis</a:t>
            </a:r>
            <a:endParaRPr lang="en-IN" sz="3600" kern="0" dirty="0"/>
          </a:p>
        </p:txBody>
      </p:sp>
    </p:spTree>
    <p:extLst>
      <p:ext uri="{BB962C8B-B14F-4D97-AF65-F5344CB8AC3E}">
        <p14:creationId xmlns:p14="http://schemas.microsoft.com/office/powerpoint/2010/main" val="9946282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14743E87-E624-ABE3-1AD1-9F2A10737BB9}"/>
              </a:ext>
            </a:extLst>
          </p:cNvPr>
          <p:cNvSpPr>
            <a:spLocks noGrp="1"/>
          </p:cNvSpPr>
          <p:nvPr>
            <p:ph type="title"/>
          </p:nvPr>
        </p:nvSpPr>
        <p:spPr>
          <a:xfrm>
            <a:off x="0" y="0"/>
            <a:ext cx="12192000" cy="698090"/>
          </a:xfrm>
          <a:solidFill>
            <a:schemeClr val="accent1"/>
          </a:solidFill>
        </p:spPr>
        <p:txBody>
          <a:bodyPr/>
          <a:lstStyle/>
          <a:p>
            <a:pPr algn="ctr"/>
            <a:r>
              <a:rPr lang="en-IN" sz="3600" dirty="0"/>
              <a:t>Business Questions / Analysis</a:t>
            </a:r>
          </a:p>
        </p:txBody>
      </p:sp>
      <p:sp>
        <p:nvSpPr>
          <p:cNvPr id="5" name="Text Placeholder 1">
            <a:extLst>
              <a:ext uri="{FF2B5EF4-FFF2-40B4-BE49-F238E27FC236}">
                <a16:creationId xmlns:a16="http://schemas.microsoft.com/office/drawing/2014/main" id="{459388A2-1FA2-88D0-A807-08FD152978C2}"/>
              </a:ext>
            </a:extLst>
          </p:cNvPr>
          <p:cNvSpPr>
            <a:spLocks noGrp="1"/>
          </p:cNvSpPr>
          <p:nvPr>
            <p:ph type="body" idx="1"/>
          </p:nvPr>
        </p:nvSpPr>
        <p:spPr>
          <a:xfrm>
            <a:off x="68826" y="973394"/>
            <a:ext cx="11316929" cy="5053780"/>
          </a:xfrm>
        </p:spPr>
        <p:txBody>
          <a:bodyPr>
            <a:normAutofit lnSpcReduction="10000"/>
          </a:bodyPr>
          <a:lstStyle/>
          <a:p>
            <a:pPr>
              <a:buFont typeface="Wingdings" panose="05000000000000000000" pitchFamily="2" charset="2"/>
              <a:buChar char="v"/>
            </a:pPr>
            <a:r>
              <a:rPr lang="en-US" b="1" u="sng" dirty="0">
                <a:solidFill>
                  <a:schemeClr val="tx1"/>
                </a:solidFill>
                <a:latin typeface="Bahnschrift" panose="020B0502040204020203" pitchFamily="34" charset="0"/>
              </a:rPr>
              <a:t>Account &amp; Frequency Analysis</a:t>
            </a:r>
          </a:p>
          <a:p>
            <a:r>
              <a:rPr lang="en-US" dirty="0">
                <a:latin typeface="Bahnschrift" panose="020B0502040204020203" pitchFamily="34" charset="0"/>
              </a:rPr>
              <a:t>How many accounts exist under each frequency type?</a:t>
            </a:r>
          </a:p>
          <a:p>
            <a:r>
              <a:rPr lang="en-US" dirty="0">
                <a:latin typeface="Bahnschrift" panose="020B0502040204020203" pitchFamily="34" charset="0"/>
              </a:rPr>
              <a:t>Which month shows the highest number of transactions, and what is the associated account frequency?</a:t>
            </a:r>
          </a:p>
          <a:p>
            <a:pPr>
              <a:buFont typeface="Wingdings" panose="05000000000000000000" pitchFamily="2" charset="2"/>
              <a:buChar char="v"/>
            </a:pPr>
            <a:r>
              <a:rPr lang="en-US" b="1" u="sng" dirty="0">
                <a:latin typeface="Bahnschrift" panose="020B0502040204020203" pitchFamily="34" charset="0"/>
              </a:rPr>
              <a:t>Card Analysis</a:t>
            </a:r>
          </a:p>
          <a:p>
            <a:r>
              <a:rPr lang="en-US" dirty="0">
                <a:latin typeface="Bahnschrift" panose="020B0502040204020203" pitchFamily="34" charset="0"/>
              </a:rPr>
              <a:t>What types of cards exist in the dataset?</a:t>
            </a:r>
          </a:p>
          <a:p>
            <a:r>
              <a:rPr lang="en-US" dirty="0">
                <a:latin typeface="Bahnschrift" panose="020B0502040204020203" pitchFamily="34" charset="0"/>
              </a:rPr>
              <a:t>Which card type is used the most?</a:t>
            </a:r>
          </a:p>
          <a:p>
            <a:r>
              <a:rPr lang="en-US" dirty="0">
                <a:latin typeface="Bahnschrift" panose="020B0502040204020203" pitchFamily="34" charset="0"/>
              </a:rPr>
              <a:t>Which card type is used the least?</a:t>
            </a:r>
          </a:p>
          <a:p>
            <a:pPr>
              <a:buFont typeface="Wingdings" panose="05000000000000000000" pitchFamily="2" charset="2"/>
              <a:buChar char="v"/>
            </a:pPr>
            <a:r>
              <a:rPr lang="en-US" b="1" dirty="0">
                <a:latin typeface="Bahnschrift" panose="020B0502040204020203" pitchFamily="34" charset="0"/>
              </a:rPr>
              <a:t> </a:t>
            </a:r>
            <a:r>
              <a:rPr lang="en-US" b="1" u="sng" dirty="0">
                <a:latin typeface="Bahnschrift" panose="020B0502040204020203" pitchFamily="34" charset="0"/>
              </a:rPr>
              <a:t>Client Demographics &amp; Segmentation</a:t>
            </a:r>
          </a:p>
          <a:p>
            <a:r>
              <a:rPr lang="en-US" dirty="0">
                <a:latin typeface="Bahnschrift" panose="020B0502040204020203" pitchFamily="34" charset="0"/>
              </a:rPr>
              <a:t>Is the customer base dominated by males or females?</a:t>
            </a:r>
          </a:p>
          <a:p>
            <a:r>
              <a:rPr lang="en-US" dirty="0">
                <a:latin typeface="Bahnschrift" panose="020B0502040204020203" pitchFamily="34" charset="0"/>
              </a:rPr>
              <a:t>What are the age groups of male and female clients, and which age group performs the most transactions?</a:t>
            </a:r>
          </a:p>
          <a:p>
            <a:r>
              <a:rPr lang="en-US" altLang="en-US" dirty="0">
                <a:latin typeface="Bahnschrift" panose="020B0502040204020203" pitchFamily="34" charset="0"/>
              </a:rPr>
              <a:t>How does the birth district compare with the district where clients hold their accounts?</a:t>
            </a:r>
          </a:p>
          <a:p>
            <a:r>
              <a:rPr lang="en-US" dirty="0">
                <a:latin typeface="Bahnschrift" panose="020B0502040204020203" pitchFamily="34" charset="0"/>
              </a:rPr>
              <a:t>Which district has the highest number of clients by birth district?</a:t>
            </a:r>
          </a:p>
          <a:p>
            <a:endParaRPr lang="en-US" dirty="0"/>
          </a:p>
          <a:p>
            <a:endParaRPr lang="en-IN" dirty="0"/>
          </a:p>
        </p:txBody>
      </p:sp>
    </p:spTree>
    <p:extLst>
      <p:ext uri="{BB962C8B-B14F-4D97-AF65-F5344CB8AC3E}">
        <p14:creationId xmlns:p14="http://schemas.microsoft.com/office/powerpoint/2010/main" val="9276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CC01CDD5-01F8-6487-B567-8F8EDED921EB}"/>
              </a:ext>
            </a:extLst>
          </p:cNvPr>
          <p:cNvSpPr>
            <a:spLocks noGrp="1"/>
          </p:cNvSpPr>
          <p:nvPr>
            <p:ph type="title"/>
          </p:nvPr>
        </p:nvSpPr>
        <p:spPr>
          <a:xfrm>
            <a:off x="0" y="0"/>
            <a:ext cx="12192000" cy="698090"/>
          </a:xfrm>
          <a:solidFill>
            <a:schemeClr val="accent1"/>
          </a:solidFill>
        </p:spPr>
        <p:txBody>
          <a:bodyPr/>
          <a:lstStyle/>
          <a:p>
            <a:pPr algn="ctr"/>
            <a:r>
              <a:rPr lang="en-IN" sz="3600" dirty="0"/>
              <a:t>Business Questions / Analysis</a:t>
            </a:r>
          </a:p>
        </p:txBody>
      </p:sp>
      <p:sp>
        <p:nvSpPr>
          <p:cNvPr id="5" name="Text Placeholder 1">
            <a:extLst>
              <a:ext uri="{FF2B5EF4-FFF2-40B4-BE49-F238E27FC236}">
                <a16:creationId xmlns:a16="http://schemas.microsoft.com/office/drawing/2014/main" id="{48F644C1-66F4-C27E-BBB1-9FEDC1BAC955}"/>
              </a:ext>
            </a:extLst>
          </p:cNvPr>
          <p:cNvSpPr>
            <a:spLocks noGrp="1"/>
          </p:cNvSpPr>
          <p:nvPr>
            <p:ph type="body" idx="1"/>
          </p:nvPr>
        </p:nvSpPr>
        <p:spPr>
          <a:xfrm>
            <a:off x="147484" y="816077"/>
            <a:ext cx="11206316" cy="5162968"/>
          </a:xfrm>
        </p:spPr>
        <p:txBody>
          <a:bodyPr/>
          <a:lstStyle/>
          <a:p>
            <a:pPr>
              <a:buFont typeface="Wingdings" panose="05000000000000000000" pitchFamily="2" charset="2"/>
              <a:buChar char="v"/>
            </a:pPr>
            <a:r>
              <a:rPr lang="en-US" b="1" u="sng" dirty="0">
                <a:latin typeface="Bahnschrift" panose="020B0502040204020203" pitchFamily="34" charset="0"/>
              </a:rPr>
              <a:t>Account Classification (DISP Table)</a:t>
            </a:r>
          </a:p>
          <a:p>
            <a:r>
              <a:rPr lang="en-US" dirty="0">
                <a:latin typeface="Bahnschrift" panose="020B0502040204020203" pitchFamily="34" charset="0"/>
              </a:rPr>
              <a:t>How can we classify accounts based on disposition type (e.g., owner, joint, authorized user)?</a:t>
            </a:r>
          </a:p>
          <a:p>
            <a:pPr>
              <a:buFont typeface="Wingdings" panose="05000000000000000000" pitchFamily="2" charset="2"/>
              <a:buChar char="v"/>
            </a:pPr>
            <a:r>
              <a:rPr lang="en-US" b="1" u="sng" dirty="0">
                <a:latin typeface="Bahnschrift" panose="020B0502040204020203" pitchFamily="34" charset="0"/>
              </a:rPr>
              <a:t>District-Level Insights</a:t>
            </a:r>
          </a:p>
          <a:p>
            <a:r>
              <a:rPr lang="en-US" dirty="0">
                <a:latin typeface="Bahnschrift" panose="020B0502040204020203" pitchFamily="34" charset="0"/>
              </a:rPr>
              <a:t>How is the population distributed across districts?</a:t>
            </a:r>
          </a:p>
          <a:p>
            <a:r>
              <a:rPr lang="en-US" dirty="0">
                <a:latin typeface="Bahnschrift" panose="020B0502040204020203" pitchFamily="34" charset="0"/>
              </a:rPr>
              <a:t>What is the average level of urbanization by district?</a:t>
            </a:r>
          </a:p>
          <a:p>
            <a:r>
              <a:rPr lang="en-US" dirty="0">
                <a:latin typeface="Bahnschrift" panose="020B0502040204020203" pitchFamily="34" charset="0"/>
              </a:rPr>
              <a:t>How do urban and rural districts differ in terms of urbanization percentage?</a:t>
            </a:r>
          </a:p>
          <a:p>
            <a:r>
              <a:rPr lang="en-US" dirty="0">
                <a:latin typeface="Bahnschrift" panose="020B0502040204020203" pitchFamily="34" charset="0"/>
              </a:rPr>
              <a:t>How does the average salary compare between urbanized and rural districts?</a:t>
            </a:r>
          </a:p>
          <a:p>
            <a:r>
              <a:rPr lang="en-US" dirty="0">
                <a:latin typeface="Bahnschrift" panose="020B0502040204020203" pitchFamily="34" charset="0"/>
              </a:rPr>
              <a:t>Which district has the highest average salary, and which has the lowest?</a:t>
            </a:r>
          </a:p>
          <a:p>
            <a:r>
              <a:rPr lang="en-US" dirty="0">
                <a:latin typeface="Bahnschrift" panose="020B0502040204020203" pitchFamily="34" charset="0"/>
              </a:rPr>
              <a:t>Which district has the highest unemployment rate?</a:t>
            </a:r>
          </a:p>
          <a:p>
            <a:r>
              <a:rPr lang="en-US" dirty="0">
                <a:latin typeface="Bahnschrift" panose="020B0502040204020203" pitchFamily="34" charset="0"/>
              </a:rPr>
              <a:t>Which districts have the most entrepreneurs, and what does this indicate about repayment capacity?</a:t>
            </a:r>
          </a:p>
          <a:p>
            <a:r>
              <a:rPr lang="en-US" dirty="0">
                <a:latin typeface="Bahnschrift" panose="020B0502040204020203" pitchFamily="34" charset="0"/>
              </a:rPr>
              <a:t>Which district has the highest number of criminal cases?</a:t>
            </a:r>
          </a:p>
          <a:p>
            <a:r>
              <a:rPr lang="en-US" dirty="0">
                <a:latin typeface="Bahnschrift" panose="020B0502040204020203" pitchFamily="34" charset="0"/>
              </a:rPr>
              <a:t>How is the population divided among the different types of municipalities?</a:t>
            </a:r>
          </a:p>
          <a:p>
            <a:endParaRPr lang="en-IN" dirty="0"/>
          </a:p>
        </p:txBody>
      </p:sp>
    </p:spTree>
    <p:extLst>
      <p:ext uri="{BB962C8B-B14F-4D97-AF65-F5344CB8AC3E}">
        <p14:creationId xmlns:p14="http://schemas.microsoft.com/office/powerpoint/2010/main" val="27664312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3E76FDF2-9CE6-B5B7-0737-1E46CBE13A2C}"/>
              </a:ext>
            </a:extLst>
          </p:cNvPr>
          <p:cNvSpPr txBox="1">
            <a:spLocks/>
          </p:cNvSpPr>
          <p:nvPr/>
        </p:nvSpPr>
        <p:spPr>
          <a:xfrm>
            <a:off x="0" y="0"/>
            <a:ext cx="12192000" cy="698090"/>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IN" sz="3600" kern="0"/>
              <a:t>Business Questions / Analysis</a:t>
            </a:r>
            <a:endParaRPr lang="en-IN" sz="3600" kern="0" dirty="0"/>
          </a:p>
        </p:txBody>
      </p:sp>
      <p:sp>
        <p:nvSpPr>
          <p:cNvPr id="5" name="Text Placeholder 1">
            <a:extLst>
              <a:ext uri="{FF2B5EF4-FFF2-40B4-BE49-F238E27FC236}">
                <a16:creationId xmlns:a16="http://schemas.microsoft.com/office/drawing/2014/main" id="{CB97E74F-8771-F4D1-4EA8-61467AF3F07E}"/>
              </a:ext>
            </a:extLst>
          </p:cNvPr>
          <p:cNvSpPr>
            <a:spLocks noGrp="1"/>
          </p:cNvSpPr>
          <p:nvPr>
            <p:ph type="body" idx="1"/>
          </p:nvPr>
        </p:nvSpPr>
        <p:spPr>
          <a:xfrm>
            <a:off x="88490" y="776748"/>
            <a:ext cx="11720051" cy="5447071"/>
          </a:xfrm>
        </p:spPr>
        <p:txBody>
          <a:bodyPr>
            <a:normAutofit lnSpcReduction="10000"/>
          </a:bodyPr>
          <a:lstStyle/>
          <a:p>
            <a:pPr>
              <a:buFont typeface="Wingdings" panose="05000000000000000000" pitchFamily="2" charset="2"/>
              <a:buChar char="v"/>
            </a:pPr>
            <a:r>
              <a:rPr lang="en-US" b="1" u="sng" dirty="0">
                <a:latin typeface="Bahnschrift" panose="020B0502040204020203" pitchFamily="34" charset="0"/>
              </a:rPr>
              <a:t>Loan Analysis</a:t>
            </a:r>
          </a:p>
          <a:p>
            <a:r>
              <a:rPr lang="en-US" dirty="0">
                <a:latin typeface="Bahnschrift" panose="020B0502040204020203" pitchFamily="34" charset="0"/>
              </a:rPr>
              <a:t>Which loan type or duration is most in demand?</a:t>
            </a:r>
          </a:p>
          <a:p>
            <a:r>
              <a:rPr lang="en-US" dirty="0">
                <a:latin typeface="Bahnschrift" panose="020B0502040204020203" pitchFamily="34" charset="0"/>
              </a:rPr>
              <a:t>How can loan amounts be segmented into high-value vs low-value loans?</a:t>
            </a:r>
          </a:p>
          <a:p>
            <a:r>
              <a:rPr lang="en-US" dirty="0">
                <a:latin typeface="Bahnschrift" panose="020B0502040204020203" pitchFamily="34" charset="0"/>
              </a:rPr>
              <a:t>How does the loan amount compare with payments, and can we predict loan repayment behavior?</a:t>
            </a:r>
          </a:p>
          <a:p>
            <a:r>
              <a:rPr lang="en-US" dirty="0">
                <a:latin typeface="Bahnschrift" panose="020B0502040204020203" pitchFamily="34" charset="0"/>
              </a:rPr>
              <a:t>How many customers fall under each loan status (A, B, C, D), and what are the characteristics of high-risk (status D) customers?</a:t>
            </a:r>
          </a:p>
          <a:p>
            <a:pPr>
              <a:buFont typeface="Wingdings" panose="05000000000000000000" pitchFamily="2" charset="2"/>
              <a:buChar char="v"/>
            </a:pPr>
            <a:r>
              <a:rPr lang="en-US" b="1" dirty="0">
                <a:latin typeface="Bahnschrift" panose="020B0502040204020203" pitchFamily="34" charset="0"/>
              </a:rPr>
              <a:t> </a:t>
            </a:r>
            <a:r>
              <a:rPr lang="en-US" b="1" u="sng" dirty="0">
                <a:latin typeface="Bahnschrift" panose="020B0502040204020203" pitchFamily="34" charset="0"/>
              </a:rPr>
              <a:t>Orders Table Analysis</a:t>
            </a:r>
          </a:p>
          <a:p>
            <a:r>
              <a:rPr lang="en-US" dirty="0">
                <a:latin typeface="Bahnschrift" panose="020B0502040204020203" pitchFamily="34" charset="0"/>
              </a:rPr>
              <a:t>What is the total value of all orders?</a:t>
            </a:r>
          </a:p>
          <a:p>
            <a:r>
              <a:rPr lang="en-US" dirty="0">
                <a:latin typeface="Bahnschrift" panose="020B0502040204020203" pitchFamily="34" charset="0"/>
              </a:rPr>
              <a:t>Which </a:t>
            </a:r>
            <a:r>
              <a:rPr lang="en-US" dirty="0" err="1">
                <a:latin typeface="Bahnschrift" panose="020B0502040204020203" pitchFamily="34" charset="0"/>
              </a:rPr>
              <a:t>bank_to</a:t>
            </a:r>
            <a:r>
              <a:rPr lang="en-US" dirty="0">
                <a:latin typeface="Bahnschrift" panose="020B0502040204020203" pitchFamily="34" charset="0"/>
              </a:rPr>
              <a:t> receives the highest payment volume?</a:t>
            </a:r>
          </a:p>
          <a:p>
            <a:r>
              <a:rPr lang="en-US" dirty="0">
                <a:latin typeface="Bahnschrift" panose="020B0502040204020203" pitchFamily="34" charset="0"/>
              </a:rPr>
              <a:t>Which </a:t>
            </a:r>
            <a:r>
              <a:rPr lang="en-US" dirty="0" err="1">
                <a:latin typeface="Bahnschrift" panose="020B0502040204020203" pitchFamily="34" charset="0"/>
              </a:rPr>
              <a:t>bank_to</a:t>
            </a:r>
            <a:r>
              <a:rPr lang="en-US" dirty="0">
                <a:latin typeface="Bahnschrift" panose="020B0502040204020203" pitchFamily="34" charset="0"/>
              </a:rPr>
              <a:t> is associated with which order type?</a:t>
            </a:r>
          </a:p>
          <a:p>
            <a:r>
              <a:rPr lang="en-US" dirty="0">
                <a:latin typeface="Bahnschrift" panose="020B0502040204020203" pitchFamily="34" charset="0"/>
              </a:rPr>
              <a:t>Which order type (based on </a:t>
            </a:r>
            <a:r>
              <a:rPr lang="en-US" dirty="0" err="1">
                <a:latin typeface="Bahnschrift" panose="020B0502040204020203" pitchFamily="34" charset="0"/>
              </a:rPr>
              <a:t>k_symbol</a:t>
            </a:r>
            <a:r>
              <a:rPr lang="en-US" dirty="0">
                <a:latin typeface="Bahnschrift" panose="020B0502040204020203" pitchFamily="34" charset="0"/>
              </a:rPr>
              <a:t>) is the most common?</a:t>
            </a:r>
          </a:p>
          <a:p>
            <a:pPr>
              <a:buFont typeface="Wingdings" panose="05000000000000000000" pitchFamily="2" charset="2"/>
              <a:buChar char="v"/>
            </a:pPr>
            <a:r>
              <a:rPr lang="en-US" b="1" dirty="0">
                <a:latin typeface="Bahnschrift" panose="020B0502040204020203" pitchFamily="34" charset="0"/>
              </a:rPr>
              <a:t> </a:t>
            </a:r>
            <a:r>
              <a:rPr lang="en-US" b="1" u="sng" dirty="0">
                <a:latin typeface="Bahnschrift" panose="020B0502040204020203" pitchFamily="34" charset="0"/>
              </a:rPr>
              <a:t>Transaction Flow Analysis</a:t>
            </a:r>
          </a:p>
          <a:p>
            <a:r>
              <a:rPr lang="en-US" dirty="0">
                <a:latin typeface="Bahnschrift" panose="020B0502040204020203" pitchFamily="34" charset="0"/>
              </a:rPr>
              <a:t>What type of transaction is happening — debit or credit?</a:t>
            </a:r>
          </a:p>
          <a:p>
            <a:r>
              <a:rPr lang="en-US" dirty="0">
                <a:latin typeface="Bahnschrift" panose="020B0502040204020203" pitchFamily="34" charset="0"/>
              </a:rPr>
              <a:t>How much money is being moved overall, and through which transaction types or operations?</a:t>
            </a:r>
          </a:p>
          <a:p>
            <a:endParaRPr lang="en-IN" dirty="0"/>
          </a:p>
        </p:txBody>
      </p:sp>
    </p:spTree>
    <p:extLst>
      <p:ext uri="{BB962C8B-B14F-4D97-AF65-F5344CB8AC3E}">
        <p14:creationId xmlns:p14="http://schemas.microsoft.com/office/powerpoint/2010/main" val="18232913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917E2980-E80C-E8AE-6989-B8079891A663}"/>
              </a:ext>
            </a:extLst>
          </p:cNvPr>
          <p:cNvSpPr txBox="1">
            <a:spLocks/>
          </p:cNvSpPr>
          <p:nvPr/>
        </p:nvSpPr>
        <p:spPr>
          <a:xfrm>
            <a:off x="0" y="2458065"/>
            <a:ext cx="12192000" cy="865238"/>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US" sz="5400" kern="0" dirty="0"/>
              <a:t>Dashboard Layouts</a:t>
            </a:r>
            <a:endParaRPr lang="en-IN" sz="5400" kern="0" dirty="0"/>
          </a:p>
        </p:txBody>
      </p:sp>
    </p:spTree>
    <p:extLst>
      <p:ext uri="{BB962C8B-B14F-4D97-AF65-F5344CB8AC3E}">
        <p14:creationId xmlns:p14="http://schemas.microsoft.com/office/powerpoint/2010/main" val="25867013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25723511-6E53-FC7A-0C98-4149CE170559}"/>
              </a:ext>
            </a:extLst>
          </p:cNvPr>
          <p:cNvSpPr txBox="1">
            <a:spLocks/>
          </p:cNvSpPr>
          <p:nvPr/>
        </p:nvSpPr>
        <p:spPr>
          <a:xfrm>
            <a:off x="0" y="0"/>
            <a:ext cx="12192000" cy="698090"/>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US" sz="3600" dirty="0"/>
              <a:t>Banking Customer Analytics Dashboard Overview</a:t>
            </a:r>
            <a:endParaRPr lang="en-IN" sz="3600" kern="0" dirty="0"/>
          </a:p>
        </p:txBody>
      </p:sp>
      <p:sp>
        <p:nvSpPr>
          <p:cNvPr id="3" name="Rectangle 2">
            <a:extLst>
              <a:ext uri="{FF2B5EF4-FFF2-40B4-BE49-F238E27FC236}">
                <a16:creationId xmlns:a16="http://schemas.microsoft.com/office/drawing/2014/main" id="{3ECE9489-F9A3-E57D-E37C-D5CB750D5A26}"/>
              </a:ext>
            </a:extLst>
          </p:cNvPr>
          <p:cNvSpPr/>
          <p:nvPr/>
        </p:nvSpPr>
        <p:spPr>
          <a:xfrm>
            <a:off x="117987" y="934065"/>
            <a:ext cx="11897032" cy="5270090"/>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1E024EA8-B5D1-FA8B-B69B-DF81132D6D2F}"/>
              </a:ext>
            </a:extLst>
          </p:cNvPr>
          <p:cNvSpPr/>
          <p:nvPr/>
        </p:nvSpPr>
        <p:spPr>
          <a:xfrm>
            <a:off x="117987" y="934065"/>
            <a:ext cx="11897032" cy="6980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2"/>
                </a:solidFill>
                <a:effectLst>
                  <a:outerShdw blurRad="38100" dist="38100" dir="2700000" algn="tl">
                    <a:srgbClr val="000000">
                      <a:alpha val="43137"/>
                    </a:srgbClr>
                  </a:outerShdw>
                </a:effectLst>
              </a:rPr>
              <a:t>Customer Analysis </a:t>
            </a:r>
            <a:endParaRPr lang="en-IN" sz="3200" b="1" dirty="0">
              <a:solidFill>
                <a:schemeClr val="bg2"/>
              </a:solidFill>
              <a:effectLst>
                <a:outerShdw blurRad="38100" dist="38100" dir="2700000" algn="tl">
                  <a:srgbClr val="000000">
                    <a:alpha val="43137"/>
                  </a:srgbClr>
                </a:outerShdw>
              </a:effectLst>
            </a:endParaRPr>
          </a:p>
        </p:txBody>
      </p:sp>
      <p:pic>
        <p:nvPicPr>
          <p:cNvPr id="6" name="Picture 5">
            <a:extLst>
              <a:ext uri="{FF2B5EF4-FFF2-40B4-BE49-F238E27FC236}">
                <a16:creationId xmlns:a16="http://schemas.microsoft.com/office/drawing/2014/main" id="{5DF8B045-3587-37DC-58E5-92C7195D06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981" y="979923"/>
            <a:ext cx="917804" cy="606373"/>
          </a:xfrm>
          <a:prstGeom prst="rect">
            <a:avLst/>
          </a:prstGeom>
        </p:spPr>
      </p:pic>
      <p:sp>
        <p:nvSpPr>
          <p:cNvPr id="12" name="Rectangle 11">
            <a:extLst>
              <a:ext uri="{FF2B5EF4-FFF2-40B4-BE49-F238E27FC236}">
                <a16:creationId xmlns:a16="http://schemas.microsoft.com/office/drawing/2014/main" id="{E7330A4F-DA53-9C20-B5E6-9B7CA8E4C4FB}"/>
              </a:ext>
            </a:extLst>
          </p:cNvPr>
          <p:cNvSpPr/>
          <p:nvPr/>
        </p:nvSpPr>
        <p:spPr>
          <a:xfrm>
            <a:off x="117986" y="1632155"/>
            <a:ext cx="3224981" cy="963561"/>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ysClr val="windowText" lastClr="000000"/>
                </a:solidFill>
              </a:rPr>
              <a:t>Total Customer</a:t>
            </a:r>
            <a:endParaRPr lang="en-IN" sz="2400" dirty="0">
              <a:solidFill>
                <a:sysClr val="windowText" lastClr="000000"/>
              </a:solidFill>
            </a:endParaRPr>
          </a:p>
        </p:txBody>
      </p:sp>
      <p:sp>
        <p:nvSpPr>
          <p:cNvPr id="13" name="Rectangle 12">
            <a:extLst>
              <a:ext uri="{FF2B5EF4-FFF2-40B4-BE49-F238E27FC236}">
                <a16:creationId xmlns:a16="http://schemas.microsoft.com/office/drawing/2014/main" id="{209D1336-C4CF-34A7-233A-475C3E7C93F5}"/>
              </a:ext>
            </a:extLst>
          </p:cNvPr>
          <p:cNvSpPr/>
          <p:nvPr/>
        </p:nvSpPr>
        <p:spPr>
          <a:xfrm>
            <a:off x="3342968" y="1632153"/>
            <a:ext cx="3008671" cy="963561"/>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ysClr val="windowText" lastClr="000000"/>
                </a:solidFill>
              </a:rPr>
              <a:t>Total Accounts</a:t>
            </a:r>
            <a:endParaRPr lang="en-IN" sz="2400" dirty="0">
              <a:solidFill>
                <a:sysClr val="windowText" lastClr="000000"/>
              </a:solidFill>
            </a:endParaRPr>
          </a:p>
        </p:txBody>
      </p:sp>
      <p:sp>
        <p:nvSpPr>
          <p:cNvPr id="14" name="Rectangle 13">
            <a:extLst>
              <a:ext uri="{FF2B5EF4-FFF2-40B4-BE49-F238E27FC236}">
                <a16:creationId xmlns:a16="http://schemas.microsoft.com/office/drawing/2014/main" id="{65D0E512-BDB0-2749-9FD3-B373AE0702B0}"/>
              </a:ext>
            </a:extLst>
          </p:cNvPr>
          <p:cNvSpPr/>
          <p:nvPr/>
        </p:nvSpPr>
        <p:spPr>
          <a:xfrm>
            <a:off x="6351639" y="1632153"/>
            <a:ext cx="2831690" cy="963561"/>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ysClr val="windowText" lastClr="000000"/>
                </a:solidFill>
              </a:rPr>
              <a:t>Avg Transaction Flow</a:t>
            </a:r>
            <a:endParaRPr lang="en-IN" sz="2400" dirty="0">
              <a:solidFill>
                <a:sysClr val="windowText" lastClr="000000"/>
              </a:solidFill>
            </a:endParaRPr>
          </a:p>
        </p:txBody>
      </p:sp>
      <p:sp>
        <p:nvSpPr>
          <p:cNvPr id="15" name="Rectangle 14">
            <a:extLst>
              <a:ext uri="{FF2B5EF4-FFF2-40B4-BE49-F238E27FC236}">
                <a16:creationId xmlns:a16="http://schemas.microsoft.com/office/drawing/2014/main" id="{2498F38A-67D3-454D-7EBE-DCB9FC698D1A}"/>
              </a:ext>
            </a:extLst>
          </p:cNvPr>
          <p:cNvSpPr/>
          <p:nvPr/>
        </p:nvSpPr>
        <p:spPr>
          <a:xfrm>
            <a:off x="9183329" y="1632153"/>
            <a:ext cx="2831690" cy="963561"/>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ysClr val="windowText" lastClr="000000"/>
                </a:solidFill>
              </a:rPr>
              <a:t>Most Transaction Operations</a:t>
            </a:r>
            <a:endParaRPr lang="en-IN" sz="2400" dirty="0">
              <a:solidFill>
                <a:sysClr val="windowText" lastClr="000000"/>
              </a:solidFill>
            </a:endParaRPr>
          </a:p>
        </p:txBody>
      </p:sp>
      <p:sp>
        <p:nvSpPr>
          <p:cNvPr id="16" name="Rectangle 15">
            <a:extLst>
              <a:ext uri="{FF2B5EF4-FFF2-40B4-BE49-F238E27FC236}">
                <a16:creationId xmlns:a16="http://schemas.microsoft.com/office/drawing/2014/main" id="{EF02DA60-E8BB-7745-6A0C-33C716C79019}"/>
              </a:ext>
            </a:extLst>
          </p:cNvPr>
          <p:cNvSpPr/>
          <p:nvPr/>
        </p:nvSpPr>
        <p:spPr>
          <a:xfrm>
            <a:off x="5506067" y="2595715"/>
            <a:ext cx="3500282" cy="179930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t>
            </a:r>
            <a:r>
              <a:rPr lang="en-US" dirty="0" err="1">
                <a:solidFill>
                  <a:sysClr val="windowText" lastClr="000000"/>
                </a:solidFill>
              </a:rPr>
              <a:t>Pie_Chart</a:t>
            </a:r>
            <a:r>
              <a:rPr lang="en-US" dirty="0">
                <a:solidFill>
                  <a:sysClr val="windowText" lastClr="000000"/>
                </a:solidFill>
              </a:rPr>
              <a:t>]</a:t>
            </a:r>
          </a:p>
          <a:p>
            <a:pPr algn="ctr"/>
            <a:r>
              <a:rPr lang="en-US" dirty="0">
                <a:solidFill>
                  <a:sysClr val="windowText" lastClr="000000"/>
                </a:solidFill>
              </a:rPr>
              <a:t>[ Distribution of </a:t>
            </a:r>
            <a:r>
              <a:rPr lang="en-US" dirty="0" err="1">
                <a:solidFill>
                  <a:sysClr val="windowText" lastClr="000000"/>
                </a:solidFill>
              </a:rPr>
              <a:t>cust</a:t>
            </a:r>
            <a:r>
              <a:rPr lang="en-US" dirty="0">
                <a:solidFill>
                  <a:sysClr val="windowText" lastClr="000000"/>
                </a:solidFill>
              </a:rPr>
              <a:t> based on card type ]</a:t>
            </a:r>
            <a:endParaRPr lang="en-IN" dirty="0">
              <a:solidFill>
                <a:sysClr val="windowText" lastClr="000000"/>
              </a:solidFill>
            </a:endParaRPr>
          </a:p>
        </p:txBody>
      </p:sp>
      <p:sp>
        <p:nvSpPr>
          <p:cNvPr id="17" name="Rectangle 16">
            <a:extLst>
              <a:ext uri="{FF2B5EF4-FFF2-40B4-BE49-F238E27FC236}">
                <a16:creationId xmlns:a16="http://schemas.microsoft.com/office/drawing/2014/main" id="{121DA123-D46F-EEEE-74AA-C69DA16DBE66}"/>
              </a:ext>
            </a:extLst>
          </p:cNvPr>
          <p:cNvSpPr/>
          <p:nvPr/>
        </p:nvSpPr>
        <p:spPr>
          <a:xfrm>
            <a:off x="9006348" y="2595715"/>
            <a:ext cx="3008671" cy="179930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[Bar Chart]</a:t>
            </a:r>
          </a:p>
          <a:p>
            <a:pPr algn="ctr"/>
            <a:r>
              <a:rPr lang="en-US" dirty="0">
                <a:solidFill>
                  <a:sysClr val="windowText" lastClr="000000"/>
                </a:solidFill>
              </a:rPr>
              <a:t>Type Of Customer</a:t>
            </a:r>
            <a:endParaRPr lang="en-IN" dirty="0">
              <a:solidFill>
                <a:sysClr val="windowText" lastClr="000000"/>
              </a:solidFill>
            </a:endParaRPr>
          </a:p>
        </p:txBody>
      </p:sp>
      <p:sp>
        <p:nvSpPr>
          <p:cNvPr id="18" name="Rectangle 17">
            <a:extLst>
              <a:ext uri="{FF2B5EF4-FFF2-40B4-BE49-F238E27FC236}">
                <a16:creationId xmlns:a16="http://schemas.microsoft.com/office/drawing/2014/main" id="{57945CF1-6064-1FDA-4192-D2EEBA852E4C}"/>
              </a:ext>
            </a:extLst>
          </p:cNvPr>
          <p:cNvSpPr/>
          <p:nvPr/>
        </p:nvSpPr>
        <p:spPr>
          <a:xfrm>
            <a:off x="127821" y="2595713"/>
            <a:ext cx="1199535" cy="36084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Slicer</a:t>
            </a:r>
          </a:p>
          <a:p>
            <a:pPr algn="ctr"/>
            <a:endParaRPr lang="en-US" dirty="0">
              <a:solidFill>
                <a:sysClr val="windowText" lastClr="000000"/>
              </a:solidFill>
            </a:endParaRPr>
          </a:p>
          <a:p>
            <a:pPr algn="ctr"/>
            <a:r>
              <a:rPr lang="en-US" dirty="0">
                <a:solidFill>
                  <a:sysClr val="windowText" lastClr="000000"/>
                </a:solidFill>
              </a:rPr>
              <a:t>1)Weekend/Weekdays</a:t>
            </a:r>
          </a:p>
          <a:p>
            <a:pPr algn="ctr"/>
            <a:endParaRPr lang="en-US" dirty="0">
              <a:solidFill>
                <a:sysClr val="windowText" lastClr="000000"/>
              </a:solidFill>
            </a:endParaRPr>
          </a:p>
          <a:p>
            <a:pPr algn="ctr"/>
            <a:r>
              <a:rPr lang="en-US" dirty="0">
                <a:solidFill>
                  <a:sysClr val="windowText" lastClr="000000"/>
                </a:solidFill>
              </a:rPr>
              <a:t>2)Yearly</a:t>
            </a:r>
          </a:p>
          <a:p>
            <a:pPr algn="ctr"/>
            <a:endParaRPr lang="en-US" dirty="0">
              <a:solidFill>
                <a:sysClr val="windowText" lastClr="000000"/>
              </a:solidFill>
            </a:endParaRPr>
          </a:p>
          <a:p>
            <a:pPr algn="ctr"/>
            <a:r>
              <a:rPr lang="en-US" dirty="0">
                <a:solidFill>
                  <a:sysClr val="windowText" lastClr="000000"/>
                </a:solidFill>
              </a:rPr>
              <a:t>3) Quarterly </a:t>
            </a:r>
          </a:p>
          <a:p>
            <a:pPr algn="ctr"/>
            <a:endParaRPr lang="en-IN" dirty="0"/>
          </a:p>
        </p:txBody>
      </p:sp>
      <p:sp>
        <p:nvSpPr>
          <p:cNvPr id="19" name="Rectangle 18">
            <a:extLst>
              <a:ext uri="{FF2B5EF4-FFF2-40B4-BE49-F238E27FC236}">
                <a16:creationId xmlns:a16="http://schemas.microsoft.com/office/drawing/2014/main" id="{EC8A7AC9-A675-A1A8-FD01-C590E3DFEDCD}"/>
              </a:ext>
            </a:extLst>
          </p:cNvPr>
          <p:cNvSpPr/>
          <p:nvPr/>
        </p:nvSpPr>
        <p:spPr>
          <a:xfrm>
            <a:off x="1337191" y="2595714"/>
            <a:ext cx="4159041" cy="179930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[Histogram]</a:t>
            </a:r>
          </a:p>
          <a:p>
            <a:pPr algn="ctr"/>
            <a:r>
              <a:rPr lang="en-US" dirty="0">
                <a:solidFill>
                  <a:sysClr val="windowText" lastClr="000000"/>
                </a:solidFill>
              </a:rPr>
              <a:t>Type of frequency by accounted count</a:t>
            </a:r>
            <a:endParaRPr lang="en-IN" dirty="0">
              <a:solidFill>
                <a:sysClr val="windowText" lastClr="000000"/>
              </a:solidFill>
            </a:endParaRPr>
          </a:p>
        </p:txBody>
      </p:sp>
      <p:sp>
        <p:nvSpPr>
          <p:cNvPr id="20" name="Rectangle 19">
            <a:extLst>
              <a:ext uri="{FF2B5EF4-FFF2-40B4-BE49-F238E27FC236}">
                <a16:creationId xmlns:a16="http://schemas.microsoft.com/office/drawing/2014/main" id="{70F46485-3051-6D1D-2D52-9C6625263CC1}"/>
              </a:ext>
            </a:extLst>
          </p:cNvPr>
          <p:cNvSpPr/>
          <p:nvPr/>
        </p:nvSpPr>
        <p:spPr>
          <a:xfrm>
            <a:off x="1337191" y="4395020"/>
            <a:ext cx="4168876" cy="179930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t>
            </a:r>
            <a:r>
              <a:rPr lang="en-IN" dirty="0">
                <a:solidFill>
                  <a:sysClr val="windowText" lastClr="000000"/>
                </a:solidFill>
              </a:rPr>
              <a:t>Doughnut</a:t>
            </a:r>
            <a:r>
              <a:rPr lang="en-US" dirty="0">
                <a:solidFill>
                  <a:sysClr val="windowText" lastClr="000000"/>
                </a:solidFill>
              </a:rPr>
              <a:t> Chart]</a:t>
            </a:r>
          </a:p>
          <a:p>
            <a:pPr algn="ctr"/>
            <a:r>
              <a:rPr lang="en-US" dirty="0">
                <a:solidFill>
                  <a:sysClr val="windowText" lastClr="000000"/>
                </a:solidFill>
              </a:rPr>
              <a:t>Distribution of customer based on Customer Demographic</a:t>
            </a:r>
            <a:endParaRPr lang="en-IN" dirty="0">
              <a:solidFill>
                <a:sysClr val="windowText" lastClr="000000"/>
              </a:solidFill>
            </a:endParaRPr>
          </a:p>
        </p:txBody>
      </p:sp>
      <p:sp>
        <p:nvSpPr>
          <p:cNvPr id="21" name="Rectangle 20">
            <a:extLst>
              <a:ext uri="{FF2B5EF4-FFF2-40B4-BE49-F238E27FC236}">
                <a16:creationId xmlns:a16="http://schemas.microsoft.com/office/drawing/2014/main" id="{91775508-0E4E-447D-BF84-672A09A041E9}"/>
              </a:ext>
            </a:extLst>
          </p:cNvPr>
          <p:cNvSpPr/>
          <p:nvPr/>
        </p:nvSpPr>
        <p:spPr>
          <a:xfrm>
            <a:off x="5506067" y="4395020"/>
            <a:ext cx="3510117" cy="17993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[Bar Chart]</a:t>
            </a:r>
          </a:p>
          <a:p>
            <a:pPr algn="ctr"/>
            <a:r>
              <a:rPr lang="en-US" dirty="0">
                <a:solidFill>
                  <a:sysClr val="windowText" lastClr="000000"/>
                </a:solidFill>
              </a:rPr>
              <a:t>Age Distribution Based on services</a:t>
            </a:r>
            <a:endParaRPr lang="en-IN" dirty="0">
              <a:solidFill>
                <a:sysClr val="windowText" lastClr="000000"/>
              </a:solidFill>
            </a:endParaRPr>
          </a:p>
        </p:txBody>
      </p:sp>
      <p:sp>
        <p:nvSpPr>
          <p:cNvPr id="22" name="Rectangle 21">
            <a:extLst>
              <a:ext uri="{FF2B5EF4-FFF2-40B4-BE49-F238E27FC236}">
                <a16:creationId xmlns:a16="http://schemas.microsoft.com/office/drawing/2014/main" id="{7BEB6625-2F5D-40E5-EA36-BF29311C7632}"/>
              </a:ext>
            </a:extLst>
          </p:cNvPr>
          <p:cNvSpPr/>
          <p:nvPr/>
        </p:nvSpPr>
        <p:spPr>
          <a:xfrm>
            <a:off x="9016184" y="4395020"/>
            <a:ext cx="2998835" cy="179930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[Pie Chart]</a:t>
            </a:r>
          </a:p>
          <a:p>
            <a:pPr algn="ctr"/>
            <a:r>
              <a:rPr lang="en-US" dirty="0">
                <a:solidFill>
                  <a:sysClr val="windowText" lastClr="000000"/>
                </a:solidFill>
              </a:rPr>
              <a:t>Distribution of customer based on Age</a:t>
            </a:r>
            <a:endParaRPr lang="en-IN" dirty="0">
              <a:solidFill>
                <a:sysClr val="windowText" lastClr="000000"/>
              </a:solidFill>
            </a:endParaRPr>
          </a:p>
        </p:txBody>
      </p:sp>
    </p:spTree>
    <p:extLst>
      <p:ext uri="{BB962C8B-B14F-4D97-AF65-F5344CB8AC3E}">
        <p14:creationId xmlns:p14="http://schemas.microsoft.com/office/powerpoint/2010/main" val="26764963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5F97EFE6-E186-B8BB-00DD-040C49C7AC73}"/>
              </a:ext>
            </a:extLst>
          </p:cNvPr>
          <p:cNvSpPr txBox="1">
            <a:spLocks/>
          </p:cNvSpPr>
          <p:nvPr/>
        </p:nvSpPr>
        <p:spPr>
          <a:xfrm>
            <a:off x="0" y="0"/>
            <a:ext cx="12192000" cy="698090"/>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US" sz="3600" dirty="0"/>
              <a:t>Banking Transaction Analytics Dashboard Overview</a:t>
            </a:r>
            <a:endParaRPr lang="en-IN" sz="3600" kern="0" dirty="0"/>
          </a:p>
        </p:txBody>
      </p:sp>
      <p:sp>
        <p:nvSpPr>
          <p:cNvPr id="5" name="Rectangle 4">
            <a:extLst>
              <a:ext uri="{FF2B5EF4-FFF2-40B4-BE49-F238E27FC236}">
                <a16:creationId xmlns:a16="http://schemas.microsoft.com/office/drawing/2014/main" id="{31621228-A080-BFC3-1404-835BFA61C5CC}"/>
              </a:ext>
            </a:extLst>
          </p:cNvPr>
          <p:cNvSpPr/>
          <p:nvPr/>
        </p:nvSpPr>
        <p:spPr>
          <a:xfrm>
            <a:off x="117987" y="934065"/>
            <a:ext cx="11897032" cy="6980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2"/>
                </a:solidFill>
                <a:effectLst>
                  <a:outerShdw blurRad="38100" dist="38100" dir="2700000" algn="tl">
                    <a:srgbClr val="000000">
                      <a:alpha val="43137"/>
                    </a:srgbClr>
                  </a:outerShdw>
                </a:effectLst>
              </a:rPr>
              <a:t>Transaction Analysis </a:t>
            </a:r>
            <a:endParaRPr lang="en-IN" sz="3200" b="1" dirty="0">
              <a:solidFill>
                <a:schemeClr val="bg2"/>
              </a:solidFill>
              <a:effectLst>
                <a:outerShdw blurRad="38100" dist="38100" dir="2700000" algn="tl">
                  <a:srgbClr val="000000">
                    <a:alpha val="43137"/>
                  </a:srgbClr>
                </a:outerShdw>
              </a:effectLst>
            </a:endParaRPr>
          </a:p>
        </p:txBody>
      </p:sp>
      <p:pic>
        <p:nvPicPr>
          <p:cNvPr id="6" name="Picture 5">
            <a:extLst>
              <a:ext uri="{FF2B5EF4-FFF2-40B4-BE49-F238E27FC236}">
                <a16:creationId xmlns:a16="http://schemas.microsoft.com/office/drawing/2014/main" id="{A6F06A83-52A3-FCB5-2F43-898C583667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981" y="979923"/>
            <a:ext cx="917804" cy="606373"/>
          </a:xfrm>
          <a:prstGeom prst="rect">
            <a:avLst/>
          </a:prstGeom>
        </p:spPr>
      </p:pic>
      <p:sp>
        <p:nvSpPr>
          <p:cNvPr id="7" name="Rectangle 6">
            <a:extLst>
              <a:ext uri="{FF2B5EF4-FFF2-40B4-BE49-F238E27FC236}">
                <a16:creationId xmlns:a16="http://schemas.microsoft.com/office/drawing/2014/main" id="{C827ADD4-5C26-9584-ACB1-5A4C42449097}"/>
              </a:ext>
            </a:extLst>
          </p:cNvPr>
          <p:cNvSpPr/>
          <p:nvPr/>
        </p:nvSpPr>
        <p:spPr>
          <a:xfrm>
            <a:off x="117987" y="1632155"/>
            <a:ext cx="2989007" cy="1042219"/>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ysClr val="windowText" lastClr="000000"/>
                </a:solidFill>
              </a:rPr>
              <a:t>Total No. Of Transactions </a:t>
            </a:r>
            <a:endParaRPr lang="en-IN" sz="2400" dirty="0">
              <a:solidFill>
                <a:sysClr val="windowText" lastClr="000000"/>
              </a:solidFill>
            </a:endParaRPr>
          </a:p>
        </p:txBody>
      </p:sp>
      <p:sp>
        <p:nvSpPr>
          <p:cNvPr id="8" name="Rectangle 7">
            <a:extLst>
              <a:ext uri="{FF2B5EF4-FFF2-40B4-BE49-F238E27FC236}">
                <a16:creationId xmlns:a16="http://schemas.microsoft.com/office/drawing/2014/main" id="{EFB5A72B-AEE8-0468-0C35-B8974E76A7F0}"/>
              </a:ext>
            </a:extLst>
          </p:cNvPr>
          <p:cNvSpPr/>
          <p:nvPr/>
        </p:nvSpPr>
        <p:spPr>
          <a:xfrm>
            <a:off x="3106994" y="1632154"/>
            <a:ext cx="2989007" cy="1042219"/>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ysClr val="windowText" lastClr="000000"/>
                </a:solidFill>
              </a:rPr>
              <a:t>Most Type of Transaction</a:t>
            </a:r>
            <a:endParaRPr lang="en-IN" sz="2400" dirty="0">
              <a:solidFill>
                <a:sysClr val="windowText" lastClr="000000"/>
              </a:solidFill>
            </a:endParaRPr>
          </a:p>
        </p:txBody>
      </p:sp>
      <p:sp>
        <p:nvSpPr>
          <p:cNvPr id="9" name="Rectangle 8">
            <a:extLst>
              <a:ext uri="{FF2B5EF4-FFF2-40B4-BE49-F238E27FC236}">
                <a16:creationId xmlns:a16="http://schemas.microsoft.com/office/drawing/2014/main" id="{0B113E69-2FAF-CA69-8675-8689C068AAE9}"/>
              </a:ext>
            </a:extLst>
          </p:cNvPr>
          <p:cNvSpPr/>
          <p:nvPr/>
        </p:nvSpPr>
        <p:spPr>
          <a:xfrm>
            <a:off x="6096001" y="1632153"/>
            <a:ext cx="2989007" cy="1042219"/>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bg2"/>
                </a:solidFill>
              </a:rPr>
              <a:t>Most Type Of Operations</a:t>
            </a:r>
            <a:endParaRPr lang="en-IN" sz="2400" dirty="0">
              <a:solidFill>
                <a:schemeClr val="bg2"/>
              </a:solidFill>
            </a:endParaRPr>
          </a:p>
        </p:txBody>
      </p:sp>
      <p:sp>
        <p:nvSpPr>
          <p:cNvPr id="10" name="Rectangle 9">
            <a:extLst>
              <a:ext uri="{FF2B5EF4-FFF2-40B4-BE49-F238E27FC236}">
                <a16:creationId xmlns:a16="http://schemas.microsoft.com/office/drawing/2014/main" id="{2C691925-408E-CAB4-A766-0CC0209AFB32}"/>
              </a:ext>
            </a:extLst>
          </p:cNvPr>
          <p:cNvSpPr/>
          <p:nvPr/>
        </p:nvSpPr>
        <p:spPr>
          <a:xfrm>
            <a:off x="9055510" y="1632154"/>
            <a:ext cx="2959509" cy="1042219"/>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ysClr val="windowText" lastClr="000000"/>
                </a:solidFill>
              </a:rPr>
              <a:t>Max Transaction Amount</a:t>
            </a:r>
            <a:endParaRPr lang="en-IN" sz="2400" dirty="0">
              <a:solidFill>
                <a:sysClr val="windowText" lastClr="000000"/>
              </a:solidFill>
            </a:endParaRPr>
          </a:p>
        </p:txBody>
      </p:sp>
      <p:sp>
        <p:nvSpPr>
          <p:cNvPr id="11" name="Rectangle 10">
            <a:extLst>
              <a:ext uri="{FF2B5EF4-FFF2-40B4-BE49-F238E27FC236}">
                <a16:creationId xmlns:a16="http://schemas.microsoft.com/office/drawing/2014/main" id="{13593DDA-C8A4-7095-474D-3366B5B45B9C}"/>
              </a:ext>
            </a:extLst>
          </p:cNvPr>
          <p:cNvSpPr/>
          <p:nvPr/>
        </p:nvSpPr>
        <p:spPr>
          <a:xfrm>
            <a:off x="117987" y="2674372"/>
            <a:ext cx="1199535" cy="36084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Slicer</a:t>
            </a:r>
          </a:p>
          <a:p>
            <a:pPr algn="ctr"/>
            <a:endParaRPr lang="en-US" dirty="0">
              <a:solidFill>
                <a:sysClr val="windowText" lastClr="000000"/>
              </a:solidFill>
            </a:endParaRPr>
          </a:p>
          <a:p>
            <a:pPr algn="ctr"/>
            <a:r>
              <a:rPr lang="en-US" dirty="0">
                <a:solidFill>
                  <a:sysClr val="windowText" lastClr="000000"/>
                </a:solidFill>
              </a:rPr>
              <a:t>1)Weekend/Weekdays</a:t>
            </a:r>
          </a:p>
          <a:p>
            <a:pPr algn="ctr"/>
            <a:endParaRPr lang="en-US" dirty="0">
              <a:solidFill>
                <a:sysClr val="windowText" lastClr="000000"/>
              </a:solidFill>
            </a:endParaRPr>
          </a:p>
          <a:p>
            <a:pPr algn="ctr"/>
            <a:r>
              <a:rPr lang="en-US" dirty="0">
                <a:solidFill>
                  <a:sysClr val="windowText" lastClr="000000"/>
                </a:solidFill>
              </a:rPr>
              <a:t>2)Yearly</a:t>
            </a:r>
          </a:p>
          <a:p>
            <a:pPr algn="ctr"/>
            <a:endParaRPr lang="en-US" dirty="0">
              <a:solidFill>
                <a:sysClr val="windowText" lastClr="000000"/>
              </a:solidFill>
            </a:endParaRPr>
          </a:p>
          <a:p>
            <a:pPr algn="ctr"/>
            <a:r>
              <a:rPr lang="en-US" dirty="0">
                <a:solidFill>
                  <a:sysClr val="windowText" lastClr="000000"/>
                </a:solidFill>
              </a:rPr>
              <a:t>3) Quarterly </a:t>
            </a:r>
          </a:p>
          <a:p>
            <a:pPr algn="ctr"/>
            <a:endParaRPr lang="en-IN" dirty="0"/>
          </a:p>
        </p:txBody>
      </p:sp>
      <p:sp>
        <p:nvSpPr>
          <p:cNvPr id="12" name="Rectangle 11">
            <a:extLst>
              <a:ext uri="{FF2B5EF4-FFF2-40B4-BE49-F238E27FC236}">
                <a16:creationId xmlns:a16="http://schemas.microsoft.com/office/drawing/2014/main" id="{44012552-0102-2F19-9A80-E37C4AC6F0A7}"/>
              </a:ext>
            </a:extLst>
          </p:cNvPr>
          <p:cNvSpPr/>
          <p:nvPr/>
        </p:nvSpPr>
        <p:spPr>
          <a:xfrm>
            <a:off x="1317521" y="2674372"/>
            <a:ext cx="3716593" cy="17206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[Pie Chart]</a:t>
            </a:r>
          </a:p>
          <a:p>
            <a:pPr algn="ctr"/>
            <a:r>
              <a:rPr lang="en-US" dirty="0">
                <a:solidFill>
                  <a:sysClr val="windowText" lastClr="000000"/>
                </a:solidFill>
              </a:rPr>
              <a:t>Transaction Distribution By Region</a:t>
            </a:r>
            <a:endParaRPr lang="en-IN" dirty="0">
              <a:solidFill>
                <a:sysClr val="windowText" lastClr="000000"/>
              </a:solidFill>
            </a:endParaRPr>
          </a:p>
        </p:txBody>
      </p:sp>
      <p:sp>
        <p:nvSpPr>
          <p:cNvPr id="13" name="Rectangle 12">
            <a:extLst>
              <a:ext uri="{FF2B5EF4-FFF2-40B4-BE49-F238E27FC236}">
                <a16:creationId xmlns:a16="http://schemas.microsoft.com/office/drawing/2014/main" id="{1FF496BF-B62A-CF96-2557-DDD532F622C0}"/>
              </a:ext>
            </a:extLst>
          </p:cNvPr>
          <p:cNvSpPr/>
          <p:nvPr/>
        </p:nvSpPr>
        <p:spPr>
          <a:xfrm>
            <a:off x="5034115" y="2674371"/>
            <a:ext cx="3490452" cy="17206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[Bar Chart]</a:t>
            </a:r>
          </a:p>
          <a:p>
            <a:pPr algn="ctr"/>
            <a:r>
              <a:rPr lang="en-US" dirty="0">
                <a:solidFill>
                  <a:sysClr val="windowText" lastClr="000000"/>
                </a:solidFill>
              </a:rPr>
              <a:t>Transactions Based On Municipalities </a:t>
            </a:r>
            <a:endParaRPr lang="en-IN" dirty="0">
              <a:solidFill>
                <a:sysClr val="windowText" lastClr="000000"/>
              </a:solidFill>
            </a:endParaRPr>
          </a:p>
        </p:txBody>
      </p:sp>
      <p:sp>
        <p:nvSpPr>
          <p:cNvPr id="14" name="Rectangle 13">
            <a:extLst>
              <a:ext uri="{FF2B5EF4-FFF2-40B4-BE49-F238E27FC236}">
                <a16:creationId xmlns:a16="http://schemas.microsoft.com/office/drawing/2014/main" id="{BA28D91B-24F8-1071-2B45-82C7EF02FC24}"/>
              </a:ext>
            </a:extLst>
          </p:cNvPr>
          <p:cNvSpPr/>
          <p:nvPr/>
        </p:nvSpPr>
        <p:spPr>
          <a:xfrm>
            <a:off x="8524567" y="2674371"/>
            <a:ext cx="3490452" cy="17206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[Doughnut Chart]</a:t>
            </a:r>
          </a:p>
          <a:p>
            <a:pPr algn="ctr"/>
            <a:r>
              <a:rPr lang="en-US" dirty="0">
                <a:solidFill>
                  <a:sysClr val="windowText" lastClr="000000"/>
                </a:solidFill>
              </a:rPr>
              <a:t>Payment Type Distribution </a:t>
            </a:r>
          </a:p>
        </p:txBody>
      </p:sp>
      <p:sp>
        <p:nvSpPr>
          <p:cNvPr id="15" name="Rectangle 14">
            <a:extLst>
              <a:ext uri="{FF2B5EF4-FFF2-40B4-BE49-F238E27FC236}">
                <a16:creationId xmlns:a16="http://schemas.microsoft.com/office/drawing/2014/main" id="{C35B84D1-919F-0F3E-BED0-11A52730D39B}"/>
              </a:ext>
            </a:extLst>
          </p:cNvPr>
          <p:cNvSpPr/>
          <p:nvPr/>
        </p:nvSpPr>
        <p:spPr>
          <a:xfrm>
            <a:off x="8524567" y="4395018"/>
            <a:ext cx="3490452" cy="18877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[Histogram]</a:t>
            </a:r>
          </a:p>
          <a:p>
            <a:pPr algn="ctr"/>
            <a:r>
              <a:rPr lang="en-US" dirty="0">
                <a:solidFill>
                  <a:sysClr val="windowText" lastClr="000000"/>
                </a:solidFill>
              </a:rPr>
              <a:t>Operation Distribution By Transaction Frequency</a:t>
            </a:r>
            <a:endParaRPr lang="en-IN" dirty="0">
              <a:solidFill>
                <a:sysClr val="windowText" lastClr="000000"/>
              </a:solidFill>
            </a:endParaRPr>
          </a:p>
        </p:txBody>
      </p:sp>
      <p:sp>
        <p:nvSpPr>
          <p:cNvPr id="16" name="Rectangle 15">
            <a:extLst>
              <a:ext uri="{FF2B5EF4-FFF2-40B4-BE49-F238E27FC236}">
                <a16:creationId xmlns:a16="http://schemas.microsoft.com/office/drawing/2014/main" id="{9346D945-7305-391F-94DF-DB1C835886C0}"/>
              </a:ext>
            </a:extLst>
          </p:cNvPr>
          <p:cNvSpPr/>
          <p:nvPr/>
        </p:nvSpPr>
        <p:spPr>
          <a:xfrm>
            <a:off x="5034115" y="4395018"/>
            <a:ext cx="3490452" cy="18877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[Line Chart]</a:t>
            </a:r>
          </a:p>
          <a:p>
            <a:pPr algn="ctr"/>
            <a:r>
              <a:rPr lang="en-IN" dirty="0">
                <a:solidFill>
                  <a:sysClr val="windowText" lastClr="000000"/>
                </a:solidFill>
              </a:rPr>
              <a:t>District-wise Crimes Committed vs. Transactions</a:t>
            </a:r>
            <a:endParaRPr lang="en-US" dirty="0">
              <a:solidFill>
                <a:sysClr val="windowText" lastClr="000000"/>
              </a:solidFill>
            </a:endParaRPr>
          </a:p>
        </p:txBody>
      </p:sp>
      <p:sp>
        <p:nvSpPr>
          <p:cNvPr id="17" name="Rectangle 16">
            <a:extLst>
              <a:ext uri="{FF2B5EF4-FFF2-40B4-BE49-F238E27FC236}">
                <a16:creationId xmlns:a16="http://schemas.microsoft.com/office/drawing/2014/main" id="{C99C3525-C668-179E-A33D-D5024DAE5268}"/>
              </a:ext>
            </a:extLst>
          </p:cNvPr>
          <p:cNvSpPr/>
          <p:nvPr/>
        </p:nvSpPr>
        <p:spPr>
          <a:xfrm>
            <a:off x="1317522" y="4395018"/>
            <a:ext cx="3716592" cy="188779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[Pie Chart]</a:t>
            </a:r>
          </a:p>
          <a:p>
            <a:pPr algn="ctr"/>
            <a:r>
              <a:rPr lang="en-US" dirty="0">
                <a:solidFill>
                  <a:sysClr val="windowText" lastClr="000000"/>
                </a:solidFill>
              </a:rPr>
              <a:t>Gender Distribution </a:t>
            </a:r>
          </a:p>
        </p:txBody>
      </p:sp>
    </p:spTree>
    <p:extLst>
      <p:ext uri="{BB962C8B-B14F-4D97-AF65-F5344CB8AC3E}">
        <p14:creationId xmlns:p14="http://schemas.microsoft.com/office/powerpoint/2010/main" val="24310176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29A8AD02-CCE2-20F9-9491-84AB126D417E}"/>
              </a:ext>
            </a:extLst>
          </p:cNvPr>
          <p:cNvSpPr txBox="1">
            <a:spLocks/>
          </p:cNvSpPr>
          <p:nvPr/>
        </p:nvSpPr>
        <p:spPr>
          <a:xfrm>
            <a:off x="0" y="0"/>
            <a:ext cx="12192000" cy="698090"/>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US" sz="3600" dirty="0"/>
              <a:t>Loan Portfolio Analytics Dashboard Overview</a:t>
            </a:r>
            <a:endParaRPr lang="en-IN" sz="3600" kern="0" dirty="0"/>
          </a:p>
        </p:txBody>
      </p:sp>
      <p:sp>
        <p:nvSpPr>
          <p:cNvPr id="5" name="Rectangle 4">
            <a:extLst>
              <a:ext uri="{FF2B5EF4-FFF2-40B4-BE49-F238E27FC236}">
                <a16:creationId xmlns:a16="http://schemas.microsoft.com/office/drawing/2014/main" id="{EA62A5DB-15BB-47C4-4B5C-DA1EBF3E1CB1}"/>
              </a:ext>
            </a:extLst>
          </p:cNvPr>
          <p:cNvSpPr/>
          <p:nvPr/>
        </p:nvSpPr>
        <p:spPr>
          <a:xfrm>
            <a:off x="117987" y="934065"/>
            <a:ext cx="11897032" cy="6980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solidFill>
                  <a:schemeClr val="bg2"/>
                </a:solidFill>
                <a:effectLst>
                  <a:outerShdw blurRad="38100" dist="38100" dir="2700000" algn="tl">
                    <a:srgbClr val="000000">
                      <a:alpha val="43137"/>
                    </a:srgbClr>
                  </a:outerShdw>
                </a:effectLst>
              </a:rPr>
              <a:t>Loan Analysis </a:t>
            </a:r>
            <a:endParaRPr lang="en-IN" sz="3200" b="1" dirty="0">
              <a:solidFill>
                <a:schemeClr val="bg2"/>
              </a:solidFill>
              <a:effectLst>
                <a:outerShdw blurRad="38100" dist="38100" dir="2700000" algn="tl">
                  <a:srgbClr val="000000">
                    <a:alpha val="43137"/>
                  </a:srgbClr>
                </a:outerShdw>
              </a:effectLst>
            </a:endParaRPr>
          </a:p>
        </p:txBody>
      </p:sp>
      <p:pic>
        <p:nvPicPr>
          <p:cNvPr id="6" name="Picture 5">
            <a:extLst>
              <a:ext uri="{FF2B5EF4-FFF2-40B4-BE49-F238E27FC236}">
                <a16:creationId xmlns:a16="http://schemas.microsoft.com/office/drawing/2014/main" id="{961C8FC4-A023-4B92-C60C-281C47766D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981" y="979923"/>
            <a:ext cx="917804" cy="606373"/>
          </a:xfrm>
          <a:prstGeom prst="rect">
            <a:avLst/>
          </a:prstGeom>
        </p:spPr>
      </p:pic>
      <p:sp>
        <p:nvSpPr>
          <p:cNvPr id="7" name="Rectangle 6">
            <a:extLst>
              <a:ext uri="{FF2B5EF4-FFF2-40B4-BE49-F238E27FC236}">
                <a16:creationId xmlns:a16="http://schemas.microsoft.com/office/drawing/2014/main" id="{8B777937-A896-205B-04EC-2C49A1F26D25}"/>
              </a:ext>
            </a:extLst>
          </p:cNvPr>
          <p:cNvSpPr/>
          <p:nvPr/>
        </p:nvSpPr>
        <p:spPr>
          <a:xfrm>
            <a:off x="117987" y="1632154"/>
            <a:ext cx="2153271" cy="1042219"/>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ysClr val="windowText" lastClr="000000"/>
                </a:solidFill>
              </a:rPr>
              <a:t>Total No. Of Loans </a:t>
            </a:r>
          </a:p>
          <a:p>
            <a:pPr algn="ctr"/>
            <a:r>
              <a:rPr lang="en-US" sz="2400" dirty="0">
                <a:solidFill>
                  <a:sysClr val="windowText" lastClr="000000"/>
                </a:solidFill>
              </a:rPr>
              <a:t>granted</a:t>
            </a:r>
            <a:endParaRPr lang="en-IN" sz="2400" dirty="0">
              <a:solidFill>
                <a:sysClr val="windowText" lastClr="000000"/>
              </a:solidFill>
            </a:endParaRPr>
          </a:p>
        </p:txBody>
      </p:sp>
      <p:sp>
        <p:nvSpPr>
          <p:cNvPr id="8" name="Rectangle 7">
            <a:extLst>
              <a:ext uri="{FF2B5EF4-FFF2-40B4-BE49-F238E27FC236}">
                <a16:creationId xmlns:a16="http://schemas.microsoft.com/office/drawing/2014/main" id="{929F5612-ADCA-669C-77E9-B5ABF95AE518}"/>
              </a:ext>
            </a:extLst>
          </p:cNvPr>
          <p:cNvSpPr/>
          <p:nvPr/>
        </p:nvSpPr>
        <p:spPr>
          <a:xfrm>
            <a:off x="2271258" y="1632154"/>
            <a:ext cx="2546555" cy="1042219"/>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ysClr val="windowText" lastClr="000000"/>
                </a:solidFill>
              </a:rPr>
              <a:t>Top Type of Loan</a:t>
            </a:r>
            <a:endParaRPr lang="en-IN" sz="2400" dirty="0">
              <a:solidFill>
                <a:sysClr val="windowText" lastClr="000000"/>
              </a:solidFill>
            </a:endParaRPr>
          </a:p>
        </p:txBody>
      </p:sp>
      <p:sp>
        <p:nvSpPr>
          <p:cNvPr id="9" name="Rectangle 8">
            <a:extLst>
              <a:ext uri="{FF2B5EF4-FFF2-40B4-BE49-F238E27FC236}">
                <a16:creationId xmlns:a16="http://schemas.microsoft.com/office/drawing/2014/main" id="{9BD4D0E8-9270-1B02-45A9-4D08D74EF0B7}"/>
              </a:ext>
            </a:extLst>
          </p:cNvPr>
          <p:cNvSpPr/>
          <p:nvPr/>
        </p:nvSpPr>
        <p:spPr>
          <a:xfrm>
            <a:off x="4817813" y="1632154"/>
            <a:ext cx="2546556" cy="1042219"/>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ysClr val="windowText" lastClr="000000"/>
                </a:solidFill>
              </a:rPr>
              <a:t>Top Type of Loan</a:t>
            </a:r>
            <a:endParaRPr lang="en-IN" sz="2400" dirty="0">
              <a:solidFill>
                <a:sysClr val="windowText" lastClr="000000"/>
              </a:solidFill>
            </a:endParaRPr>
          </a:p>
        </p:txBody>
      </p:sp>
      <p:sp>
        <p:nvSpPr>
          <p:cNvPr id="10" name="Rectangle 9">
            <a:extLst>
              <a:ext uri="{FF2B5EF4-FFF2-40B4-BE49-F238E27FC236}">
                <a16:creationId xmlns:a16="http://schemas.microsoft.com/office/drawing/2014/main" id="{B005DDB3-A25F-1001-BC90-97A12CA19243}"/>
              </a:ext>
            </a:extLst>
          </p:cNvPr>
          <p:cNvSpPr/>
          <p:nvPr/>
        </p:nvSpPr>
        <p:spPr>
          <a:xfrm>
            <a:off x="7364368" y="1632154"/>
            <a:ext cx="2040190" cy="1042219"/>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ysClr val="windowText" lastClr="000000"/>
                </a:solidFill>
              </a:rPr>
              <a:t>Total Account</a:t>
            </a:r>
            <a:endParaRPr lang="en-IN" sz="2400" dirty="0">
              <a:solidFill>
                <a:sysClr val="windowText" lastClr="000000"/>
              </a:solidFill>
            </a:endParaRPr>
          </a:p>
        </p:txBody>
      </p:sp>
      <p:sp>
        <p:nvSpPr>
          <p:cNvPr id="11" name="Rectangle 10">
            <a:extLst>
              <a:ext uri="{FF2B5EF4-FFF2-40B4-BE49-F238E27FC236}">
                <a16:creationId xmlns:a16="http://schemas.microsoft.com/office/drawing/2014/main" id="{3D9371AB-BDC6-5028-5D21-683BD94E36A2}"/>
              </a:ext>
            </a:extLst>
          </p:cNvPr>
          <p:cNvSpPr/>
          <p:nvPr/>
        </p:nvSpPr>
        <p:spPr>
          <a:xfrm>
            <a:off x="9404558" y="1632153"/>
            <a:ext cx="2610461" cy="1042219"/>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dirty="0">
                <a:solidFill>
                  <a:sysClr val="windowText" lastClr="000000"/>
                </a:solidFill>
              </a:rPr>
              <a:t>Avg No. Of Account Taken Loan</a:t>
            </a:r>
            <a:endParaRPr lang="en-IN" sz="2400" dirty="0">
              <a:solidFill>
                <a:sysClr val="windowText" lastClr="000000"/>
              </a:solidFill>
            </a:endParaRPr>
          </a:p>
        </p:txBody>
      </p:sp>
      <p:sp>
        <p:nvSpPr>
          <p:cNvPr id="12" name="Rectangle 11">
            <a:extLst>
              <a:ext uri="{FF2B5EF4-FFF2-40B4-BE49-F238E27FC236}">
                <a16:creationId xmlns:a16="http://schemas.microsoft.com/office/drawing/2014/main" id="{1B11F3BD-16E6-A55F-1B79-A66D52D0F9E1}"/>
              </a:ext>
            </a:extLst>
          </p:cNvPr>
          <p:cNvSpPr/>
          <p:nvPr/>
        </p:nvSpPr>
        <p:spPr>
          <a:xfrm>
            <a:off x="117987" y="2674372"/>
            <a:ext cx="1199535" cy="360844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Slicer</a:t>
            </a:r>
          </a:p>
          <a:p>
            <a:pPr algn="ctr"/>
            <a:endParaRPr lang="en-US" dirty="0">
              <a:solidFill>
                <a:sysClr val="windowText" lastClr="000000"/>
              </a:solidFill>
            </a:endParaRPr>
          </a:p>
          <a:p>
            <a:pPr algn="ctr"/>
            <a:r>
              <a:rPr lang="en-US" dirty="0">
                <a:solidFill>
                  <a:sysClr val="windowText" lastClr="000000"/>
                </a:solidFill>
              </a:rPr>
              <a:t>1)Weekend/Weekdays</a:t>
            </a:r>
          </a:p>
          <a:p>
            <a:pPr algn="ctr"/>
            <a:endParaRPr lang="en-US" dirty="0">
              <a:solidFill>
                <a:sysClr val="windowText" lastClr="000000"/>
              </a:solidFill>
            </a:endParaRPr>
          </a:p>
          <a:p>
            <a:pPr algn="ctr"/>
            <a:r>
              <a:rPr lang="en-US" dirty="0">
                <a:solidFill>
                  <a:sysClr val="windowText" lastClr="000000"/>
                </a:solidFill>
              </a:rPr>
              <a:t>2)Yearly</a:t>
            </a:r>
          </a:p>
          <a:p>
            <a:pPr algn="ctr"/>
            <a:endParaRPr lang="en-US" dirty="0">
              <a:solidFill>
                <a:sysClr val="windowText" lastClr="000000"/>
              </a:solidFill>
            </a:endParaRPr>
          </a:p>
          <a:p>
            <a:pPr algn="ctr"/>
            <a:r>
              <a:rPr lang="en-US" dirty="0">
                <a:solidFill>
                  <a:sysClr val="windowText" lastClr="000000"/>
                </a:solidFill>
              </a:rPr>
              <a:t>3) Quarterly </a:t>
            </a:r>
          </a:p>
          <a:p>
            <a:pPr algn="ctr"/>
            <a:endParaRPr lang="en-IN" dirty="0"/>
          </a:p>
        </p:txBody>
      </p:sp>
      <p:sp>
        <p:nvSpPr>
          <p:cNvPr id="13" name="Rectangle 12">
            <a:extLst>
              <a:ext uri="{FF2B5EF4-FFF2-40B4-BE49-F238E27FC236}">
                <a16:creationId xmlns:a16="http://schemas.microsoft.com/office/drawing/2014/main" id="{214E9F12-18B9-6B88-3516-2B9C13CAFFED}"/>
              </a:ext>
            </a:extLst>
          </p:cNvPr>
          <p:cNvSpPr/>
          <p:nvPr/>
        </p:nvSpPr>
        <p:spPr>
          <a:xfrm>
            <a:off x="1317522" y="2674371"/>
            <a:ext cx="3303662" cy="166657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[Bar Chart]</a:t>
            </a:r>
          </a:p>
          <a:p>
            <a:pPr algn="ctr"/>
            <a:r>
              <a:rPr lang="en-US" dirty="0">
                <a:solidFill>
                  <a:sysClr val="windowText" lastClr="000000"/>
                </a:solidFill>
              </a:rPr>
              <a:t>Age Distribution V/S Loan Type </a:t>
            </a:r>
            <a:endParaRPr lang="en-IN" dirty="0">
              <a:solidFill>
                <a:sysClr val="windowText" lastClr="000000"/>
              </a:solidFill>
            </a:endParaRPr>
          </a:p>
        </p:txBody>
      </p:sp>
      <p:sp>
        <p:nvSpPr>
          <p:cNvPr id="14" name="Rectangle 13">
            <a:extLst>
              <a:ext uri="{FF2B5EF4-FFF2-40B4-BE49-F238E27FC236}">
                <a16:creationId xmlns:a16="http://schemas.microsoft.com/office/drawing/2014/main" id="{A54827C0-25AC-60B3-D721-A937DF88F6D3}"/>
              </a:ext>
            </a:extLst>
          </p:cNvPr>
          <p:cNvSpPr/>
          <p:nvPr/>
        </p:nvSpPr>
        <p:spPr>
          <a:xfrm>
            <a:off x="8318102" y="2674372"/>
            <a:ext cx="3696917" cy="16665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[Bar Chart]</a:t>
            </a:r>
          </a:p>
          <a:p>
            <a:pPr algn="ctr"/>
            <a:r>
              <a:rPr lang="en-US" dirty="0">
                <a:solidFill>
                  <a:sysClr val="windowText" lastClr="000000"/>
                </a:solidFill>
              </a:rPr>
              <a:t>Top 10 District Loan Granted</a:t>
            </a:r>
          </a:p>
        </p:txBody>
      </p:sp>
      <p:sp>
        <p:nvSpPr>
          <p:cNvPr id="15" name="Rectangle 14">
            <a:extLst>
              <a:ext uri="{FF2B5EF4-FFF2-40B4-BE49-F238E27FC236}">
                <a16:creationId xmlns:a16="http://schemas.microsoft.com/office/drawing/2014/main" id="{BCA78024-4EFF-2772-FD5E-F1BF4FC836F2}"/>
              </a:ext>
            </a:extLst>
          </p:cNvPr>
          <p:cNvSpPr/>
          <p:nvPr/>
        </p:nvSpPr>
        <p:spPr>
          <a:xfrm>
            <a:off x="4621186" y="2674371"/>
            <a:ext cx="3696916" cy="16665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[Line Chart]</a:t>
            </a:r>
          </a:p>
          <a:p>
            <a:pPr algn="ctr"/>
            <a:r>
              <a:rPr lang="en-US" dirty="0">
                <a:solidFill>
                  <a:sysClr val="windowText" lastClr="000000"/>
                </a:solidFill>
              </a:rPr>
              <a:t>Crimes Committed V/S</a:t>
            </a:r>
          </a:p>
          <a:p>
            <a:pPr algn="ctr"/>
            <a:r>
              <a:rPr lang="en-US" dirty="0">
                <a:solidFill>
                  <a:sysClr val="windowText" lastClr="000000"/>
                </a:solidFill>
              </a:rPr>
              <a:t>Loan </a:t>
            </a:r>
          </a:p>
        </p:txBody>
      </p:sp>
      <p:sp>
        <p:nvSpPr>
          <p:cNvPr id="16" name="Rectangle 15">
            <a:extLst>
              <a:ext uri="{FF2B5EF4-FFF2-40B4-BE49-F238E27FC236}">
                <a16:creationId xmlns:a16="http://schemas.microsoft.com/office/drawing/2014/main" id="{BE5E02C6-644C-D6F2-7AA7-44A8C798B7B8}"/>
              </a:ext>
            </a:extLst>
          </p:cNvPr>
          <p:cNvSpPr/>
          <p:nvPr/>
        </p:nvSpPr>
        <p:spPr>
          <a:xfrm>
            <a:off x="8318102" y="4340944"/>
            <a:ext cx="3696916" cy="19418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[Line Chart]</a:t>
            </a:r>
          </a:p>
          <a:p>
            <a:pPr algn="ctr"/>
            <a:r>
              <a:rPr lang="en-US" dirty="0">
                <a:solidFill>
                  <a:sysClr val="windowText" lastClr="000000"/>
                </a:solidFill>
              </a:rPr>
              <a:t>Urbar Population V/S Rular V/S</a:t>
            </a:r>
          </a:p>
          <a:p>
            <a:pPr algn="ctr"/>
            <a:r>
              <a:rPr lang="en-US" dirty="0">
                <a:solidFill>
                  <a:sysClr val="windowText" lastClr="000000"/>
                </a:solidFill>
              </a:rPr>
              <a:t>Loan </a:t>
            </a:r>
          </a:p>
        </p:txBody>
      </p:sp>
      <p:sp>
        <p:nvSpPr>
          <p:cNvPr id="17" name="Rectangle 16">
            <a:extLst>
              <a:ext uri="{FF2B5EF4-FFF2-40B4-BE49-F238E27FC236}">
                <a16:creationId xmlns:a16="http://schemas.microsoft.com/office/drawing/2014/main" id="{099B6245-D745-1932-B432-A97E6495BC69}"/>
              </a:ext>
            </a:extLst>
          </p:cNvPr>
          <p:cNvSpPr/>
          <p:nvPr/>
        </p:nvSpPr>
        <p:spPr>
          <a:xfrm>
            <a:off x="4621186" y="4340944"/>
            <a:ext cx="3696916" cy="19418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[Bar Chart]</a:t>
            </a:r>
          </a:p>
          <a:p>
            <a:pPr algn="ctr"/>
            <a:r>
              <a:rPr lang="en-US" dirty="0">
                <a:solidFill>
                  <a:sysClr val="windowText" lastClr="000000"/>
                </a:solidFill>
              </a:rPr>
              <a:t>Salary Range V/S Loan Type </a:t>
            </a:r>
          </a:p>
        </p:txBody>
      </p:sp>
      <p:sp>
        <p:nvSpPr>
          <p:cNvPr id="18" name="Rectangle 17">
            <a:extLst>
              <a:ext uri="{FF2B5EF4-FFF2-40B4-BE49-F238E27FC236}">
                <a16:creationId xmlns:a16="http://schemas.microsoft.com/office/drawing/2014/main" id="{14335FCD-7281-CEF4-D041-C3C191FA1CAB}"/>
              </a:ext>
            </a:extLst>
          </p:cNvPr>
          <p:cNvSpPr/>
          <p:nvPr/>
        </p:nvSpPr>
        <p:spPr>
          <a:xfrm>
            <a:off x="1317522" y="4340945"/>
            <a:ext cx="3303662" cy="19418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[Doughnut Chart]</a:t>
            </a:r>
          </a:p>
          <a:p>
            <a:pPr algn="ctr"/>
            <a:r>
              <a:rPr lang="en-US" dirty="0">
                <a:solidFill>
                  <a:sysClr val="windowText" lastClr="000000"/>
                </a:solidFill>
              </a:rPr>
              <a:t>Gender Distribution V/S </a:t>
            </a:r>
            <a:r>
              <a:rPr lang="en-US" dirty="0" err="1">
                <a:solidFill>
                  <a:sysClr val="windowText" lastClr="000000"/>
                </a:solidFill>
              </a:rPr>
              <a:t>Loan_Type</a:t>
            </a:r>
            <a:r>
              <a:rPr lang="en-US" dirty="0">
                <a:solidFill>
                  <a:sysClr val="windowText" lastClr="000000"/>
                </a:solidFill>
              </a:rPr>
              <a:t> </a:t>
            </a:r>
          </a:p>
        </p:txBody>
      </p:sp>
    </p:spTree>
    <p:extLst>
      <p:ext uri="{BB962C8B-B14F-4D97-AF65-F5344CB8AC3E}">
        <p14:creationId xmlns:p14="http://schemas.microsoft.com/office/powerpoint/2010/main" val="7024491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7E06D0E-F8EE-08CE-E409-EF1AB6E321BA}"/>
              </a:ext>
            </a:extLst>
          </p:cNvPr>
          <p:cNvSpPr>
            <a:spLocks noGrp="1"/>
          </p:cNvSpPr>
          <p:nvPr>
            <p:ph type="body" idx="1"/>
          </p:nvPr>
        </p:nvSpPr>
        <p:spPr>
          <a:xfrm>
            <a:off x="412955" y="934064"/>
            <a:ext cx="11503742" cy="5220929"/>
          </a:xfrm>
        </p:spPr>
        <p:txBody>
          <a:bodyPr/>
          <a:lstStyle/>
          <a:p>
            <a:pPr marL="643462" indent="-457200">
              <a:buFont typeface="+mj-lt"/>
              <a:buAutoNum type="arabicPeriod"/>
            </a:pPr>
            <a:r>
              <a:rPr lang="en-US" dirty="0">
                <a:solidFill>
                  <a:srgbClr val="00B050"/>
                </a:solidFill>
                <a:latin typeface="Bahnschrift" panose="020B0502040204020203" pitchFamily="34" charset="0"/>
              </a:rPr>
              <a:t>Transactions_360 </a:t>
            </a:r>
          </a:p>
          <a:p>
            <a:r>
              <a:rPr lang="en-US" b="1" dirty="0"/>
              <a:t>Transactions_360 provides a complete 360° view of all transactions.</a:t>
            </a:r>
            <a:br>
              <a:rPr lang="en-US" dirty="0"/>
            </a:br>
            <a:r>
              <a:rPr lang="en-US" dirty="0"/>
              <a:t>It also integrates information from the </a:t>
            </a:r>
            <a:r>
              <a:rPr lang="en-US" b="1" dirty="0"/>
              <a:t>Orders</a:t>
            </a:r>
            <a:r>
              <a:rPr lang="en-US" dirty="0"/>
              <a:t> table.</a:t>
            </a:r>
          </a:p>
          <a:p>
            <a:r>
              <a:rPr lang="en-US" dirty="0"/>
              <a:t>The </a:t>
            </a:r>
            <a:r>
              <a:rPr lang="en-US" b="1" dirty="0"/>
              <a:t>Orders</a:t>
            </a:r>
            <a:r>
              <a:rPr lang="en-US" dirty="0"/>
              <a:t> table contains the instructions given by clients for performing a transaction.</a:t>
            </a:r>
            <a:br>
              <a:rPr lang="en-US" dirty="0"/>
            </a:br>
            <a:r>
              <a:rPr lang="en-US" dirty="0"/>
              <a:t>Using Transactions_360, we can analyze:</a:t>
            </a:r>
          </a:p>
          <a:p>
            <a:r>
              <a:rPr lang="en-US" dirty="0"/>
              <a:t>Whether the customer’s instructions were properly executed</a:t>
            </a:r>
          </a:p>
          <a:p>
            <a:r>
              <a:rPr lang="en-US" dirty="0"/>
              <a:t>Whether the account had sufficient or insufficient balance</a:t>
            </a:r>
          </a:p>
          <a:p>
            <a:r>
              <a:rPr lang="en-US" dirty="0"/>
              <a:t>Whether the actual transaction matches the order details</a:t>
            </a:r>
          </a:p>
          <a:p>
            <a:r>
              <a:rPr lang="en-US" b="1" dirty="0"/>
              <a:t>Transactions_360 is created using information from:</a:t>
            </a:r>
            <a:endParaRPr lang="en-US" dirty="0"/>
          </a:p>
          <a:p>
            <a:r>
              <a:rPr lang="en-US" b="1" dirty="0"/>
              <a:t>Orders Table</a:t>
            </a:r>
            <a:endParaRPr lang="en-US" dirty="0"/>
          </a:p>
          <a:p>
            <a:r>
              <a:rPr lang="en-US" b="1" dirty="0"/>
              <a:t>Transactions Table</a:t>
            </a:r>
            <a:endParaRPr lang="en-US" dirty="0"/>
          </a:p>
          <a:p>
            <a:r>
              <a:rPr lang="en-US" b="1" dirty="0"/>
              <a:t>Account Table</a:t>
            </a:r>
            <a:endParaRPr lang="en-US" dirty="0"/>
          </a:p>
        </p:txBody>
      </p:sp>
      <p:sp>
        <p:nvSpPr>
          <p:cNvPr id="4" name="Title 2">
            <a:extLst>
              <a:ext uri="{FF2B5EF4-FFF2-40B4-BE49-F238E27FC236}">
                <a16:creationId xmlns:a16="http://schemas.microsoft.com/office/drawing/2014/main" id="{7CF0A346-15F6-0445-E2D5-A32DC3E4C342}"/>
              </a:ext>
            </a:extLst>
          </p:cNvPr>
          <p:cNvSpPr txBox="1">
            <a:spLocks/>
          </p:cNvSpPr>
          <p:nvPr/>
        </p:nvSpPr>
        <p:spPr>
          <a:xfrm>
            <a:off x="0" y="0"/>
            <a:ext cx="12192000" cy="698090"/>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US" sz="3600" kern="0" dirty="0"/>
              <a:t>360 Tables </a:t>
            </a:r>
            <a:endParaRPr lang="en-IN" sz="3600" kern="0" dirty="0"/>
          </a:p>
        </p:txBody>
      </p:sp>
    </p:spTree>
    <p:extLst>
      <p:ext uri="{BB962C8B-B14F-4D97-AF65-F5344CB8AC3E}">
        <p14:creationId xmlns:p14="http://schemas.microsoft.com/office/powerpoint/2010/main" val="10103811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3B9A8C4-BFE7-CE6C-8628-E2EACF365189}"/>
              </a:ext>
            </a:extLst>
          </p:cNvPr>
          <p:cNvSpPr>
            <a:spLocks noGrp="1"/>
          </p:cNvSpPr>
          <p:nvPr>
            <p:ph type="body" idx="1"/>
          </p:nvPr>
        </p:nvSpPr>
        <p:spPr>
          <a:xfrm>
            <a:off x="346587" y="882867"/>
            <a:ext cx="10515600" cy="5026319"/>
          </a:xfrm>
        </p:spPr>
        <p:txBody>
          <a:bodyPr>
            <a:normAutofit fontScale="92500" lnSpcReduction="20000"/>
          </a:bodyPr>
          <a:lstStyle/>
          <a:p>
            <a:pPr marL="643462" indent="-457200">
              <a:buAutoNum type="arabicPeriod" startAt="2"/>
            </a:pPr>
            <a:r>
              <a:rPr lang="en-US" dirty="0">
                <a:solidFill>
                  <a:srgbClr val="00B050"/>
                </a:solidFill>
                <a:latin typeface="Bahnschrift" panose="020B0502040204020203" pitchFamily="34" charset="0"/>
              </a:rPr>
              <a:t>Customer_360</a:t>
            </a:r>
          </a:p>
          <a:p>
            <a:r>
              <a:rPr lang="en-US" b="1" dirty="0"/>
              <a:t>Customer_360 provides a complete 360° view of each customer.</a:t>
            </a:r>
            <a:endParaRPr lang="en-US" dirty="0"/>
          </a:p>
          <a:p>
            <a:r>
              <a:rPr lang="en-US" dirty="0"/>
              <a:t>It includes detailed </a:t>
            </a:r>
            <a:r>
              <a:rPr lang="en-US" b="1" dirty="0"/>
              <a:t>client demographic information</a:t>
            </a:r>
            <a:r>
              <a:rPr lang="en-US" dirty="0"/>
              <a:t>, along with insights into their financial and transactional behavior.</a:t>
            </a:r>
          </a:p>
          <a:p>
            <a:r>
              <a:rPr lang="en-US" dirty="0"/>
              <a:t>Using the Customer_360 table, we can understand:</a:t>
            </a:r>
          </a:p>
          <a:p>
            <a:r>
              <a:rPr lang="en-US" dirty="0"/>
              <a:t>The type of </a:t>
            </a:r>
            <a:r>
              <a:rPr lang="en-US" b="1" dirty="0"/>
              <a:t>term loan</a:t>
            </a:r>
            <a:r>
              <a:rPr lang="en-US" dirty="0"/>
              <a:t> the customer has taken</a:t>
            </a:r>
          </a:p>
          <a:p>
            <a:r>
              <a:rPr lang="en-US" dirty="0"/>
              <a:t>Which </a:t>
            </a:r>
            <a:r>
              <a:rPr lang="en-US" b="1" dirty="0"/>
              <a:t>transaction types</a:t>
            </a:r>
            <a:r>
              <a:rPr lang="en-US" dirty="0"/>
              <a:t> the customer performs most frequently</a:t>
            </a:r>
          </a:p>
          <a:p>
            <a:r>
              <a:rPr lang="en-US" dirty="0"/>
              <a:t>The </a:t>
            </a:r>
            <a:r>
              <a:rPr lang="en-US" b="1" dirty="0"/>
              <a:t>primary reasons</a:t>
            </a:r>
            <a:r>
              <a:rPr lang="en-US" dirty="0"/>
              <a:t> behind those transactions</a:t>
            </a:r>
          </a:p>
          <a:p>
            <a:r>
              <a:rPr lang="en-US" dirty="0"/>
              <a:t>The Customer_360 table is created using information from:</a:t>
            </a:r>
          </a:p>
          <a:p>
            <a:r>
              <a:rPr lang="en-US" b="1" dirty="0"/>
              <a:t>Client Table</a:t>
            </a:r>
            <a:endParaRPr lang="en-US" dirty="0"/>
          </a:p>
          <a:p>
            <a:r>
              <a:rPr lang="en-US" b="1" dirty="0"/>
              <a:t>District Table</a:t>
            </a:r>
            <a:endParaRPr lang="en-US" dirty="0"/>
          </a:p>
          <a:p>
            <a:r>
              <a:rPr lang="en-US" b="1" dirty="0"/>
              <a:t>Account Table</a:t>
            </a:r>
            <a:endParaRPr lang="en-US" dirty="0"/>
          </a:p>
          <a:p>
            <a:r>
              <a:rPr lang="en-US" b="1" dirty="0"/>
              <a:t>Trans Table</a:t>
            </a:r>
            <a:endParaRPr lang="en-US" dirty="0"/>
          </a:p>
          <a:p>
            <a:r>
              <a:rPr lang="en-US" b="1" dirty="0" err="1"/>
              <a:t>Disp</a:t>
            </a:r>
            <a:r>
              <a:rPr lang="en-US" b="1" dirty="0"/>
              <a:t> Table</a:t>
            </a:r>
            <a:endParaRPr lang="en-US" dirty="0"/>
          </a:p>
          <a:p>
            <a:r>
              <a:rPr lang="en-US" b="1" dirty="0"/>
              <a:t>Card Table</a:t>
            </a:r>
            <a:endParaRPr lang="en-US" dirty="0"/>
          </a:p>
          <a:p>
            <a:pPr>
              <a:buFont typeface="Arial" panose="020B0604020202020204" pitchFamily="34" charset="0"/>
              <a:buChar char="•"/>
            </a:pPr>
            <a:endParaRPr lang="en-IN" dirty="0"/>
          </a:p>
        </p:txBody>
      </p:sp>
      <p:sp>
        <p:nvSpPr>
          <p:cNvPr id="4" name="Title 2">
            <a:extLst>
              <a:ext uri="{FF2B5EF4-FFF2-40B4-BE49-F238E27FC236}">
                <a16:creationId xmlns:a16="http://schemas.microsoft.com/office/drawing/2014/main" id="{0BCA9C56-E955-DE63-1906-42F5502BE209}"/>
              </a:ext>
            </a:extLst>
          </p:cNvPr>
          <p:cNvSpPr txBox="1">
            <a:spLocks/>
          </p:cNvSpPr>
          <p:nvPr/>
        </p:nvSpPr>
        <p:spPr>
          <a:xfrm>
            <a:off x="0" y="0"/>
            <a:ext cx="12192000" cy="698090"/>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US" sz="3600" kern="0" dirty="0"/>
              <a:t>360 Tables </a:t>
            </a:r>
            <a:endParaRPr lang="en-IN" sz="3600" kern="0" dirty="0"/>
          </a:p>
        </p:txBody>
      </p:sp>
    </p:spTree>
    <p:extLst>
      <p:ext uri="{BB962C8B-B14F-4D97-AF65-F5344CB8AC3E}">
        <p14:creationId xmlns:p14="http://schemas.microsoft.com/office/powerpoint/2010/main" val="21988400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88B5A505-F2DC-1CFB-0F08-5821EE2D3C9A}"/>
              </a:ext>
            </a:extLst>
          </p:cNvPr>
          <p:cNvSpPr txBox="1">
            <a:spLocks/>
          </p:cNvSpPr>
          <p:nvPr/>
        </p:nvSpPr>
        <p:spPr>
          <a:xfrm>
            <a:off x="0" y="2458065"/>
            <a:ext cx="12192000" cy="865238"/>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US" sz="5400" kern="0" dirty="0"/>
              <a:t>Analysis </a:t>
            </a:r>
            <a:endParaRPr lang="en-IN" sz="5400" kern="0" dirty="0"/>
          </a:p>
        </p:txBody>
      </p:sp>
    </p:spTree>
    <p:extLst>
      <p:ext uri="{BB962C8B-B14F-4D97-AF65-F5344CB8AC3E}">
        <p14:creationId xmlns:p14="http://schemas.microsoft.com/office/powerpoint/2010/main" val="74923853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5970882-22C7-661E-ECAB-82518CD07FBA}"/>
              </a:ext>
            </a:extLst>
          </p:cNvPr>
          <p:cNvSpPr>
            <a:spLocks noGrp="1"/>
          </p:cNvSpPr>
          <p:nvPr>
            <p:ph type="body" idx="1"/>
          </p:nvPr>
        </p:nvSpPr>
        <p:spPr>
          <a:xfrm>
            <a:off x="206477" y="816077"/>
            <a:ext cx="11769214" cy="5299587"/>
          </a:xfrm>
        </p:spPr>
        <p:txBody>
          <a:bodyPr/>
          <a:lstStyle/>
          <a:p>
            <a:r>
              <a:rPr lang="en-US" dirty="0"/>
              <a:t>This is the </a:t>
            </a:r>
            <a:r>
              <a:rPr lang="en-US" sz="1800" dirty="0">
                <a:latin typeface="Bahnschrift" panose="020B0502040204020203" pitchFamily="34" charset="0"/>
                <a:cs typeface="Arial" panose="020B0604020202020204" pitchFamily="34" charset="0"/>
              </a:rPr>
              <a:t>Berka Dataset which gives a real-world banking datasets tells how the banks operates across 77 districts  and how the transactions flows from 1993 to 1998 </a:t>
            </a:r>
            <a:endParaRPr lang="en-IN" sz="1800" dirty="0">
              <a:latin typeface="Bahnschrift" panose="020B0502040204020203" pitchFamily="34" charset="0"/>
              <a:cs typeface="Arial" panose="020B0604020202020204" pitchFamily="34" charset="0"/>
            </a:endParaRPr>
          </a:p>
          <a:p>
            <a:r>
              <a:rPr lang="en-IN" sz="1800" dirty="0">
                <a:latin typeface="Bahnschrift" panose="020B0502040204020203" pitchFamily="34" charset="0"/>
                <a:cs typeface="Arial" panose="020B0604020202020204" pitchFamily="34" charset="0"/>
              </a:rPr>
              <a:t>This datasets helps in understanding customer behaviour </a:t>
            </a:r>
          </a:p>
          <a:p>
            <a:pPr marL="186262" indent="0">
              <a:buNone/>
            </a:pPr>
            <a:endParaRPr lang="en-IN" sz="1800" dirty="0">
              <a:latin typeface="Bahnschrift" panose="020B0502040204020203" pitchFamily="34" charset="0"/>
              <a:cs typeface="Arial" panose="020B0604020202020204" pitchFamily="34" charset="0"/>
            </a:endParaRPr>
          </a:p>
          <a:p>
            <a:pPr marL="186262" indent="0">
              <a:buNone/>
            </a:pPr>
            <a:r>
              <a:rPr lang="en-IN" sz="1800" dirty="0">
                <a:latin typeface="Bahnschrift" panose="020B0502040204020203" pitchFamily="34" charset="0"/>
                <a:cs typeface="Arial" panose="020B0604020202020204" pitchFamily="34" charset="0"/>
              </a:rPr>
              <a:t>This datasets consists of :</a:t>
            </a:r>
          </a:p>
          <a:p>
            <a:r>
              <a:rPr lang="en-IN" sz="1800" dirty="0">
                <a:latin typeface="Bahnschrift" panose="020B0502040204020203" pitchFamily="34" charset="0"/>
                <a:cs typeface="Arial" panose="020B0604020202020204" pitchFamily="34" charset="0"/>
              </a:rPr>
              <a:t>Transactions counts - </a:t>
            </a:r>
            <a:r>
              <a:rPr lang="en-IN" dirty="0"/>
              <a:t>10,56,320</a:t>
            </a:r>
          </a:p>
          <a:p>
            <a:r>
              <a:rPr lang="en-IN" sz="1800" dirty="0">
                <a:latin typeface="Bahnschrift" panose="020B0502040204020203" pitchFamily="34" charset="0"/>
                <a:cs typeface="Arial" panose="020B0604020202020204" pitchFamily="34" charset="0"/>
              </a:rPr>
              <a:t>Customers counts – 5369 </a:t>
            </a:r>
          </a:p>
          <a:p>
            <a:r>
              <a:rPr lang="en-IN" sz="1800" dirty="0">
                <a:latin typeface="Bahnschrift" panose="020B0502040204020203" pitchFamily="34" charset="0"/>
                <a:cs typeface="Arial" panose="020B0604020202020204" pitchFamily="34" charset="0"/>
              </a:rPr>
              <a:t>Districts – 77 </a:t>
            </a:r>
          </a:p>
          <a:p>
            <a:r>
              <a:rPr lang="en-IN" sz="1800" dirty="0">
                <a:latin typeface="Bahnschrift" panose="020B0502040204020203" pitchFamily="34" charset="0"/>
                <a:cs typeface="Arial" panose="020B0604020202020204" pitchFamily="34" charset="0"/>
              </a:rPr>
              <a:t>Accounts – 4500 </a:t>
            </a:r>
          </a:p>
          <a:p>
            <a:r>
              <a:rPr lang="en-IN" sz="1800" dirty="0">
                <a:latin typeface="Bahnschrift" panose="020B0502040204020203" pitchFamily="34" charset="0"/>
                <a:cs typeface="Arial" panose="020B0604020202020204" pitchFamily="34" charset="0"/>
              </a:rPr>
              <a:t>Loan taken – 682</a:t>
            </a:r>
          </a:p>
          <a:p>
            <a:r>
              <a:rPr lang="en-IN" sz="1800" dirty="0">
                <a:latin typeface="Bahnschrift" panose="020B0502040204020203" pitchFamily="34" charset="0"/>
                <a:cs typeface="Arial" panose="020B0604020202020204" pitchFamily="34" charset="0"/>
              </a:rPr>
              <a:t>… many more </a:t>
            </a:r>
          </a:p>
          <a:p>
            <a:pPr>
              <a:buFont typeface="Wingdings" panose="05000000000000000000" pitchFamily="2" charset="2"/>
              <a:buChar char="v"/>
            </a:pPr>
            <a:r>
              <a:rPr lang="en-IN" sz="1800" dirty="0">
                <a:latin typeface="Bahnschrift" panose="020B0502040204020203" pitchFamily="34" charset="0"/>
                <a:cs typeface="Arial" panose="020B0604020202020204" pitchFamily="34" charset="0"/>
              </a:rPr>
              <a:t>Here our task is to analyse how the transactions flows and on the basis of what characters to grant loan </a:t>
            </a:r>
            <a:endParaRPr lang="en-US" sz="1800" dirty="0">
              <a:latin typeface="Bahnschrift" panose="020B0502040204020203" pitchFamily="34" charset="0"/>
              <a:cs typeface="Arial" panose="020B0604020202020204" pitchFamily="34" charset="0"/>
            </a:endParaRPr>
          </a:p>
        </p:txBody>
      </p:sp>
      <p:sp>
        <p:nvSpPr>
          <p:cNvPr id="4" name="Title 2">
            <a:extLst>
              <a:ext uri="{FF2B5EF4-FFF2-40B4-BE49-F238E27FC236}">
                <a16:creationId xmlns:a16="http://schemas.microsoft.com/office/drawing/2014/main" id="{6B2091A9-CEB2-B1BD-357F-C14E6607D829}"/>
              </a:ext>
            </a:extLst>
          </p:cNvPr>
          <p:cNvSpPr txBox="1">
            <a:spLocks/>
          </p:cNvSpPr>
          <p:nvPr/>
        </p:nvSpPr>
        <p:spPr>
          <a:xfrm>
            <a:off x="0" y="0"/>
            <a:ext cx="12192000" cy="698090"/>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IN" sz="3600" dirty="0"/>
              <a:t>Dataset Overview &amp; Analysis</a:t>
            </a:r>
            <a:endParaRPr lang="en-IN" sz="3600" kern="0" dirty="0"/>
          </a:p>
        </p:txBody>
      </p:sp>
    </p:spTree>
    <p:extLst>
      <p:ext uri="{BB962C8B-B14F-4D97-AF65-F5344CB8AC3E}">
        <p14:creationId xmlns:p14="http://schemas.microsoft.com/office/powerpoint/2010/main" val="19090889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1C60C93-0390-E585-02B0-A8175A057989}"/>
              </a:ext>
            </a:extLst>
          </p:cNvPr>
          <p:cNvSpPr>
            <a:spLocks noGrp="1"/>
          </p:cNvSpPr>
          <p:nvPr>
            <p:ph type="body" idx="1"/>
          </p:nvPr>
        </p:nvSpPr>
        <p:spPr>
          <a:xfrm>
            <a:off x="314633" y="1052051"/>
            <a:ext cx="11700387" cy="698090"/>
          </a:xfrm>
        </p:spPr>
        <p:txBody>
          <a:bodyPr>
            <a:normAutofit/>
          </a:bodyPr>
          <a:lstStyle/>
          <a:p>
            <a:pPr marL="186262" indent="0">
              <a:buNone/>
            </a:pPr>
            <a:r>
              <a:rPr lang="en-US" sz="2400" u="sng" dirty="0"/>
              <a:t>Transactions Analysis </a:t>
            </a:r>
          </a:p>
          <a:p>
            <a:pPr marL="643462" indent="-457200">
              <a:buAutoNum type="arabicParenR"/>
            </a:pPr>
            <a:endParaRPr lang="en-IN" dirty="0"/>
          </a:p>
        </p:txBody>
      </p:sp>
      <p:sp>
        <p:nvSpPr>
          <p:cNvPr id="4" name="Title 2">
            <a:extLst>
              <a:ext uri="{FF2B5EF4-FFF2-40B4-BE49-F238E27FC236}">
                <a16:creationId xmlns:a16="http://schemas.microsoft.com/office/drawing/2014/main" id="{133D68F9-F8CE-B07C-8F89-ED6E2CC8A839}"/>
              </a:ext>
            </a:extLst>
          </p:cNvPr>
          <p:cNvSpPr txBox="1">
            <a:spLocks/>
          </p:cNvSpPr>
          <p:nvPr/>
        </p:nvSpPr>
        <p:spPr>
          <a:xfrm>
            <a:off x="0" y="0"/>
            <a:ext cx="12192000" cy="698090"/>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US" sz="3600" kern="0" dirty="0"/>
              <a:t>Key Performance Metrics </a:t>
            </a:r>
            <a:endParaRPr lang="en-IN" sz="3600" kern="0" dirty="0"/>
          </a:p>
        </p:txBody>
      </p:sp>
      <p:graphicFrame>
        <p:nvGraphicFramePr>
          <p:cNvPr id="5" name="Table 4">
            <a:extLst>
              <a:ext uri="{FF2B5EF4-FFF2-40B4-BE49-F238E27FC236}">
                <a16:creationId xmlns:a16="http://schemas.microsoft.com/office/drawing/2014/main" id="{8EA55FDD-EC2D-0327-C573-36A855ABC6E1}"/>
              </a:ext>
            </a:extLst>
          </p:cNvPr>
          <p:cNvGraphicFramePr>
            <a:graphicFrameLocks noGrp="1"/>
          </p:cNvGraphicFramePr>
          <p:nvPr>
            <p:extLst>
              <p:ext uri="{D42A27DB-BD31-4B8C-83A1-F6EECF244321}">
                <p14:modId xmlns:p14="http://schemas.microsoft.com/office/powerpoint/2010/main" val="2921245641"/>
              </p:ext>
            </p:extLst>
          </p:nvPr>
        </p:nvGraphicFramePr>
        <p:xfrm>
          <a:off x="1894349" y="1919202"/>
          <a:ext cx="8128000" cy="3007872"/>
        </p:xfrm>
        <a:graphic>
          <a:graphicData uri="http://schemas.openxmlformats.org/drawingml/2006/table">
            <a:tbl>
              <a:tblPr firstRow="1" bandRow="1">
                <a:tableStyleId>{69C7853C-536D-4A76-A0AE-DD22124D55A5}</a:tableStyleId>
              </a:tblPr>
              <a:tblGrid>
                <a:gridCol w="4064000">
                  <a:extLst>
                    <a:ext uri="{9D8B030D-6E8A-4147-A177-3AD203B41FA5}">
                      <a16:colId xmlns:a16="http://schemas.microsoft.com/office/drawing/2014/main" val="623150477"/>
                    </a:ext>
                  </a:extLst>
                </a:gridCol>
                <a:gridCol w="4064000">
                  <a:extLst>
                    <a:ext uri="{9D8B030D-6E8A-4147-A177-3AD203B41FA5}">
                      <a16:colId xmlns:a16="http://schemas.microsoft.com/office/drawing/2014/main" val="2072802794"/>
                    </a:ext>
                  </a:extLst>
                </a:gridCol>
              </a:tblGrid>
              <a:tr h="370840">
                <a:tc>
                  <a:txBody>
                    <a:bodyPr/>
                    <a:lstStyle/>
                    <a:p>
                      <a:pPr algn="ctr"/>
                      <a:r>
                        <a:rPr lang="en-US" dirty="0">
                          <a:solidFill>
                            <a:schemeClr val="tx1"/>
                          </a:solidFill>
                        </a:rPr>
                        <a:t>Metrics </a:t>
                      </a:r>
                      <a:endParaRPr lang="en-IN" dirty="0">
                        <a:solidFill>
                          <a:schemeClr val="tx1"/>
                        </a:solidFill>
                      </a:endParaRPr>
                    </a:p>
                  </a:txBody>
                  <a:tcPr/>
                </a:tc>
                <a:tc>
                  <a:txBody>
                    <a:bodyPr/>
                    <a:lstStyle/>
                    <a:p>
                      <a:pPr algn="ctr"/>
                      <a:r>
                        <a:rPr lang="en-US" dirty="0">
                          <a:solidFill>
                            <a:schemeClr val="tx1"/>
                          </a:solidFill>
                        </a:rPr>
                        <a:t>Values</a:t>
                      </a:r>
                      <a:endParaRPr lang="en-IN" dirty="0">
                        <a:solidFill>
                          <a:schemeClr val="tx1"/>
                        </a:solidFill>
                      </a:endParaRPr>
                    </a:p>
                  </a:txBody>
                  <a:tcPr/>
                </a:tc>
                <a:extLst>
                  <a:ext uri="{0D108BD9-81ED-4DB2-BD59-A6C34878D82A}">
                    <a16:rowId xmlns:a16="http://schemas.microsoft.com/office/drawing/2014/main" val="824067025"/>
                  </a:ext>
                </a:extLst>
              </a:tr>
              <a:tr h="370840">
                <a:tc>
                  <a:txBody>
                    <a:bodyPr/>
                    <a:lstStyle/>
                    <a:p>
                      <a:r>
                        <a:rPr lang="en-US" dirty="0"/>
                        <a:t>Total Transactions </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867" b="0" u="none" strike="noStrike" cap="none" dirty="0">
                          <a:solidFill>
                            <a:schemeClr val="dk1"/>
                          </a:solidFill>
                          <a:effectLst/>
                          <a:sym typeface="Arial"/>
                        </a:rPr>
                        <a:t>1.1 M</a:t>
                      </a:r>
                      <a:endParaRPr lang="en-IN" sz="1867" b="0" i="0" u="none" strike="noStrike" cap="none" dirty="0">
                        <a:solidFill>
                          <a:schemeClr val="dk1"/>
                        </a:solidFill>
                        <a:effectLst/>
                        <a:latin typeface="+mn-lt"/>
                        <a:ea typeface="+mn-ea"/>
                        <a:cs typeface="+mn-cs"/>
                        <a:sym typeface="Arial"/>
                      </a:endParaRPr>
                    </a:p>
                  </a:txBody>
                  <a:tcPr/>
                </a:tc>
                <a:extLst>
                  <a:ext uri="{0D108BD9-81ED-4DB2-BD59-A6C34878D82A}">
                    <a16:rowId xmlns:a16="http://schemas.microsoft.com/office/drawing/2014/main" val="2956001655"/>
                  </a:ext>
                </a:extLst>
              </a:tr>
              <a:tr h="370840">
                <a:tc>
                  <a:txBody>
                    <a:bodyPr/>
                    <a:lstStyle/>
                    <a:p>
                      <a:r>
                        <a:rPr lang="en-US" dirty="0"/>
                        <a:t>Total Accounts </a:t>
                      </a:r>
                      <a:endParaRPr lang="en-IN" dirty="0"/>
                    </a:p>
                  </a:txBody>
                  <a:tcPr/>
                </a:tc>
                <a:tc>
                  <a:txBody>
                    <a:bodyPr/>
                    <a:lstStyle/>
                    <a:p>
                      <a:r>
                        <a:rPr lang="en-US" dirty="0"/>
                        <a:t>4500</a:t>
                      </a:r>
                      <a:endParaRPr lang="en-IN" dirty="0"/>
                    </a:p>
                  </a:txBody>
                  <a:tcPr/>
                </a:tc>
                <a:extLst>
                  <a:ext uri="{0D108BD9-81ED-4DB2-BD59-A6C34878D82A}">
                    <a16:rowId xmlns:a16="http://schemas.microsoft.com/office/drawing/2014/main" val="244606094"/>
                  </a:ext>
                </a:extLst>
              </a:tr>
              <a:tr h="370840">
                <a:tc>
                  <a:txBody>
                    <a:bodyPr/>
                    <a:lstStyle/>
                    <a:p>
                      <a:r>
                        <a:rPr lang="en-US" dirty="0"/>
                        <a:t>Max Account Balance </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867" b="0" u="none" strike="noStrike" cap="none" dirty="0">
                          <a:solidFill>
                            <a:schemeClr val="dk1"/>
                          </a:solidFill>
                          <a:effectLst/>
                          <a:sym typeface="Arial"/>
                        </a:rPr>
                        <a:t>2,09,637</a:t>
                      </a:r>
                      <a:endParaRPr lang="en-IN" sz="1867" b="0" i="0" u="none" strike="noStrike" cap="none" dirty="0">
                        <a:solidFill>
                          <a:schemeClr val="dk1"/>
                        </a:solidFill>
                        <a:effectLst/>
                        <a:latin typeface="+mn-lt"/>
                        <a:ea typeface="+mn-ea"/>
                        <a:cs typeface="+mn-cs"/>
                        <a:sym typeface="Arial"/>
                      </a:endParaRPr>
                    </a:p>
                  </a:txBody>
                  <a:tcPr/>
                </a:tc>
                <a:extLst>
                  <a:ext uri="{0D108BD9-81ED-4DB2-BD59-A6C34878D82A}">
                    <a16:rowId xmlns:a16="http://schemas.microsoft.com/office/drawing/2014/main" val="3805434968"/>
                  </a:ext>
                </a:extLst>
              </a:tr>
              <a:tr h="370840">
                <a:tc>
                  <a:txBody>
                    <a:bodyPr/>
                    <a:lstStyle/>
                    <a:p>
                      <a:r>
                        <a:rPr lang="en-US" dirty="0"/>
                        <a:t>Most Transactions Type</a:t>
                      </a:r>
                      <a:endParaRPr lang="en-IN" dirty="0"/>
                    </a:p>
                  </a:txBody>
                  <a:tcPr/>
                </a:tc>
                <a:tc>
                  <a:txBody>
                    <a:bodyPr/>
                    <a:lstStyle/>
                    <a:p>
                      <a:r>
                        <a:rPr lang="en-US" dirty="0"/>
                        <a:t>Expense</a:t>
                      </a:r>
                      <a:endParaRPr lang="en-IN" dirty="0"/>
                    </a:p>
                  </a:txBody>
                  <a:tcPr/>
                </a:tc>
                <a:extLst>
                  <a:ext uri="{0D108BD9-81ED-4DB2-BD59-A6C34878D82A}">
                    <a16:rowId xmlns:a16="http://schemas.microsoft.com/office/drawing/2014/main" val="1370799655"/>
                  </a:ext>
                </a:extLst>
              </a:tr>
              <a:tr h="370840">
                <a:tc>
                  <a:txBody>
                    <a:bodyPr/>
                    <a:lstStyle/>
                    <a:p>
                      <a:r>
                        <a:rPr lang="en-US" dirty="0"/>
                        <a:t>Most Operation Type </a:t>
                      </a:r>
                      <a:endParaRPr lang="en-IN" dirty="0"/>
                    </a:p>
                  </a:txBody>
                  <a:tcPr/>
                </a:tc>
                <a:tc>
                  <a:txBody>
                    <a:bodyPr/>
                    <a:lstStyle/>
                    <a:p>
                      <a:r>
                        <a:rPr lang="en-US" dirty="0"/>
                        <a:t>Withdrawals</a:t>
                      </a:r>
                      <a:endParaRPr lang="en-IN" dirty="0"/>
                    </a:p>
                  </a:txBody>
                  <a:tcPr/>
                </a:tc>
                <a:extLst>
                  <a:ext uri="{0D108BD9-81ED-4DB2-BD59-A6C34878D82A}">
                    <a16:rowId xmlns:a16="http://schemas.microsoft.com/office/drawing/2014/main" val="1509178412"/>
                  </a:ext>
                </a:extLst>
              </a:tr>
              <a:tr h="370840">
                <a:tc>
                  <a:txBody>
                    <a:bodyPr/>
                    <a:lstStyle/>
                    <a:p>
                      <a:r>
                        <a:rPr lang="en-US" dirty="0"/>
                        <a:t>Peak Transactions Day</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67" b="0" u="none" strike="noStrike" cap="none" dirty="0">
                          <a:solidFill>
                            <a:schemeClr val="dk1"/>
                          </a:solidFill>
                          <a:effectLst/>
                          <a:sym typeface="Arial"/>
                        </a:rPr>
                        <a:t>Saturday</a:t>
                      </a:r>
                      <a:endParaRPr lang="en-IN" sz="1867" b="0" i="0" u="none" strike="noStrike" cap="none" dirty="0">
                        <a:solidFill>
                          <a:schemeClr val="dk1"/>
                        </a:solidFill>
                        <a:effectLst/>
                        <a:latin typeface="+mn-lt"/>
                        <a:ea typeface="+mn-ea"/>
                        <a:cs typeface="+mn-cs"/>
                        <a:sym typeface="Arial"/>
                      </a:endParaRPr>
                    </a:p>
                  </a:txBody>
                  <a:tcPr/>
                </a:tc>
                <a:extLst>
                  <a:ext uri="{0D108BD9-81ED-4DB2-BD59-A6C34878D82A}">
                    <a16:rowId xmlns:a16="http://schemas.microsoft.com/office/drawing/2014/main" val="559194228"/>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Peak Transactions Month</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67" b="0" u="none" strike="noStrike" cap="none" dirty="0">
                          <a:solidFill>
                            <a:schemeClr val="dk1"/>
                          </a:solidFill>
                          <a:effectLst/>
                          <a:sym typeface="Arial"/>
                        </a:rPr>
                        <a:t>January </a:t>
                      </a:r>
                      <a:endParaRPr lang="en-IN" sz="1867" b="0" i="0" u="none" strike="noStrike" cap="none" dirty="0">
                        <a:solidFill>
                          <a:schemeClr val="dk1"/>
                        </a:solidFill>
                        <a:effectLst/>
                        <a:latin typeface="+mn-lt"/>
                        <a:ea typeface="+mn-ea"/>
                        <a:cs typeface="+mn-cs"/>
                        <a:sym typeface="Arial"/>
                      </a:endParaRPr>
                    </a:p>
                  </a:txBody>
                  <a:tcPr/>
                </a:tc>
                <a:extLst>
                  <a:ext uri="{0D108BD9-81ED-4DB2-BD59-A6C34878D82A}">
                    <a16:rowId xmlns:a16="http://schemas.microsoft.com/office/drawing/2014/main" val="3164124519"/>
                  </a:ext>
                </a:extLst>
              </a:tr>
            </a:tbl>
          </a:graphicData>
        </a:graphic>
      </p:graphicFrame>
    </p:spTree>
    <p:extLst>
      <p:ext uri="{BB962C8B-B14F-4D97-AF65-F5344CB8AC3E}">
        <p14:creationId xmlns:p14="http://schemas.microsoft.com/office/powerpoint/2010/main" val="17846375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25EEFB0F-59AF-8845-BDA3-C1C1367763C5}"/>
              </a:ext>
            </a:extLst>
          </p:cNvPr>
          <p:cNvSpPr txBox="1">
            <a:spLocks/>
          </p:cNvSpPr>
          <p:nvPr/>
        </p:nvSpPr>
        <p:spPr>
          <a:xfrm>
            <a:off x="0" y="0"/>
            <a:ext cx="12192000" cy="698090"/>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US" sz="3600" kern="0" dirty="0"/>
              <a:t>Key Performance Metrics </a:t>
            </a:r>
            <a:endParaRPr lang="en-IN" sz="3600" kern="0" dirty="0"/>
          </a:p>
        </p:txBody>
      </p:sp>
      <p:sp>
        <p:nvSpPr>
          <p:cNvPr id="5" name="Text Placeholder 1">
            <a:extLst>
              <a:ext uri="{FF2B5EF4-FFF2-40B4-BE49-F238E27FC236}">
                <a16:creationId xmlns:a16="http://schemas.microsoft.com/office/drawing/2014/main" id="{B66DF581-2F15-6D21-3BC1-38FAEEDAB30B}"/>
              </a:ext>
            </a:extLst>
          </p:cNvPr>
          <p:cNvSpPr>
            <a:spLocks noGrp="1"/>
          </p:cNvSpPr>
          <p:nvPr>
            <p:ph type="body" idx="1"/>
          </p:nvPr>
        </p:nvSpPr>
        <p:spPr>
          <a:xfrm>
            <a:off x="314633" y="1052051"/>
            <a:ext cx="11700387" cy="698090"/>
          </a:xfrm>
        </p:spPr>
        <p:txBody>
          <a:bodyPr>
            <a:normAutofit/>
          </a:bodyPr>
          <a:lstStyle/>
          <a:p>
            <a:pPr marL="186262" indent="0">
              <a:buNone/>
            </a:pPr>
            <a:r>
              <a:rPr lang="en-US" sz="2400" u="sng" dirty="0"/>
              <a:t>Loan Analysis </a:t>
            </a:r>
          </a:p>
          <a:p>
            <a:pPr marL="643462" indent="-457200">
              <a:buAutoNum type="arabicParenR"/>
            </a:pPr>
            <a:endParaRPr lang="en-IN" dirty="0"/>
          </a:p>
        </p:txBody>
      </p:sp>
      <p:graphicFrame>
        <p:nvGraphicFramePr>
          <p:cNvPr id="6" name="Table 5">
            <a:extLst>
              <a:ext uri="{FF2B5EF4-FFF2-40B4-BE49-F238E27FC236}">
                <a16:creationId xmlns:a16="http://schemas.microsoft.com/office/drawing/2014/main" id="{07FABEF0-5C79-63DC-BB45-F36DFC091596}"/>
              </a:ext>
            </a:extLst>
          </p:cNvPr>
          <p:cNvGraphicFramePr>
            <a:graphicFrameLocks noGrp="1"/>
          </p:cNvGraphicFramePr>
          <p:nvPr>
            <p:extLst>
              <p:ext uri="{D42A27DB-BD31-4B8C-83A1-F6EECF244321}">
                <p14:modId xmlns:p14="http://schemas.microsoft.com/office/powerpoint/2010/main" val="2719535183"/>
              </p:ext>
            </p:extLst>
          </p:nvPr>
        </p:nvGraphicFramePr>
        <p:xfrm>
          <a:off x="1894349" y="1919202"/>
          <a:ext cx="8128000" cy="3007872"/>
        </p:xfrm>
        <a:graphic>
          <a:graphicData uri="http://schemas.openxmlformats.org/drawingml/2006/table">
            <a:tbl>
              <a:tblPr firstRow="1" bandRow="1">
                <a:tableStyleId>{69C7853C-536D-4A76-A0AE-DD22124D55A5}</a:tableStyleId>
              </a:tblPr>
              <a:tblGrid>
                <a:gridCol w="4064000">
                  <a:extLst>
                    <a:ext uri="{9D8B030D-6E8A-4147-A177-3AD203B41FA5}">
                      <a16:colId xmlns:a16="http://schemas.microsoft.com/office/drawing/2014/main" val="623150477"/>
                    </a:ext>
                  </a:extLst>
                </a:gridCol>
                <a:gridCol w="4064000">
                  <a:extLst>
                    <a:ext uri="{9D8B030D-6E8A-4147-A177-3AD203B41FA5}">
                      <a16:colId xmlns:a16="http://schemas.microsoft.com/office/drawing/2014/main" val="2072802794"/>
                    </a:ext>
                  </a:extLst>
                </a:gridCol>
              </a:tblGrid>
              <a:tr h="370840">
                <a:tc>
                  <a:txBody>
                    <a:bodyPr/>
                    <a:lstStyle/>
                    <a:p>
                      <a:pPr algn="ctr"/>
                      <a:r>
                        <a:rPr lang="en-US" dirty="0">
                          <a:solidFill>
                            <a:schemeClr val="tx1"/>
                          </a:solidFill>
                        </a:rPr>
                        <a:t>Metrics </a:t>
                      </a:r>
                      <a:endParaRPr lang="en-IN" dirty="0">
                        <a:solidFill>
                          <a:schemeClr val="tx1"/>
                        </a:solidFill>
                      </a:endParaRPr>
                    </a:p>
                  </a:txBody>
                  <a:tcPr/>
                </a:tc>
                <a:tc>
                  <a:txBody>
                    <a:bodyPr/>
                    <a:lstStyle/>
                    <a:p>
                      <a:pPr algn="ctr"/>
                      <a:r>
                        <a:rPr lang="en-US" dirty="0">
                          <a:solidFill>
                            <a:schemeClr val="tx1"/>
                          </a:solidFill>
                        </a:rPr>
                        <a:t>Values</a:t>
                      </a:r>
                      <a:endParaRPr lang="en-IN" dirty="0">
                        <a:solidFill>
                          <a:schemeClr val="tx1"/>
                        </a:solidFill>
                      </a:endParaRPr>
                    </a:p>
                  </a:txBody>
                  <a:tcPr/>
                </a:tc>
                <a:extLst>
                  <a:ext uri="{0D108BD9-81ED-4DB2-BD59-A6C34878D82A}">
                    <a16:rowId xmlns:a16="http://schemas.microsoft.com/office/drawing/2014/main" val="824067025"/>
                  </a:ext>
                </a:extLst>
              </a:tr>
              <a:tr h="370840">
                <a:tc>
                  <a:txBody>
                    <a:bodyPr/>
                    <a:lstStyle/>
                    <a:p>
                      <a:r>
                        <a:rPr lang="en-US" dirty="0"/>
                        <a:t>Total Loans </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867" b="0" i="0" u="none" strike="noStrike" cap="none" dirty="0">
                          <a:solidFill>
                            <a:schemeClr val="dk1"/>
                          </a:solidFill>
                          <a:effectLst/>
                          <a:latin typeface="+mn-lt"/>
                          <a:ea typeface="+mn-ea"/>
                          <a:cs typeface="+mn-cs"/>
                          <a:sym typeface="Arial"/>
                        </a:rPr>
                        <a:t>682</a:t>
                      </a:r>
                    </a:p>
                  </a:txBody>
                  <a:tcPr/>
                </a:tc>
                <a:extLst>
                  <a:ext uri="{0D108BD9-81ED-4DB2-BD59-A6C34878D82A}">
                    <a16:rowId xmlns:a16="http://schemas.microsoft.com/office/drawing/2014/main" val="2956001655"/>
                  </a:ext>
                </a:extLst>
              </a:tr>
              <a:tr h="370840">
                <a:tc>
                  <a:txBody>
                    <a:bodyPr/>
                    <a:lstStyle/>
                    <a:p>
                      <a:r>
                        <a:rPr lang="en-US" dirty="0"/>
                        <a:t>Total Accounts </a:t>
                      </a:r>
                      <a:endParaRPr lang="en-IN" dirty="0"/>
                    </a:p>
                  </a:txBody>
                  <a:tcPr/>
                </a:tc>
                <a:tc>
                  <a:txBody>
                    <a:bodyPr/>
                    <a:lstStyle/>
                    <a:p>
                      <a:r>
                        <a:rPr lang="en-US" dirty="0"/>
                        <a:t>4500</a:t>
                      </a:r>
                      <a:endParaRPr lang="en-IN" dirty="0"/>
                    </a:p>
                  </a:txBody>
                  <a:tcPr/>
                </a:tc>
                <a:extLst>
                  <a:ext uri="{0D108BD9-81ED-4DB2-BD59-A6C34878D82A}">
                    <a16:rowId xmlns:a16="http://schemas.microsoft.com/office/drawing/2014/main" val="244606094"/>
                  </a:ext>
                </a:extLst>
              </a:tr>
              <a:tr h="370840">
                <a:tc>
                  <a:txBody>
                    <a:bodyPr/>
                    <a:lstStyle/>
                    <a:p>
                      <a:r>
                        <a:rPr lang="en-IN" dirty="0"/>
                        <a:t>Loan Adoption Rate (%)</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IN" sz="1867" b="0" i="0" u="none" strike="noStrike" cap="none" dirty="0">
                          <a:solidFill>
                            <a:schemeClr val="dk1"/>
                          </a:solidFill>
                          <a:effectLst/>
                          <a:latin typeface="+mn-lt"/>
                          <a:ea typeface="+mn-ea"/>
                          <a:cs typeface="+mn-cs"/>
                          <a:sym typeface="Arial"/>
                        </a:rPr>
                        <a:t>15.16%</a:t>
                      </a:r>
                    </a:p>
                  </a:txBody>
                  <a:tcPr/>
                </a:tc>
                <a:extLst>
                  <a:ext uri="{0D108BD9-81ED-4DB2-BD59-A6C34878D82A}">
                    <a16:rowId xmlns:a16="http://schemas.microsoft.com/office/drawing/2014/main" val="3805434968"/>
                  </a:ext>
                </a:extLst>
              </a:tr>
              <a:tr h="370840">
                <a:tc>
                  <a:txBody>
                    <a:bodyPr/>
                    <a:lstStyle/>
                    <a:p>
                      <a:r>
                        <a:rPr lang="en-US" dirty="0"/>
                        <a:t>Peak Loan Year </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67" b="0" i="0" u="none" strike="noStrike" cap="none" dirty="0">
                          <a:solidFill>
                            <a:schemeClr val="dk1"/>
                          </a:solidFill>
                          <a:effectLst/>
                          <a:latin typeface="+mn-lt"/>
                          <a:ea typeface="+mn-ea"/>
                          <a:cs typeface="+mn-cs"/>
                          <a:sym typeface="Arial"/>
                        </a:rPr>
                        <a:t>1997</a:t>
                      </a:r>
                      <a:endParaRPr lang="en-IN" sz="1867" b="0" i="0" u="none" strike="noStrike" cap="none" dirty="0">
                        <a:solidFill>
                          <a:schemeClr val="dk1"/>
                        </a:solidFill>
                        <a:effectLst/>
                        <a:latin typeface="+mn-lt"/>
                        <a:ea typeface="+mn-ea"/>
                        <a:cs typeface="+mn-cs"/>
                        <a:sym typeface="Arial"/>
                      </a:endParaRPr>
                    </a:p>
                  </a:txBody>
                  <a:tcPr/>
                </a:tc>
                <a:extLst>
                  <a:ext uri="{0D108BD9-81ED-4DB2-BD59-A6C34878D82A}">
                    <a16:rowId xmlns:a16="http://schemas.microsoft.com/office/drawing/2014/main" val="211580562"/>
                  </a:ext>
                </a:extLst>
              </a:tr>
              <a:tr h="370840">
                <a:tc>
                  <a:txBody>
                    <a:bodyPr/>
                    <a:lstStyle/>
                    <a:p>
                      <a:r>
                        <a:rPr lang="en-US" dirty="0"/>
                        <a:t>Top Loan Type</a:t>
                      </a:r>
                      <a:endParaRPr lang="en-IN" dirty="0"/>
                    </a:p>
                  </a:txBody>
                  <a:tcPr/>
                </a:tc>
                <a:tc>
                  <a:txBody>
                    <a:bodyPr/>
                    <a:lstStyle/>
                    <a:p>
                      <a:r>
                        <a:rPr lang="en-US" dirty="0"/>
                        <a:t>Short - Term Loans</a:t>
                      </a:r>
                      <a:endParaRPr lang="en-IN" dirty="0"/>
                    </a:p>
                  </a:txBody>
                  <a:tcPr/>
                </a:tc>
                <a:extLst>
                  <a:ext uri="{0D108BD9-81ED-4DB2-BD59-A6C34878D82A}">
                    <a16:rowId xmlns:a16="http://schemas.microsoft.com/office/drawing/2014/main" val="1370799655"/>
                  </a:ext>
                </a:extLst>
              </a:tr>
              <a:tr h="370840">
                <a:tc>
                  <a:txBody>
                    <a:bodyPr/>
                    <a:lstStyle/>
                    <a:p>
                      <a:r>
                        <a:rPr lang="en-US" dirty="0"/>
                        <a:t>Top Loan Repayment Status </a:t>
                      </a:r>
                      <a:endParaRPr lang="en-IN" dirty="0"/>
                    </a:p>
                  </a:txBody>
                  <a:tcPr/>
                </a:tc>
                <a:tc>
                  <a:txBody>
                    <a:bodyPr/>
                    <a:lstStyle/>
                    <a:p>
                      <a:r>
                        <a:rPr lang="en-US" dirty="0"/>
                        <a:t>C</a:t>
                      </a:r>
                      <a:endParaRPr lang="en-IN" dirty="0"/>
                    </a:p>
                  </a:txBody>
                  <a:tcPr/>
                </a:tc>
                <a:extLst>
                  <a:ext uri="{0D108BD9-81ED-4DB2-BD59-A6C34878D82A}">
                    <a16:rowId xmlns:a16="http://schemas.microsoft.com/office/drawing/2014/main" val="1509178412"/>
                  </a:ext>
                </a:extLst>
              </a:tr>
              <a:tr h="37084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Peak Loan Month</a:t>
                      </a:r>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867" b="0" i="0" u="none" strike="noStrike" cap="none" dirty="0">
                          <a:solidFill>
                            <a:schemeClr val="dk1"/>
                          </a:solidFill>
                          <a:effectLst/>
                          <a:latin typeface="+mn-lt"/>
                          <a:ea typeface="+mn-ea"/>
                          <a:cs typeface="+mn-cs"/>
                          <a:sym typeface="Arial"/>
                        </a:rPr>
                        <a:t>December </a:t>
                      </a:r>
                      <a:endParaRPr lang="en-IN" sz="1867" b="0" i="0" u="none" strike="noStrike" cap="none" dirty="0">
                        <a:solidFill>
                          <a:schemeClr val="dk1"/>
                        </a:solidFill>
                        <a:effectLst/>
                        <a:latin typeface="+mn-lt"/>
                        <a:ea typeface="+mn-ea"/>
                        <a:cs typeface="+mn-cs"/>
                        <a:sym typeface="Arial"/>
                      </a:endParaRPr>
                    </a:p>
                  </a:txBody>
                  <a:tcPr/>
                </a:tc>
                <a:extLst>
                  <a:ext uri="{0D108BD9-81ED-4DB2-BD59-A6C34878D82A}">
                    <a16:rowId xmlns:a16="http://schemas.microsoft.com/office/drawing/2014/main" val="3164124519"/>
                  </a:ext>
                </a:extLst>
              </a:tr>
            </a:tbl>
          </a:graphicData>
        </a:graphic>
      </p:graphicFrame>
    </p:spTree>
    <p:extLst>
      <p:ext uri="{BB962C8B-B14F-4D97-AF65-F5344CB8AC3E}">
        <p14:creationId xmlns:p14="http://schemas.microsoft.com/office/powerpoint/2010/main" val="30347761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AFC21902-FEE6-1FD6-DA22-2A2529A47EB6}"/>
              </a:ext>
            </a:extLst>
          </p:cNvPr>
          <p:cNvSpPr txBox="1">
            <a:spLocks/>
          </p:cNvSpPr>
          <p:nvPr/>
        </p:nvSpPr>
        <p:spPr>
          <a:xfrm>
            <a:off x="0" y="0"/>
            <a:ext cx="12192000" cy="698090"/>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US" sz="3600" kern="0" dirty="0"/>
              <a:t>Key Performance Metrics </a:t>
            </a:r>
            <a:endParaRPr lang="en-IN" sz="3600" kern="0" dirty="0"/>
          </a:p>
        </p:txBody>
      </p:sp>
      <p:sp>
        <p:nvSpPr>
          <p:cNvPr id="5" name="Text Placeholder 1">
            <a:extLst>
              <a:ext uri="{FF2B5EF4-FFF2-40B4-BE49-F238E27FC236}">
                <a16:creationId xmlns:a16="http://schemas.microsoft.com/office/drawing/2014/main" id="{DCADC681-4827-9DD5-431C-4F86C590224C}"/>
              </a:ext>
            </a:extLst>
          </p:cNvPr>
          <p:cNvSpPr>
            <a:spLocks noGrp="1"/>
          </p:cNvSpPr>
          <p:nvPr>
            <p:ph type="body" idx="1"/>
          </p:nvPr>
        </p:nvSpPr>
        <p:spPr>
          <a:xfrm>
            <a:off x="314633" y="1052051"/>
            <a:ext cx="11700387" cy="698090"/>
          </a:xfrm>
        </p:spPr>
        <p:txBody>
          <a:bodyPr>
            <a:normAutofit/>
          </a:bodyPr>
          <a:lstStyle/>
          <a:p>
            <a:pPr marL="186262" indent="0">
              <a:buNone/>
            </a:pPr>
            <a:r>
              <a:rPr lang="en-US" sz="2400" u="sng" dirty="0"/>
              <a:t>Customer Analysis </a:t>
            </a:r>
          </a:p>
          <a:p>
            <a:pPr marL="643462" indent="-457200">
              <a:buAutoNum type="arabicParenR"/>
            </a:pPr>
            <a:endParaRPr lang="en-IN" dirty="0"/>
          </a:p>
        </p:txBody>
      </p:sp>
      <p:graphicFrame>
        <p:nvGraphicFramePr>
          <p:cNvPr id="6" name="Table 5">
            <a:extLst>
              <a:ext uri="{FF2B5EF4-FFF2-40B4-BE49-F238E27FC236}">
                <a16:creationId xmlns:a16="http://schemas.microsoft.com/office/drawing/2014/main" id="{D2D53809-E50E-2EE6-3DBD-37F8CFB714BC}"/>
              </a:ext>
            </a:extLst>
          </p:cNvPr>
          <p:cNvGraphicFramePr>
            <a:graphicFrameLocks noGrp="1"/>
          </p:cNvGraphicFramePr>
          <p:nvPr>
            <p:extLst>
              <p:ext uri="{D42A27DB-BD31-4B8C-83A1-F6EECF244321}">
                <p14:modId xmlns:p14="http://schemas.microsoft.com/office/powerpoint/2010/main" val="37250166"/>
              </p:ext>
            </p:extLst>
          </p:nvPr>
        </p:nvGraphicFramePr>
        <p:xfrm>
          <a:off x="1894349" y="1919202"/>
          <a:ext cx="8128000" cy="3007872"/>
        </p:xfrm>
        <a:graphic>
          <a:graphicData uri="http://schemas.openxmlformats.org/drawingml/2006/table">
            <a:tbl>
              <a:tblPr firstRow="1" bandRow="1">
                <a:tableStyleId>{69C7853C-536D-4A76-A0AE-DD22124D55A5}</a:tableStyleId>
              </a:tblPr>
              <a:tblGrid>
                <a:gridCol w="4064000">
                  <a:extLst>
                    <a:ext uri="{9D8B030D-6E8A-4147-A177-3AD203B41FA5}">
                      <a16:colId xmlns:a16="http://schemas.microsoft.com/office/drawing/2014/main" val="623150477"/>
                    </a:ext>
                  </a:extLst>
                </a:gridCol>
                <a:gridCol w="4064000">
                  <a:extLst>
                    <a:ext uri="{9D8B030D-6E8A-4147-A177-3AD203B41FA5}">
                      <a16:colId xmlns:a16="http://schemas.microsoft.com/office/drawing/2014/main" val="2072802794"/>
                    </a:ext>
                  </a:extLst>
                </a:gridCol>
              </a:tblGrid>
              <a:tr h="370840">
                <a:tc>
                  <a:txBody>
                    <a:bodyPr/>
                    <a:lstStyle/>
                    <a:p>
                      <a:pPr algn="ctr"/>
                      <a:r>
                        <a:rPr lang="en-US" dirty="0">
                          <a:solidFill>
                            <a:schemeClr val="tx1"/>
                          </a:solidFill>
                        </a:rPr>
                        <a:t>Metrics </a:t>
                      </a:r>
                      <a:endParaRPr lang="en-IN" dirty="0">
                        <a:solidFill>
                          <a:schemeClr val="tx1"/>
                        </a:solidFill>
                      </a:endParaRPr>
                    </a:p>
                  </a:txBody>
                  <a:tcPr/>
                </a:tc>
                <a:tc>
                  <a:txBody>
                    <a:bodyPr/>
                    <a:lstStyle/>
                    <a:p>
                      <a:pPr algn="ctr"/>
                      <a:r>
                        <a:rPr lang="en-US" dirty="0">
                          <a:solidFill>
                            <a:schemeClr val="tx1"/>
                          </a:solidFill>
                        </a:rPr>
                        <a:t>Values</a:t>
                      </a:r>
                      <a:endParaRPr lang="en-IN" dirty="0">
                        <a:solidFill>
                          <a:schemeClr val="tx1"/>
                        </a:solidFill>
                      </a:endParaRPr>
                    </a:p>
                  </a:txBody>
                  <a:tcPr/>
                </a:tc>
                <a:extLst>
                  <a:ext uri="{0D108BD9-81ED-4DB2-BD59-A6C34878D82A}">
                    <a16:rowId xmlns:a16="http://schemas.microsoft.com/office/drawing/2014/main" val="824067025"/>
                  </a:ext>
                </a:extLst>
              </a:tr>
              <a:tr h="370840">
                <a:tc>
                  <a:txBody>
                    <a:bodyPr/>
                    <a:lstStyle/>
                    <a:p>
                      <a:r>
                        <a:rPr lang="en-US" dirty="0"/>
                        <a:t>Total Clients </a:t>
                      </a:r>
                      <a:endParaRPr lang="en-IN" dirty="0"/>
                    </a:p>
                  </a:txBody>
                  <a:tcPr/>
                </a:tc>
                <a:tc>
                  <a:txBody>
                    <a:bodyPr/>
                    <a:lstStyle/>
                    <a:p>
                      <a:pPr latinLnBrk="1"/>
                      <a:r>
                        <a:rPr lang="en-IN" sz="1867" b="0" i="0" u="none" strike="noStrike" cap="none" dirty="0">
                          <a:solidFill>
                            <a:schemeClr val="dk1"/>
                          </a:solidFill>
                          <a:effectLst/>
                          <a:latin typeface="+mn-lt"/>
                          <a:ea typeface="+mn-ea"/>
                          <a:cs typeface="+mn-cs"/>
                          <a:sym typeface="Arial"/>
                        </a:rPr>
                        <a:t>5369</a:t>
                      </a:r>
                    </a:p>
                  </a:txBody>
                  <a:tcPr/>
                </a:tc>
                <a:extLst>
                  <a:ext uri="{0D108BD9-81ED-4DB2-BD59-A6C34878D82A}">
                    <a16:rowId xmlns:a16="http://schemas.microsoft.com/office/drawing/2014/main" val="2956001655"/>
                  </a:ext>
                </a:extLst>
              </a:tr>
              <a:tr h="370840">
                <a:tc>
                  <a:txBody>
                    <a:bodyPr/>
                    <a:lstStyle/>
                    <a:p>
                      <a:r>
                        <a:rPr lang="en-US" dirty="0"/>
                        <a:t>Total Districts </a:t>
                      </a:r>
                      <a:endParaRPr lang="en-IN" dirty="0"/>
                    </a:p>
                  </a:txBody>
                  <a:tcPr/>
                </a:tc>
                <a:tc>
                  <a:txBody>
                    <a:bodyPr/>
                    <a:lstStyle/>
                    <a:p>
                      <a:r>
                        <a:rPr lang="en-US" dirty="0"/>
                        <a:t>77</a:t>
                      </a:r>
                      <a:endParaRPr lang="en-IN" dirty="0"/>
                    </a:p>
                  </a:txBody>
                  <a:tcPr/>
                </a:tc>
                <a:extLst>
                  <a:ext uri="{0D108BD9-81ED-4DB2-BD59-A6C34878D82A}">
                    <a16:rowId xmlns:a16="http://schemas.microsoft.com/office/drawing/2014/main" val="244606094"/>
                  </a:ext>
                </a:extLst>
              </a:tr>
              <a:tr h="370840">
                <a:tc>
                  <a:txBody>
                    <a:bodyPr/>
                    <a:lstStyle/>
                    <a:p>
                      <a:r>
                        <a:rPr lang="en-US" dirty="0"/>
                        <a:t>Total Regions </a:t>
                      </a:r>
                      <a:endParaRPr lang="en-IN" dirty="0"/>
                    </a:p>
                  </a:txBody>
                  <a:tcPr/>
                </a:tc>
                <a:tc>
                  <a:txBody>
                    <a:bodyPr/>
                    <a:lstStyle/>
                    <a:p>
                      <a:r>
                        <a:rPr lang="en-US" dirty="0"/>
                        <a:t>8</a:t>
                      </a:r>
                      <a:endParaRPr lang="en-IN" dirty="0"/>
                    </a:p>
                  </a:txBody>
                  <a:tcPr/>
                </a:tc>
                <a:extLst>
                  <a:ext uri="{0D108BD9-81ED-4DB2-BD59-A6C34878D82A}">
                    <a16:rowId xmlns:a16="http://schemas.microsoft.com/office/drawing/2014/main" val="82649907"/>
                  </a:ext>
                </a:extLst>
              </a:tr>
              <a:tr h="370840">
                <a:tc>
                  <a:txBody>
                    <a:bodyPr/>
                    <a:lstStyle/>
                    <a:p>
                      <a:r>
                        <a:rPr lang="en-IN" dirty="0"/>
                        <a:t>Top Customer District</a:t>
                      </a:r>
                    </a:p>
                  </a:txBody>
                  <a:tcPr/>
                </a:tc>
                <a:tc>
                  <a:txBody>
                    <a:bodyPr/>
                    <a:lstStyle/>
                    <a:p>
                      <a:pPr latinLnBrk="1"/>
                      <a:r>
                        <a:rPr lang="en-IN" sz="1867" b="0" i="0" u="none" strike="noStrike" cap="none" dirty="0" err="1">
                          <a:solidFill>
                            <a:schemeClr val="dk1"/>
                          </a:solidFill>
                          <a:effectLst/>
                          <a:latin typeface="+mn-lt"/>
                          <a:ea typeface="+mn-ea"/>
                          <a:cs typeface="+mn-cs"/>
                          <a:sym typeface="Arial"/>
                        </a:rPr>
                        <a:t>Hl.m</a:t>
                      </a:r>
                      <a:r>
                        <a:rPr lang="en-IN" sz="1867" b="0" i="0" u="none" strike="noStrike" cap="none" dirty="0">
                          <a:solidFill>
                            <a:schemeClr val="dk1"/>
                          </a:solidFill>
                          <a:effectLst/>
                          <a:latin typeface="+mn-lt"/>
                          <a:ea typeface="+mn-ea"/>
                          <a:cs typeface="+mn-cs"/>
                          <a:sym typeface="Arial"/>
                        </a:rPr>
                        <a:t>. Praha </a:t>
                      </a:r>
                    </a:p>
                  </a:txBody>
                  <a:tcPr/>
                </a:tc>
                <a:extLst>
                  <a:ext uri="{0D108BD9-81ED-4DB2-BD59-A6C34878D82A}">
                    <a16:rowId xmlns:a16="http://schemas.microsoft.com/office/drawing/2014/main" val="3805434968"/>
                  </a:ext>
                </a:extLst>
              </a:tr>
              <a:tr h="370840">
                <a:tc>
                  <a:txBody>
                    <a:bodyPr/>
                    <a:lstStyle/>
                    <a:p>
                      <a:r>
                        <a:rPr lang="en-US" dirty="0"/>
                        <a:t>Top Customer Region</a:t>
                      </a:r>
                      <a:endParaRPr lang="en-IN" dirty="0"/>
                    </a:p>
                  </a:txBody>
                  <a:tcPr/>
                </a:tc>
                <a:tc>
                  <a:txBody>
                    <a:bodyPr/>
                    <a:lstStyle/>
                    <a:p>
                      <a:pPr latinLnBrk="1"/>
                      <a:r>
                        <a:rPr lang="en-IN" sz="1867" b="0" i="0" u="none" strike="noStrike" cap="none" dirty="0">
                          <a:solidFill>
                            <a:schemeClr val="dk1"/>
                          </a:solidFill>
                          <a:effectLst/>
                          <a:latin typeface="+mn-lt"/>
                          <a:ea typeface="+mn-ea"/>
                          <a:cs typeface="+mn-cs"/>
                          <a:sym typeface="Arial"/>
                        </a:rPr>
                        <a:t>south Moravia </a:t>
                      </a:r>
                    </a:p>
                  </a:txBody>
                  <a:tcPr/>
                </a:tc>
                <a:extLst>
                  <a:ext uri="{0D108BD9-81ED-4DB2-BD59-A6C34878D82A}">
                    <a16:rowId xmlns:a16="http://schemas.microsoft.com/office/drawing/2014/main" val="211580562"/>
                  </a:ext>
                </a:extLst>
              </a:tr>
              <a:tr h="370840">
                <a:tc>
                  <a:txBody>
                    <a:bodyPr/>
                    <a:lstStyle/>
                    <a:p>
                      <a:pPr marR="0" algn="l" rtl="0" eaLnBrk="1" hangingPunct="1">
                        <a:lnSpc>
                          <a:spcPct val="100000"/>
                        </a:lnSpc>
                        <a:spcBef>
                          <a:spcPts val="0"/>
                        </a:spcBef>
                        <a:spcAft>
                          <a:spcPts val="0"/>
                        </a:spcAft>
                        <a:buClr>
                          <a:srgbClr val="000000"/>
                        </a:buClr>
                        <a:buFont typeface="Arial"/>
                      </a:pPr>
                      <a:r>
                        <a:rPr lang="en-IN" sz="1867" b="0" i="0" u="none" strike="noStrike" cap="none" dirty="0">
                          <a:solidFill>
                            <a:schemeClr val="dk1"/>
                          </a:solidFill>
                          <a:latin typeface="+mn-lt"/>
                          <a:ea typeface="+mn-ea"/>
                          <a:cs typeface="+mn-cs"/>
                          <a:sym typeface="Arial"/>
                        </a:rPr>
                        <a:t>Top Customer Gender </a:t>
                      </a:r>
                    </a:p>
                  </a:txBody>
                  <a:tcPr/>
                </a:tc>
                <a:tc>
                  <a:txBody>
                    <a:bodyPr/>
                    <a:lstStyle/>
                    <a:p>
                      <a:r>
                        <a:rPr lang="en-US" dirty="0"/>
                        <a:t>Male</a:t>
                      </a:r>
                      <a:endParaRPr lang="en-IN" dirty="0"/>
                    </a:p>
                  </a:txBody>
                  <a:tcPr/>
                </a:tc>
                <a:extLst>
                  <a:ext uri="{0D108BD9-81ED-4DB2-BD59-A6C34878D82A}">
                    <a16:rowId xmlns:a16="http://schemas.microsoft.com/office/drawing/2014/main" val="1370799655"/>
                  </a:ext>
                </a:extLst>
              </a:tr>
              <a:tr h="370840">
                <a:tc>
                  <a:txBody>
                    <a:bodyPr/>
                    <a:lstStyle/>
                    <a:p>
                      <a:r>
                        <a:rPr lang="en-US" dirty="0"/>
                        <a:t>Top Customer </a:t>
                      </a:r>
                      <a:r>
                        <a:rPr lang="en-US" dirty="0" err="1"/>
                        <a:t>Age_Grps</a:t>
                      </a:r>
                      <a:endParaRPr lang="en-IN" dirty="0"/>
                    </a:p>
                  </a:txBody>
                  <a:tcPr/>
                </a:tc>
                <a:tc>
                  <a:txBody>
                    <a:bodyPr/>
                    <a:lstStyle/>
                    <a:p>
                      <a:r>
                        <a:rPr lang="en-US" dirty="0"/>
                        <a:t>Adult</a:t>
                      </a:r>
                      <a:endParaRPr lang="en-IN" dirty="0"/>
                    </a:p>
                  </a:txBody>
                  <a:tcPr/>
                </a:tc>
                <a:extLst>
                  <a:ext uri="{0D108BD9-81ED-4DB2-BD59-A6C34878D82A}">
                    <a16:rowId xmlns:a16="http://schemas.microsoft.com/office/drawing/2014/main" val="1509178412"/>
                  </a:ext>
                </a:extLst>
              </a:tr>
            </a:tbl>
          </a:graphicData>
        </a:graphic>
      </p:graphicFrame>
    </p:spTree>
    <p:extLst>
      <p:ext uri="{BB962C8B-B14F-4D97-AF65-F5344CB8AC3E}">
        <p14:creationId xmlns:p14="http://schemas.microsoft.com/office/powerpoint/2010/main" val="17389874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034E44C0-4571-0508-3955-8F8A5C44FFE7}"/>
              </a:ext>
            </a:extLst>
          </p:cNvPr>
          <p:cNvSpPr txBox="1">
            <a:spLocks/>
          </p:cNvSpPr>
          <p:nvPr/>
        </p:nvSpPr>
        <p:spPr>
          <a:xfrm>
            <a:off x="0" y="2458065"/>
            <a:ext cx="12192000" cy="865238"/>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US" sz="5400" kern="0" dirty="0" err="1"/>
              <a:t>Transaction_Analysis</a:t>
            </a:r>
            <a:r>
              <a:rPr lang="en-US" sz="5400" kern="0" dirty="0"/>
              <a:t> </a:t>
            </a:r>
            <a:endParaRPr lang="en-IN" sz="5400" kern="0" dirty="0"/>
          </a:p>
        </p:txBody>
      </p:sp>
    </p:spTree>
    <p:extLst>
      <p:ext uri="{BB962C8B-B14F-4D97-AF65-F5344CB8AC3E}">
        <p14:creationId xmlns:p14="http://schemas.microsoft.com/office/powerpoint/2010/main" val="37583660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76F5E4E-E235-ADD6-5151-9D54D3CAB581}"/>
              </a:ext>
            </a:extLst>
          </p:cNvPr>
          <p:cNvSpPr>
            <a:spLocks noGrp="1"/>
          </p:cNvSpPr>
          <p:nvPr>
            <p:ph type="body" idx="1"/>
          </p:nvPr>
        </p:nvSpPr>
        <p:spPr>
          <a:xfrm>
            <a:off x="5498690" y="1089343"/>
            <a:ext cx="6503831" cy="5036153"/>
          </a:xfrm>
        </p:spPr>
        <p:txBody>
          <a:bodyPr>
            <a:normAutofit lnSpcReduction="10000"/>
          </a:bodyPr>
          <a:lstStyle/>
          <a:p>
            <a:pPr>
              <a:buFont typeface="Wingdings" panose="05000000000000000000" pitchFamily="2" charset="2"/>
              <a:buChar char="v"/>
            </a:pPr>
            <a:r>
              <a:rPr lang="en-US" dirty="0"/>
              <a:t>Out of the 10,56,320 total transactions, only 0.43% of transactions have the transaction amount equal to the balance (balance after transaction).</a:t>
            </a:r>
            <a:br>
              <a:rPr lang="en-US" dirty="0"/>
            </a:br>
            <a:r>
              <a:rPr lang="en-US" dirty="0"/>
              <a:t>This equality indicates that the previous account balance was zero.</a:t>
            </a:r>
          </a:p>
          <a:p>
            <a:pPr>
              <a:buFont typeface="Wingdings" panose="05000000000000000000" pitchFamily="2" charset="2"/>
              <a:buChar char="v"/>
            </a:pPr>
            <a:r>
              <a:rPr lang="en-US" dirty="0"/>
              <a:t>The remaining 99.57% of transactions show a mismatch between amount and balance, which represents normal banking activities such as:</a:t>
            </a:r>
          </a:p>
          <a:p>
            <a:pPr>
              <a:buFont typeface="Wingdings" panose="05000000000000000000" pitchFamily="2" charset="2"/>
              <a:buChar char="v"/>
            </a:pPr>
            <a:r>
              <a:rPr lang="en-US" dirty="0"/>
              <a:t>Withdrawals</a:t>
            </a:r>
          </a:p>
          <a:p>
            <a:pPr>
              <a:buFont typeface="Wingdings" panose="05000000000000000000" pitchFamily="2" charset="2"/>
              <a:buChar char="v"/>
            </a:pPr>
            <a:r>
              <a:rPr lang="en-US" dirty="0"/>
              <a:t>Deposits</a:t>
            </a:r>
          </a:p>
          <a:p>
            <a:pPr>
              <a:buFont typeface="Wingdings" panose="05000000000000000000" pitchFamily="2" charset="2"/>
              <a:buChar char="v"/>
            </a:pPr>
            <a:r>
              <a:rPr lang="en-US" dirty="0"/>
              <a:t>Fees</a:t>
            </a:r>
          </a:p>
          <a:p>
            <a:pPr>
              <a:buFont typeface="Wingdings" panose="05000000000000000000" pitchFamily="2" charset="2"/>
              <a:buChar char="v"/>
            </a:pPr>
            <a:r>
              <a:rPr lang="en-US" dirty="0"/>
              <a:t>Payment operations</a:t>
            </a:r>
          </a:p>
          <a:p>
            <a:pPr>
              <a:buFont typeface="Wingdings" panose="05000000000000000000" pitchFamily="2" charset="2"/>
              <a:buChar char="v"/>
            </a:pPr>
            <a:r>
              <a:rPr lang="en-US" dirty="0"/>
              <a:t>Adjustments</a:t>
            </a:r>
          </a:p>
          <a:p>
            <a:pPr>
              <a:buFont typeface="Wingdings" panose="05000000000000000000" pitchFamily="2" charset="2"/>
              <a:buChar char="v"/>
            </a:pPr>
            <a:r>
              <a:rPr lang="en-US" dirty="0"/>
              <a:t>To understand customer behavior and banking operations, it is important to analyze how these 99%+ transactions are actually flowing.</a:t>
            </a:r>
          </a:p>
        </p:txBody>
      </p:sp>
      <p:pic>
        <p:nvPicPr>
          <p:cNvPr id="9" name="Picture 8" descr="A pie chart with numbers and a number on it&#10;&#10;AI-generated content may be incorrect.">
            <a:extLst>
              <a:ext uri="{FF2B5EF4-FFF2-40B4-BE49-F238E27FC236}">
                <a16:creationId xmlns:a16="http://schemas.microsoft.com/office/drawing/2014/main" id="{0FF39A8C-7498-0D44-3CDB-3B7B891F96ED}"/>
              </a:ext>
            </a:extLst>
          </p:cNvPr>
          <p:cNvPicPr>
            <a:picLocks noChangeAspect="1"/>
          </p:cNvPicPr>
          <p:nvPr/>
        </p:nvPicPr>
        <p:blipFill>
          <a:blip r:embed="rId2"/>
          <a:stretch>
            <a:fillRect/>
          </a:stretch>
        </p:blipFill>
        <p:spPr>
          <a:xfrm>
            <a:off x="189479" y="1603999"/>
            <a:ext cx="5188766" cy="3650002"/>
          </a:xfrm>
          <a:prstGeom prst="rect">
            <a:avLst/>
          </a:prstGeom>
          <a:ln>
            <a:solidFill>
              <a:schemeClr val="bg2"/>
            </a:solidFill>
          </a:ln>
        </p:spPr>
      </p:pic>
      <p:sp>
        <p:nvSpPr>
          <p:cNvPr id="4" name="Title 2">
            <a:extLst>
              <a:ext uri="{FF2B5EF4-FFF2-40B4-BE49-F238E27FC236}">
                <a16:creationId xmlns:a16="http://schemas.microsoft.com/office/drawing/2014/main" id="{0F822FC8-4836-E716-BEA8-57AA30446C5F}"/>
              </a:ext>
            </a:extLst>
          </p:cNvPr>
          <p:cNvSpPr txBox="1">
            <a:spLocks/>
          </p:cNvSpPr>
          <p:nvPr/>
        </p:nvSpPr>
        <p:spPr>
          <a:xfrm>
            <a:off x="0" y="0"/>
            <a:ext cx="12192000" cy="698090"/>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IN" sz="3600" dirty="0"/>
              <a:t>Transaction Amount vs Balance Analysis</a:t>
            </a:r>
            <a:endParaRPr lang="en-IN" sz="3600" kern="0" dirty="0"/>
          </a:p>
        </p:txBody>
      </p:sp>
    </p:spTree>
    <p:extLst>
      <p:ext uri="{BB962C8B-B14F-4D97-AF65-F5344CB8AC3E}">
        <p14:creationId xmlns:p14="http://schemas.microsoft.com/office/powerpoint/2010/main" val="35250589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A53D0CF-5FF0-9EC8-15A4-0A2746F8FECF}"/>
              </a:ext>
            </a:extLst>
          </p:cNvPr>
          <p:cNvSpPr>
            <a:spLocks noGrp="1"/>
          </p:cNvSpPr>
          <p:nvPr>
            <p:ph type="body" idx="1"/>
          </p:nvPr>
        </p:nvSpPr>
        <p:spPr>
          <a:xfrm>
            <a:off x="6096000" y="1295822"/>
            <a:ext cx="5715798" cy="4937830"/>
          </a:xfrm>
        </p:spPr>
        <p:txBody>
          <a:bodyPr>
            <a:normAutofit/>
          </a:bodyPr>
          <a:lstStyle/>
          <a:p>
            <a:pPr marL="643462" indent="-457200">
              <a:lnSpc>
                <a:spcPct val="150000"/>
              </a:lnSpc>
              <a:buFont typeface="+mj-lt"/>
              <a:buAutoNum type="arabicPeriod"/>
            </a:pPr>
            <a:r>
              <a:rPr lang="en-US" sz="1600" dirty="0">
                <a:latin typeface="+mn-lt"/>
              </a:rPr>
              <a:t>These 96% of Transactions are flowing where Transactions related to expense contributes about  60% of transactions and 38% of transactions are of income at last 2% are withdrawal .</a:t>
            </a:r>
          </a:p>
          <a:p>
            <a:pPr marL="643462" indent="-457200">
              <a:lnSpc>
                <a:spcPct val="150000"/>
              </a:lnSpc>
              <a:buFont typeface="+mj-lt"/>
              <a:buAutoNum type="arabicPeriod"/>
            </a:pPr>
            <a:r>
              <a:rPr lang="en-US" sz="1600" dirty="0">
                <a:latin typeface="+mn-lt"/>
              </a:rPr>
              <a:t>That most of the Transactions are expense related transactions</a:t>
            </a:r>
          </a:p>
          <a:p>
            <a:pPr marL="643462" indent="-457200">
              <a:lnSpc>
                <a:spcPct val="150000"/>
              </a:lnSpc>
              <a:buFont typeface="+mj-lt"/>
              <a:buAutoNum type="arabicPeriod"/>
            </a:pPr>
            <a:r>
              <a:rPr lang="en-US" sz="1600" dirty="0">
                <a:latin typeface="+mn-lt"/>
              </a:rPr>
              <a:t>Most of the Transactions are dealing with Expenses and least with withdrawal </a:t>
            </a:r>
            <a:endParaRPr lang="en-IN" sz="1600" dirty="0">
              <a:latin typeface="+mn-lt"/>
            </a:endParaRPr>
          </a:p>
        </p:txBody>
      </p:sp>
      <p:sp>
        <p:nvSpPr>
          <p:cNvPr id="4" name="Title 2">
            <a:extLst>
              <a:ext uri="{FF2B5EF4-FFF2-40B4-BE49-F238E27FC236}">
                <a16:creationId xmlns:a16="http://schemas.microsoft.com/office/drawing/2014/main" id="{708B127D-623D-90BE-0058-CAF9C7F9353A}"/>
              </a:ext>
            </a:extLst>
          </p:cNvPr>
          <p:cNvSpPr txBox="1">
            <a:spLocks/>
          </p:cNvSpPr>
          <p:nvPr/>
        </p:nvSpPr>
        <p:spPr>
          <a:xfrm>
            <a:off x="0" y="0"/>
            <a:ext cx="12192000" cy="698090"/>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IN" sz="3600" dirty="0"/>
              <a:t>Transaction Type Distribution &amp; Flow Analysis</a:t>
            </a:r>
            <a:endParaRPr lang="en-IN" sz="3600" kern="0" dirty="0"/>
          </a:p>
        </p:txBody>
      </p:sp>
      <p:pic>
        <p:nvPicPr>
          <p:cNvPr id="6" name="Picture 5" descr="A pie chart with numbers and a number of percentages&#10;&#10;AI-generated content may be incorrect.">
            <a:extLst>
              <a:ext uri="{FF2B5EF4-FFF2-40B4-BE49-F238E27FC236}">
                <a16:creationId xmlns:a16="http://schemas.microsoft.com/office/drawing/2014/main" id="{00E6B2BB-9E7D-FF2E-A1B1-F845A13251FB}"/>
              </a:ext>
            </a:extLst>
          </p:cNvPr>
          <p:cNvPicPr>
            <a:picLocks noChangeAspect="1"/>
          </p:cNvPicPr>
          <p:nvPr/>
        </p:nvPicPr>
        <p:blipFill>
          <a:blip r:embed="rId2"/>
          <a:stretch>
            <a:fillRect/>
          </a:stretch>
        </p:blipFill>
        <p:spPr>
          <a:xfrm>
            <a:off x="478524" y="1592825"/>
            <a:ext cx="5332339" cy="3401962"/>
          </a:xfrm>
          <a:prstGeom prst="rect">
            <a:avLst/>
          </a:prstGeom>
          <a:ln>
            <a:solidFill>
              <a:schemeClr val="bg2"/>
            </a:solidFill>
          </a:ln>
        </p:spPr>
      </p:pic>
    </p:spTree>
    <p:extLst>
      <p:ext uri="{BB962C8B-B14F-4D97-AF65-F5344CB8AC3E}">
        <p14:creationId xmlns:p14="http://schemas.microsoft.com/office/powerpoint/2010/main" val="21840569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EFD48B9-43F9-5E5D-9D8B-9ED3D9181809}"/>
              </a:ext>
            </a:extLst>
          </p:cNvPr>
          <p:cNvSpPr>
            <a:spLocks noGrp="1"/>
          </p:cNvSpPr>
          <p:nvPr>
            <p:ph type="body" idx="1"/>
          </p:nvPr>
        </p:nvSpPr>
        <p:spPr>
          <a:xfrm>
            <a:off x="6253316" y="1304233"/>
            <a:ext cx="5565059" cy="4703277"/>
          </a:xfrm>
        </p:spPr>
        <p:txBody>
          <a:bodyPr>
            <a:normAutofit/>
          </a:bodyPr>
          <a:lstStyle/>
          <a:p>
            <a:pPr marL="643462" indent="-457200">
              <a:lnSpc>
                <a:spcPct val="150000"/>
              </a:lnSpc>
              <a:buFont typeface="+mj-lt"/>
              <a:buAutoNum type="arabicPeriod"/>
            </a:pPr>
            <a:r>
              <a:rPr lang="en-US" sz="1600" dirty="0">
                <a:latin typeface="+mn-lt"/>
              </a:rPr>
              <a:t>There are 60% of transactions are of type Expense </a:t>
            </a:r>
          </a:p>
          <a:p>
            <a:pPr marL="643462" indent="-457200">
              <a:lnSpc>
                <a:spcPct val="150000"/>
              </a:lnSpc>
              <a:buFont typeface="+mj-lt"/>
              <a:buAutoNum type="arabicPeriod"/>
            </a:pPr>
            <a:r>
              <a:rPr lang="en-US" sz="1600" dirty="0">
                <a:latin typeface="+mn-lt"/>
              </a:rPr>
              <a:t>These expense broadly distributed among three operations in which withdrawal contributed the most transactions about 4 lakhs and the least one is by card withdrawals on 8 thousand only.</a:t>
            </a:r>
          </a:p>
          <a:p>
            <a:pPr marL="643462" indent="-457200">
              <a:lnSpc>
                <a:spcPct val="150000"/>
              </a:lnSpc>
              <a:buFont typeface="+mj-lt"/>
              <a:buAutoNum type="arabicPeriod"/>
            </a:pPr>
            <a:r>
              <a:rPr lang="en-US" sz="1600" dirty="0">
                <a:latin typeface="+mn-lt"/>
              </a:rPr>
              <a:t>The reasons behind the expenses can be explained by </a:t>
            </a:r>
            <a:r>
              <a:rPr lang="en-US" sz="1600" dirty="0" err="1">
                <a:latin typeface="+mn-lt"/>
              </a:rPr>
              <a:t>k_symbols</a:t>
            </a:r>
            <a:r>
              <a:rPr lang="en-US" sz="1600" dirty="0">
                <a:latin typeface="+mn-lt"/>
              </a:rPr>
              <a:t> which depicts most of are none means information has not been provided and the service payments ,household , insurance payments contributes the most then the loan and payment interest </a:t>
            </a:r>
          </a:p>
          <a:p>
            <a:pPr marL="643462" indent="-457200">
              <a:lnSpc>
                <a:spcPct val="150000"/>
              </a:lnSpc>
              <a:buFont typeface="+mj-lt"/>
              <a:buAutoNum type="arabicPeriod"/>
            </a:pPr>
            <a:endParaRPr lang="en-US" sz="1600" dirty="0">
              <a:latin typeface="+mn-lt"/>
            </a:endParaRPr>
          </a:p>
          <a:p>
            <a:pPr marL="643462" indent="-457200">
              <a:lnSpc>
                <a:spcPct val="140000"/>
              </a:lnSpc>
              <a:buFont typeface="+mj-lt"/>
              <a:buAutoNum type="arabicPeriod"/>
            </a:pPr>
            <a:endParaRPr lang="en-US" sz="1700" dirty="0">
              <a:latin typeface="+mn-lt"/>
            </a:endParaRPr>
          </a:p>
          <a:p>
            <a:endParaRPr lang="en-IN" dirty="0"/>
          </a:p>
        </p:txBody>
      </p:sp>
      <p:pic>
        <p:nvPicPr>
          <p:cNvPr id="5" name="Picture 4" descr="A graph of a number of expenses&#10;&#10;AI-generated content may be incorrect.">
            <a:extLst>
              <a:ext uri="{FF2B5EF4-FFF2-40B4-BE49-F238E27FC236}">
                <a16:creationId xmlns:a16="http://schemas.microsoft.com/office/drawing/2014/main" id="{690BAA9C-BB63-A9F6-F664-8E3DDDB6D688}"/>
              </a:ext>
            </a:extLst>
          </p:cNvPr>
          <p:cNvPicPr>
            <a:picLocks noChangeAspect="1"/>
          </p:cNvPicPr>
          <p:nvPr/>
        </p:nvPicPr>
        <p:blipFill>
          <a:blip r:embed="rId2"/>
          <a:stretch>
            <a:fillRect/>
          </a:stretch>
        </p:blipFill>
        <p:spPr>
          <a:xfrm>
            <a:off x="285134" y="1304233"/>
            <a:ext cx="5358581" cy="2353367"/>
          </a:xfrm>
          <a:prstGeom prst="rect">
            <a:avLst/>
          </a:prstGeom>
          <a:ln>
            <a:solidFill>
              <a:schemeClr val="bg2"/>
            </a:solidFill>
          </a:ln>
        </p:spPr>
      </p:pic>
      <p:pic>
        <p:nvPicPr>
          <p:cNvPr id="7" name="Picture 6" descr="A graph with blue bars and numbers&#10;&#10;AI-generated content may be incorrect.">
            <a:extLst>
              <a:ext uri="{FF2B5EF4-FFF2-40B4-BE49-F238E27FC236}">
                <a16:creationId xmlns:a16="http://schemas.microsoft.com/office/drawing/2014/main" id="{A3ED3AB7-D9BE-B936-4FD0-03745EDC926A}"/>
              </a:ext>
            </a:extLst>
          </p:cNvPr>
          <p:cNvPicPr>
            <a:picLocks noChangeAspect="1"/>
          </p:cNvPicPr>
          <p:nvPr/>
        </p:nvPicPr>
        <p:blipFill>
          <a:blip r:embed="rId3"/>
          <a:stretch>
            <a:fillRect/>
          </a:stretch>
        </p:blipFill>
        <p:spPr>
          <a:xfrm>
            <a:off x="285135" y="3824748"/>
            <a:ext cx="5358580" cy="2451206"/>
          </a:xfrm>
          <a:prstGeom prst="rect">
            <a:avLst/>
          </a:prstGeom>
          <a:ln>
            <a:solidFill>
              <a:schemeClr val="bg2"/>
            </a:solidFill>
          </a:ln>
        </p:spPr>
      </p:pic>
      <p:sp>
        <p:nvSpPr>
          <p:cNvPr id="4" name="Title 2">
            <a:extLst>
              <a:ext uri="{FF2B5EF4-FFF2-40B4-BE49-F238E27FC236}">
                <a16:creationId xmlns:a16="http://schemas.microsoft.com/office/drawing/2014/main" id="{56580515-9072-2C93-0F7F-A5F2828C719C}"/>
              </a:ext>
            </a:extLst>
          </p:cNvPr>
          <p:cNvSpPr txBox="1">
            <a:spLocks/>
          </p:cNvSpPr>
          <p:nvPr/>
        </p:nvSpPr>
        <p:spPr>
          <a:xfrm>
            <a:off x="0" y="0"/>
            <a:ext cx="12192000" cy="698090"/>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US" sz="3600" dirty="0"/>
              <a:t>Expense Transactions: Operations &amp; Key Drivers</a:t>
            </a:r>
            <a:endParaRPr lang="en-IN" sz="3600" kern="0" dirty="0"/>
          </a:p>
        </p:txBody>
      </p:sp>
    </p:spTree>
    <p:extLst>
      <p:ext uri="{BB962C8B-B14F-4D97-AF65-F5344CB8AC3E}">
        <p14:creationId xmlns:p14="http://schemas.microsoft.com/office/powerpoint/2010/main" val="31132749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3EE2AAF-16CA-CB22-5D44-C92A285BAE17}"/>
              </a:ext>
            </a:extLst>
          </p:cNvPr>
          <p:cNvSpPr>
            <a:spLocks noGrp="1"/>
          </p:cNvSpPr>
          <p:nvPr>
            <p:ph type="body" idx="1"/>
          </p:nvPr>
        </p:nvSpPr>
        <p:spPr>
          <a:xfrm>
            <a:off x="6096000" y="1190206"/>
            <a:ext cx="5952401" cy="4967326"/>
          </a:xfrm>
        </p:spPr>
        <p:txBody>
          <a:bodyPr>
            <a:normAutofit lnSpcReduction="10000"/>
          </a:bodyPr>
          <a:lstStyle/>
          <a:p>
            <a:pPr marL="643462" indent="-457200">
              <a:lnSpc>
                <a:spcPct val="150000"/>
              </a:lnSpc>
              <a:buFont typeface="+mj-lt"/>
              <a:buAutoNum type="arabicPeriod"/>
            </a:pPr>
            <a:r>
              <a:rPr lang="en-US" sz="1600" dirty="0">
                <a:latin typeface="+mn-lt"/>
              </a:rPr>
              <a:t>There are 51% of transaction under expense type which does not having a reason as their  </a:t>
            </a:r>
            <a:r>
              <a:rPr lang="en-US" sz="1600" dirty="0" err="1">
                <a:latin typeface="+mn-lt"/>
              </a:rPr>
              <a:t>k_symbol</a:t>
            </a:r>
            <a:r>
              <a:rPr lang="en-US" sz="1600" dirty="0">
                <a:latin typeface="+mn-lt"/>
              </a:rPr>
              <a:t> are none </a:t>
            </a:r>
          </a:p>
          <a:p>
            <a:pPr marL="643462" indent="-457200">
              <a:lnSpc>
                <a:spcPct val="150000"/>
              </a:lnSpc>
              <a:buFont typeface="+mj-lt"/>
              <a:buAutoNum type="arabicPeriod"/>
            </a:pPr>
            <a:r>
              <a:rPr lang="en-US" sz="1600" dirty="0">
                <a:latin typeface="+mn-lt"/>
              </a:rPr>
              <a:t>These reason can be explained by other columns like operations </a:t>
            </a:r>
          </a:p>
          <a:p>
            <a:pPr marL="643462" indent="-457200">
              <a:lnSpc>
                <a:spcPct val="150000"/>
              </a:lnSpc>
              <a:buFont typeface="+mj-lt"/>
              <a:buAutoNum type="arabicPeriod"/>
            </a:pPr>
            <a:r>
              <a:rPr lang="en-US" sz="1600" dirty="0">
                <a:latin typeface="+mn-lt"/>
              </a:rPr>
              <a:t>This combo chart is depicting  that most of the operation related to cash withdrawal haven’t recorded in </a:t>
            </a:r>
            <a:r>
              <a:rPr lang="en-US" sz="1600" dirty="0" err="1">
                <a:latin typeface="+mn-lt"/>
              </a:rPr>
              <a:t>k_symbols</a:t>
            </a:r>
            <a:r>
              <a:rPr lang="en-US" sz="1600" dirty="0">
                <a:latin typeface="+mn-lt"/>
              </a:rPr>
              <a:t>  and about 4500 accounts it consists of .</a:t>
            </a:r>
          </a:p>
          <a:p>
            <a:pPr marL="643462" indent="-457200">
              <a:lnSpc>
                <a:spcPct val="150000"/>
              </a:lnSpc>
              <a:buFont typeface="+mj-lt"/>
              <a:buAutoNum type="arabicPeriod"/>
            </a:pPr>
            <a:r>
              <a:rPr lang="en-US" sz="1600" dirty="0">
                <a:latin typeface="+mn-lt"/>
              </a:rPr>
              <a:t>Then the operation related to transfer to account haven’t recorded in </a:t>
            </a:r>
            <a:r>
              <a:rPr lang="en-US" sz="1600" dirty="0" err="1">
                <a:latin typeface="+mn-lt"/>
              </a:rPr>
              <a:t>k_symbols</a:t>
            </a:r>
            <a:r>
              <a:rPr lang="en-US" sz="1600" dirty="0">
                <a:latin typeface="+mn-lt"/>
              </a:rPr>
              <a:t>  then last card withdrawals .</a:t>
            </a:r>
          </a:p>
          <a:p>
            <a:pPr marL="643462" indent="-457200">
              <a:lnSpc>
                <a:spcPct val="150000"/>
              </a:lnSpc>
              <a:buFont typeface="+mj-lt"/>
              <a:buAutoNum type="arabicPeriod"/>
            </a:pPr>
            <a:r>
              <a:rPr lang="en-IN" sz="1600" dirty="0">
                <a:latin typeface="+mn-lt"/>
              </a:rPr>
              <a:t>So , we can conclude that cash withdrawal transactions not having  the reasons in transactions table  then the transfer to account and at last card withdrawals.</a:t>
            </a:r>
          </a:p>
        </p:txBody>
      </p:sp>
      <p:pic>
        <p:nvPicPr>
          <p:cNvPr id="7" name="Picture 6" descr="A graph showing a number of different types of operations&#10;&#10;AI-generated content may be incorrect.">
            <a:extLst>
              <a:ext uri="{FF2B5EF4-FFF2-40B4-BE49-F238E27FC236}">
                <a16:creationId xmlns:a16="http://schemas.microsoft.com/office/drawing/2014/main" id="{715CB01D-1D27-1809-6D30-5AA9DDAD59BA}"/>
              </a:ext>
            </a:extLst>
          </p:cNvPr>
          <p:cNvPicPr>
            <a:picLocks noChangeAspect="1"/>
          </p:cNvPicPr>
          <p:nvPr/>
        </p:nvPicPr>
        <p:blipFill>
          <a:blip r:embed="rId2"/>
          <a:stretch>
            <a:fillRect/>
          </a:stretch>
        </p:blipFill>
        <p:spPr>
          <a:xfrm>
            <a:off x="403197" y="3474717"/>
            <a:ext cx="5087986" cy="2817928"/>
          </a:xfrm>
          <a:prstGeom prst="rect">
            <a:avLst/>
          </a:prstGeom>
          <a:ln>
            <a:solidFill>
              <a:schemeClr val="bg2"/>
            </a:solidFill>
          </a:ln>
        </p:spPr>
      </p:pic>
      <p:pic>
        <p:nvPicPr>
          <p:cNvPr id="5" name="Picture 4" descr="A pie chart with text overlay&#10;&#10;AI-generated content may be incorrect.">
            <a:extLst>
              <a:ext uri="{FF2B5EF4-FFF2-40B4-BE49-F238E27FC236}">
                <a16:creationId xmlns:a16="http://schemas.microsoft.com/office/drawing/2014/main" id="{D90A9D02-5868-FE7D-17A9-7CB5F0EAD777}"/>
              </a:ext>
            </a:extLst>
          </p:cNvPr>
          <p:cNvPicPr>
            <a:picLocks noChangeAspect="1"/>
          </p:cNvPicPr>
          <p:nvPr/>
        </p:nvPicPr>
        <p:blipFill>
          <a:blip r:embed="rId3"/>
          <a:stretch>
            <a:fillRect/>
          </a:stretch>
        </p:blipFill>
        <p:spPr>
          <a:xfrm>
            <a:off x="403196" y="1190206"/>
            <a:ext cx="5087985" cy="2193078"/>
          </a:xfrm>
          <a:prstGeom prst="rect">
            <a:avLst/>
          </a:prstGeom>
          <a:ln>
            <a:solidFill>
              <a:schemeClr val="bg2"/>
            </a:solidFill>
          </a:ln>
        </p:spPr>
      </p:pic>
      <p:sp>
        <p:nvSpPr>
          <p:cNvPr id="4" name="Title 2">
            <a:extLst>
              <a:ext uri="{FF2B5EF4-FFF2-40B4-BE49-F238E27FC236}">
                <a16:creationId xmlns:a16="http://schemas.microsoft.com/office/drawing/2014/main" id="{71006013-F549-3418-3E1D-B4C426936689}"/>
              </a:ext>
            </a:extLst>
          </p:cNvPr>
          <p:cNvSpPr txBox="1">
            <a:spLocks/>
          </p:cNvSpPr>
          <p:nvPr/>
        </p:nvSpPr>
        <p:spPr>
          <a:xfrm>
            <a:off x="0" y="0"/>
            <a:ext cx="12192000" cy="698090"/>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US" sz="3600" dirty="0"/>
              <a:t>Expense Transactions Without Recorded Reasons</a:t>
            </a:r>
            <a:endParaRPr lang="en-IN" sz="3600" kern="0" dirty="0"/>
          </a:p>
        </p:txBody>
      </p:sp>
    </p:spTree>
    <p:extLst>
      <p:ext uri="{BB962C8B-B14F-4D97-AF65-F5344CB8AC3E}">
        <p14:creationId xmlns:p14="http://schemas.microsoft.com/office/powerpoint/2010/main" val="1547661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D8154F-B0C4-1974-873B-752C211CCE9F}"/>
              </a:ext>
            </a:extLst>
          </p:cNvPr>
          <p:cNvSpPr>
            <a:spLocks noGrp="1"/>
          </p:cNvSpPr>
          <p:nvPr>
            <p:ph type="body" idx="1"/>
          </p:nvPr>
        </p:nvSpPr>
        <p:spPr>
          <a:xfrm>
            <a:off x="5240594" y="958161"/>
            <a:ext cx="6951406" cy="4996823"/>
          </a:xfrm>
        </p:spPr>
        <p:txBody>
          <a:bodyPr>
            <a:normAutofit fontScale="85000" lnSpcReduction="20000"/>
          </a:bodyPr>
          <a:lstStyle/>
          <a:p>
            <a:pPr marL="643462" indent="-457200">
              <a:lnSpc>
                <a:spcPct val="170000"/>
              </a:lnSpc>
              <a:buFont typeface="+mj-lt"/>
              <a:buAutoNum type="arabicPeriod"/>
            </a:pPr>
            <a:r>
              <a:rPr lang="en-US" sz="1600" dirty="0">
                <a:latin typeface="+mn-lt"/>
              </a:rPr>
              <a:t>Transactions of Income Type contributed the most </a:t>
            </a:r>
            <a:r>
              <a:rPr lang="en-US" sz="1600">
                <a:latin typeface="+mn-lt"/>
              </a:rPr>
              <a:t>about 38% </a:t>
            </a:r>
            <a:r>
              <a:rPr lang="en-US" sz="1600" dirty="0">
                <a:latin typeface="+mn-lt"/>
              </a:rPr>
              <a:t>of it . </a:t>
            </a:r>
          </a:p>
          <a:p>
            <a:pPr marL="643462" indent="-457200">
              <a:lnSpc>
                <a:spcPct val="170000"/>
              </a:lnSpc>
              <a:buFont typeface="+mj-lt"/>
              <a:buAutoNum type="arabicPeriod"/>
            </a:pPr>
            <a:r>
              <a:rPr lang="en-US" sz="1600" dirty="0">
                <a:latin typeface="+mn-lt"/>
              </a:rPr>
              <a:t>These Income Type transactions distributed based on operation into Transfer from account , deposits and the most percentage as none about 45%.</a:t>
            </a:r>
          </a:p>
          <a:p>
            <a:pPr marL="643462" indent="-457200">
              <a:lnSpc>
                <a:spcPct val="170000"/>
              </a:lnSpc>
              <a:buFont typeface="+mj-lt"/>
              <a:buAutoNum type="arabicPeriod"/>
            </a:pPr>
            <a:r>
              <a:rPr lang="en-US" sz="1600" dirty="0">
                <a:latin typeface="+mn-lt"/>
              </a:rPr>
              <a:t>In order to fully understand this none in operation column we need to observe </a:t>
            </a:r>
            <a:r>
              <a:rPr lang="en-US" sz="1600" dirty="0" err="1">
                <a:latin typeface="+mn-lt"/>
              </a:rPr>
              <a:t>k_symbols</a:t>
            </a:r>
            <a:r>
              <a:rPr lang="en-US" sz="1600" dirty="0">
                <a:latin typeface="+mn-lt"/>
              </a:rPr>
              <a:t> as a reason behind the income transactions.</a:t>
            </a:r>
          </a:p>
          <a:p>
            <a:pPr marL="643462" indent="-457200">
              <a:lnSpc>
                <a:spcPct val="170000"/>
              </a:lnSpc>
              <a:buFont typeface="+mj-lt"/>
              <a:buAutoNum type="arabicPeriod"/>
            </a:pPr>
            <a:r>
              <a:rPr lang="en-US" sz="1600" dirty="0">
                <a:latin typeface="+mn-lt"/>
              </a:rPr>
              <a:t>The </a:t>
            </a:r>
            <a:r>
              <a:rPr lang="en-US" sz="1600" dirty="0" err="1">
                <a:latin typeface="+mn-lt"/>
              </a:rPr>
              <a:t>k_symbols</a:t>
            </a:r>
            <a:r>
              <a:rPr lang="en-US" sz="1600" dirty="0">
                <a:latin typeface="+mn-lt"/>
              </a:rPr>
              <a:t> is showing as </a:t>
            </a:r>
            <a:r>
              <a:rPr lang="en-US" sz="1600" dirty="0" err="1">
                <a:latin typeface="+mn-lt"/>
              </a:rPr>
              <a:t>Interest_Payments</a:t>
            </a:r>
            <a:r>
              <a:rPr lang="en-US" sz="1600" dirty="0">
                <a:latin typeface="+mn-lt"/>
              </a:rPr>
              <a:t> which means the bank  in operation for the transactions in which interest given by bank on the money kept by there customers </a:t>
            </a:r>
          </a:p>
          <a:p>
            <a:pPr marL="643462" indent="-457200">
              <a:lnSpc>
                <a:spcPct val="170000"/>
              </a:lnSpc>
              <a:buFont typeface="+mj-lt"/>
              <a:buAutoNum type="arabicPeriod"/>
            </a:pPr>
            <a:r>
              <a:rPr lang="en-US" sz="1600" dirty="0">
                <a:latin typeface="+mn-lt"/>
              </a:rPr>
              <a:t>Since interest credits are system-generated, the dataset often leaves the operation field blank.</a:t>
            </a:r>
          </a:p>
          <a:p>
            <a:pPr marL="643462" indent="-457200">
              <a:lnSpc>
                <a:spcPct val="170000"/>
              </a:lnSpc>
              <a:buFont typeface="+mj-lt"/>
              <a:buAutoNum type="arabicPeriod"/>
            </a:pPr>
            <a:r>
              <a:rPr lang="en-US" sz="1600" dirty="0">
                <a:latin typeface="+mn-lt"/>
              </a:rPr>
              <a:t>There are about 47% of transactions are like that where </a:t>
            </a:r>
            <a:r>
              <a:rPr lang="en-US" sz="1600" dirty="0" err="1">
                <a:latin typeface="+mn-lt"/>
              </a:rPr>
              <a:t>k_symbol</a:t>
            </a:r>
            <a:r>
              <a:rPr lang="en-US" sz="1600" dirty="0">
                <a:latin typeface="+mn-lt"/>
              </a:rPr>
              <a:t> is none which means those are cash type transactions </a:t>
            </a:r>
            <a:endParaRPr lang="en-IN" sz="1600" dirty="0">
              <a:latin typeface="+mn-lt"/>
            </a:endParaRPr>
          </a:p>
        </p:txBody>
      </p:sp>
      <p:pic>
        <p:nvPicPr>
          <p:cNvPr id="5" name="Picture 4" descr="A pie chart with numbers and text&#10;&#10;AI-generated content may be incorrect.">
            <a:extLst>
              <a:ext uri="{FF2B5EF4-FFF2-40B4-BE49-F238E27FC236}">
                <a16:creationId xmlns:a16="http://schemas.microsoft.com/office/drawing/2014/main" id="{2A328335-D1D7-EE78-3AF1-8548091F652E}"/>
              </a:ext>
            </a:extLst>
          </p:cNvPr>
          <p:cNvPicPr>
            <a:picLocks noChangeAspect="1"/>
          </p:cNvPicPr>
          <p:nvPr/>
        </p:nvPicPr>
        <p:blipFill>
          <a:blip r:embed="rId2"/>
          <a:stretch>
            <a:fillRect/>
          </a:stretch>
        </p:blipFill>
        <p:spPr>
          <a:xfrm>
            <a:off x="168909" y="958161"/>
            <a:ext cx="4648898" cy="2470839"/>
          </a:xfrm>
          <a:prstGeom prst="rect">
            <a:avLst/>
          </a:prstGeom>
          <a:ln>
            <a:solidFill>
              <a:schemeClr val="bg2"/>
            </a:solidFill>
          </a:ln>
        </p:spPr>
      </p:pic>
      <p:pic>
        <p:nvPicPr>
          <p:cNvPr id="7" name="Picture 6" descr="A graph with numbers and a bar&#10;&#10;AI-generated content may be incorrect.">
            <a:extLst>
              <a:ext uri="{FF2B5EF4-FFF2-40B4-BE49-F238E27FC236}">
                <a16:creationId xmlns:a16="http://schemas.microsoft.com/office/drawing/2014/main" id="{35573B86-4156-9917-66CE-D3D395B61907}"/>
              </a:ext>
            </a:extLst>
          </p:cNvPr>
          <p:cNvPicPr>
            <a:picLocks noChangeAspect="1"/>
          </p:cNvPicPr>
          <p:nvPr/>
        </p:nvPicPr>
        <p:blipFill>
          <a:blip r:embed="rId3"/>
          <a:stretch>
            <a:fillRect/>
          </a:stretch>
        </p:blipFill>
        <p:spPr>
          <a:xfrm>
            <a:off x="168909" y="3608439"/>
            <a:ext cx="4648898" cy="2625213"/>
          </a:xfrm>
          <a:prstGeom prst="rect">
            <a:avLst/>
          </a:prstGeom>
          <a:ln>
            <a:solidFill>
              <a:schemeClr val="bg2"/>
            </a:solidFill>
          </a:ln>
        </p:spPr>
      </p:pic>
      <p:sp>
        <p:nvSpPr>
          <p:cNvPr id="4" name="Title 2">
            <a:extLst>
              <a:ext uri="{FF2B5EF4-FFF2-40B4-BE49-F238E27FC236}">
                <a16:creationId xmlns:a16="http://schemas.microsoft.com/office/drawing/2014/main" id="{923F175B-BBDB-E889-213D-CB7705317DBE}"/>
              </a:ext>
            </a:extLst>
          </p:cNvPr>
          <p:cNvSpPr txBox="1">
            <a:spLocks/>
          </p:cNvSpPr>
          <p:nvPr/>
        </p:nvSpPr>
        <p:spPr>
          <a:xfrm>
            <a:off x="0" y="0"/>
            <a:ext cx="12192000" cy="698090"/>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US" sz="3600" dirty="0"/>
              <a:t>Income Transaction: Operations &amp; Underlying Reasons</a:t>
            </a:r>
            <a:endParaRPr lang="en-IN" sz="3600" kern="0" dirty="0"/>
          </a:p>
        </p:txBody>
      </p:sp>
    </p:spTree>
    <p:extLst>
      <p:ext uri="{BB962C8B-B14F-4D97-AF65-F5344CB8AC3E}">
        <p14:creationId xmlns:p14="http://schemas.microsoft.com/office/powerpoint/2010/main" val="42276184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7247CE6-7E12-CB5B-C11B-299846B14344}"/>
              </a:ext>
            </a:extLst>
          </p:cNvPr>
          <p:cNvSpPr>
            <a:spLocks noGrp="1"/>
          </p:cNvSpPr>
          <p:nvPr>
            <p:ph type="body" idx="1"/>
          </p:nvPr>
        </p:nvSpPr>
        <p:spPr>
          <a:xfrm>
            <a:off x="6096000" y="914400"/>
            <a:ext cx="5925174" cy="5063613"/>
          </a:xfrm>
        </p:spPr>
        <p:txBody>
          <a:bodyPr>
            <a:normAutofit/>
          </a:bodyPr>
          <a:lstStyle/>
          <a:p>
            <a:pPr marL="643462" indent="-457200">
              <a:lnSpc>
                <a:spcPct val="130000"/>
              </a:lnSpc>
              <a:buFont typeface="+mj-lt"/>
              <a:buAutoNum type="arabicPeriod"/>
            </a:pPr>
            <a:r>
              <a:rPr lang="en-US" sz="1500" dirty="0">
                <a:latin typeface="+mn-lt"/>
              </a:rPr>
              <a:t>The Berka Dataset is spanning across 6 years in which year 1998 has contributed the most and least one in year 1993 which is about only 3% . </a:t>
            </a:r>
          </a:p>
          <a:p>
            <a:pPr marL="643462" indent="-457200">
              <a:lnSpc>
                <a:spcPct val="130000"/>
              </a:lnSpc>
              <a:buFont typeface="+mj-lt"/>
              <a:buAutoNum type="arabicPeriod"/>
            </a:pPr>
            <a:r>
              <a:rPr lang="en-US" sz="1500" dirty="0">
                <a:latin typeface="+mn-lt"/>
              </a:rPr>
              <a:t>The transaction based on various type has been gradually increasing across years in Expense there is sudden increase from year 1993 to 1994 from 1.19% to 5.15%.</a:t>
            </a:r>
          </a:p>
          <a:p>
            <a:pPr marL="643462" indent="-457200">
              <a:lnSpc>
                <a:spcPct val="130000"/>
              </a:lnSpc>
              <a:buFont typeface="+mj-lt"/>
              <a:buAutoNum type="arabicPeriod"/>
            </a:pPr>
            <a:r>
              <a:rPr lang="en-US" sz="1500" dirty="0">
                <a:latin typeface="+mn-lt"/>
              </a:rPr>
              <a:t>Withdrawal is kind of low across all years the minimum withdrawal percentage about 0.04% and maximum is 0.51% .</a:t>
            </a:r>
          </a:p>
          <a:p>
            <a:pPr marL="643462" indent="-457200">
              <a:lnSpc>
                <a:spcPct val="130000"/>
              </a:lnSpc>
              <a:buFont typeface="+mj-lt"/>
              <a:buAutoNum type="arabicPeriod"/>
            </a:pPr>
            <a:r>
              <a:rPr lang="en-US" sz="1500" dirty="0">
                <a:latin typeface="+mn-lt"/>
              </a:rPr>
              <a:t>Transaction of Income type is performed well in year 1997 and in 1998 but comparatively less by expense </a:t>
            </a:r>
          </a:p>
          <a:p>
            <a:pPr marL="643462" indent="-457200">
              <a:lnSpc>
                <a:spcPct val="130000"/>
              </a:lnSpc>
              <a:buFont typeface="+mj-lt"/>
              <a:buAutoNum type="arabicPeriod"/>
            </a:pPr>
            <a:r>
              <a:rPr lang="en-US" sz="1500" dirty="0">
                <a:latin typeface="+mn-lt"/>
              </a:rPr>
              <a:t>Conclusion – the Transactions related to Expense are most across all years and they are gradually increasing from the before year .</a:t>
            </a:r>
          </a:p>
          <a:p>
            <a:endParaRPr lang="en-IN" dirty="0"/>
          </a:p>
        </p:txBody>
      </p:sp>
      <p:pic>
        <p:nvPicPr>
          <p:cNvPr id="5" name="Picture 4" descr="A pie chart with numbers and symbols&#10;&#10;AI-generated content may be incorrect.">
            <a:extLst>
              <a:ext uri="{FF2B5EF4-FFF2-40B4-BE49-F238E27FC236}">
                <a16:creationId xmlns:a16="http://schemas.microsoft.com/office/drawing/2014/main" id="{A22E4BF9-27D0-03AE-D63D-3C22C56E2C0F}"/>
              </a:ext>
            </a:extLst>
          </p:cNvPr>
          <p:cNvPicPr>
            <a:picLocks noChangeAspect="1"/>
          </p:cNvPicPr>
          <p:nvPr/>
        </p:nvPicPr>
        <p:blipFill>
          <a:blip r:embed="rId2"/>
          <a:stretch>
            <a:fillRect/>
          </a:stretch>
        </p:blipFill>
        <p:spPr>
          <a:xfrm>
            <a:off x="314706" y="3737287"/>
            <a:ext cx="5093034" cy="2427539"/>
          </a:xfrm>
          <a:prstGeom prst="rect">
            <a:avLst/>
          </a:prstGeom>
          <a:ln>
            <a:solidFill>
              <a:schemeClr val="bg2"/>
            </a:solidFill>
          </a:ln>
        </p:spPr>
      </p:pic>
      <p:pic>
        <p:nvPicPr>
          <p:cNvPr id="9" name="Picture 8" descr="A graph of different colored bars&#10;&#10;AI-generated content may be incorrect.">
            <a:extLst>
              <a:ext uri="{FF2B5EF4-FFF2-40B4-BE49-F238E27FC236}">
                <a16:creationId xmlns:a16="http://schemas.microsoft.com/office/drawing/2014/main" id="{8BBEA4B4-8C87-B426-7FE3-B8DCA3ED34F9}"/>
              </a:ext>
            </a:extLst>
          </p:cNvPr>
          <p:cNvPicPr>
            <a:picLocks noChangeAspect="1"/>
          </p:cNvPicPr>
          <p:nvPr/>
        </p:nvPicPr>
        <p:blipFill>
          <a:blip r:embed="rId3"/>
          <a:stretch>
            <a:fillRect/>
          </a:stretch>
        </p:blipFill>
        <p:spPr>
          <a:xfrm>
            <a:off x="314705" y="816590"/>
            <a:ext cx="5093035" cy="2802197"/>
          </a:xfrm>
          <a:prstGeom prst="rect">
            <a:avLst/>
          </a:prstGeom>
          <a:ln>
            <a:solidFill>
              <a:schemeClr val="bg2"/>
            </a:solidFill>
          </a:ln>
        </p:spPr>
      </p:pic>
      <p:sp>
        <p:nvSpPr>
          <p:cNvPr id="4" name="Title 2">
            <a:extLst>
              <a:ext uri="{FF2B5EF4-FFF2-40B4-BE49-F238E27FC236}">
                <a16:creationId xmlns:a16="http://schemas.microsoft.com/office/drawing/2014/main" id="{177C120B-F8AC-55C1-6E6B-A448A7C90F65}"/>
              </a:ext>
            </a:extLst>
          </p:cNvPr>
          <p:cNvSpPr txBox="1">
            <a:spLocks/>
          </p:cNvSpPr>
          <p:nvPr/>
        </p:nvSpPr>
        <p:spPr>
          <a:xfrm>
            <a:off x="0" y="0"/>
            <a:ext cx="12192000" cy="698090"/>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IN" sz="3600" dirty="0"/>
              <a:t>Year-Wise Transaction Trends (1993–1998)</a:t>
            </a:r>
            <a:endParaRPr lang="en-IN" sz="3600" kern="0" dirty="0"/>
          </a:p>
        </p:txBody>
      </p:sp>
    </p:spTree>
    <p:extLst>
      <p:ext uri="{BB962C8B-B14F-4D97-AF65-F5344CB8AC3E}">
        <p14:creationId xmlns:p14="http://schemas.microsoft.com/office/powerpoint/2010/main" val="38689427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D53F3F2-ACE5-49EE-1FC7-B411AF03A0D2}"/>
              </a:ext>
            </a:extLst>
          </p:cNvPr>
          <p:cNvSpPr>
            <a:spLocks noGrp="1"/>
          </p:cNvSpPr>
          <p:nvPr>
            <p:ph type="body" idx="1"/>
          </p:nvPr>
        </p:nvSpPr>
        <p:spPr>
          <a:xfrm>
            <a:off x="6626942" y="1258529"/>
            <a:ext cx="5324165" cy="3795252"/>
          </a:xfrm>
        </p:spPr>
        <p:txBody>
          <a:bodyPr>
            <a:normAutofit/>
          </a:bodyPr>
          <a:lstStyle/>
          <a:p>
            <a:pPr>
              <a:lnSpc>
                <a:spcPct val="150000"/>
              </a:lnSpc>
            </a:pPr>
            <a:r>
              <a:rPr lang="en-US" sz="1700" dirty="0">
                <a:latin typeface="+mn-lt"/>
              </a:rPr>
              <a:t>The Berka Dataset contains a total of </a:t>
            </a:r>
            <a:r>
              <a:rPr lang="en-US" sz="1700" b="1" dirty="0">
                <a:latin typeface="+mn-lt"/>
              </a:rPr>
              <a:t>1 million+ transactions</a:t>
            </a:r>
            <a:r>
              <a:rPr lang="en-US" sz="1700" dirty="0">
                <a:latin typeface="+mn-lt"/>
              </a:rPr>
              <a:t>.</a:t>
            </a:r>
            <a:br>
              <a:rPr lang="en-US" sz="1700" dirty="0">
                <a:latin typeface="+mn-lt"/>
              </a:rPr>
            </a:br>
            <a:r>
              <a:rPr lang="en-US" sz="1700" dirty="0">
                <a:latin typeface="+mn-lt"/>
              </a:rPr>
              <a:t>This analysis shows how average transactions are distributed across the days of the week.</a:t>
            </a:r>
          </a:p>
          <a:p>
            <a:pPr>
              <a:lnSpc>
                <a:spcPct val="150000"/>
              </a:lnSpc>
            </a:pPr>
            <a:r>
              <a:rPr lang="en-US" sz="1700" b="1" dirty="0">
                <a:latin typeface="+mn-lt"/>
              </a:rPr>
              <a:t>Highest transactions:</a:t>
            </a:r>
            <a:r>
              <a:rPr lang="en-US" sz="1700" dirty="0">
                <a:latin typeface="+mn-lt"/>
              </a:rPr>
              <a:t> Saturday — </a:t>
            </a:r>
            <a:r>
              <a:rPr lang="en-US" sz="1700" b="1" dirty="0">
                <a:latin typeface="+mn-lt"/>
              </a:rPr>
              <a:t>158,499</a:t>
            </a:r>
            <a:endParaRPr lang="en-US" sz="1700" dirty="0">
              <a:latin typeface="+mn-lt"/>
            </a:endParaRPr>
          </a:p>
          <a:p>
            <a:pPr>
              <a:lnSpc>
                <a:spcPct val="150000"/>
              </a:lnSpc>
            </a:pPr>
            <a:r>
              <a:rPr lang="en-US" sz="1700" b="1" dirty="0">
                <a:latin typeface="+mn-lt"/>
              </a:rPr>
              <a:t>Lowest transactions:</a:t>
            </a:r>
            <a:r>
              <a:rPr lang="en-US" sz="1700" dirty="0">
                <a:latin typeface="+mn-lt"/>
              </a:rPr>
              <a:t> Wednesday — </a:t>
            </a:r>
            <a:r>
              <a:rPr lang="en-US" sz="1700" b="1" dirty="0">
                <a:latin typeface="+mn-lt"/>
              </a:rPr>
              <a:t>145,158</a:t>
            </a:r>
            <a:endParaRPr lang="en-US" sz="1700" dirty="0">
              <a:latin typeface="+mn-lt"/>
            </a:endParaRPr>
          </a:p>
          <a:p>
            <a:pPr>
              <a:lnSpc>
                <a:spcPct val="150000"/>
              </a:lnSpc>
            </a:pPr>
            <a:r>
              <a:rPr lang="en-US" sz="1700" dirty="0">
                <a:latin typeface="+mn-lt"/>
              </a:rPr>
              <a:t>This helps in understanding customer activity patterns and peak banking days.</a:t>
            </a:r>
          </a:p>
          <a:p>
            <a:pPr>
              <a:lnSpc>
                <a:spcPct val="100000"/>
              </a:lnSpc>
            </a:pPr>
            <a:endParaRPr lang="en-IN" dirty="0"/>
          </a:p>
        </p:txBody>
      </p:sp>
      <p:pic>
        <p:nvPicPr>
          <p:cNvPr id="5" name="Picture 4" descr="A graph showing a line&#10;&#10;AI-generated content may be incorrect.">
            <a:extLst>
              <a:ext uri="{FF2B5EF4-FFF2-40B4-BE49-F238E27FC236}">
                <a16:creationId xmlns:a16="http://schemas.microsoft.com/office/drawing/2014/main" id="{5D9FF09E-173E-C3D1-6217-EC57D8E63494}"/>
              </a:ext>
              <a:ext uri="{C183D7F6-B498-43B3-948B-1728B52AA6E4}">
                <adec:decorative xmlns:adec="http://schemas.microsoft.com/office/drawing/2017/decorative" val="0"/>
              </a:ext>
            </a:extLst>
          </p:cNvPr>
          <p:cNvPicPr>
            <a:picLocks noChangeAspect="1"/>
          </p:cNvPicPr>
          <p:nvPr/>
        </p:nvPicPr>
        <p:blipFill>
          <a:blip r:embed="rId2"/>
          <a:stretch>
            <a:fillRect/>
          </a:stretch>
        </p:blipFill>
        <p:spPr>
          <a:xfrm>
            <a:off x="240893" y="1258530"/>
            <a:ext cx="6100913" cy="3726425"/>
          </a:xfrm>
          <a:prstGeom prst="rect">
            <a:avLst/>
          </a:prstGeom>
          <a:ln>
            <a:solidFill>
              <a:schemeClr val="tx1"/>
            </a:solidFill>
          </a:ln>
        </p:spPr>
      </p:pic>
      <p:sp>
        <p:nvSpPr>
          <p:cNvPr id="4" name="Title 2">
            <a:extLst>
              <a:ext uri="{FF2B5EF4-FFF2-40B4-BE49-F238E27FC236}">
                <a16:creationId xmlns:a16="http://schemas.microsoft.com/office/drawing/2014/main" id="{A31617EB-4E70-11F3-1BFA-914D57803BE5}"/>
              </a:ext>
            </a:extLst>
          </p:cNvPr>
          <p:cNvSpPr txBox="1">
            <a:spLocks/>
          </p:cNvSpPr>
          <p:nvPr/>
        </p:nvSpPr>
        <p:spPr>
          <a:xfrm>
            <a:off x="0" y="0"/>
            <a:ext cx="12192000" cy="698090"/>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IN" sz="3600" dirty="0" err="1"/>
              <a:t>Daywise</a:t>
            </a:r>
            <a:r>
              <a:rPr lang="en-IN" sz="3600" dirty="0"/>
              <a:t> Transaction Analysis</a:t>
            </a:r>
            <a:endParaRPr lang="en-IN" sz="3600" kern="0" dirty="0"/>
          </a:p>
        </p:txBody>
      </p:sp>
    </p:spTree>
    <p:extLst>
      <p:ext uri="{BB962C8B-B14F-4D97-AF65-F5344CB8AC3E}">
        <p14:creationId xmlns:p14="http://schemas.microsoft.com/office/powerpoint/2010/main" val="264528284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B753F9E-04B4-1C3B-8876-F7B68720E443}"/>
              </a:ext>
            </a:extLst>
          </p:cNvPr>
          <p:cNvSpPr>
            <a:spLocks noGrp="1"/>
          </p:cNvSpPr>
          <p:nvPr>
            <p:ph type="body" idx="1"/>
          </p:nvPr>
        </p:nvSpPr>
        <p:spPr>
          <a:xfrm>
            <a:off x="6450543" y="962082"/>
            <a:ext cx="5318670" cy="4702744"/>
          </a:xfrm>
        </p:spPr>
        <p:txBody>
          <a:bodyPr/>
          <a:lstStyle/>
          <a:p>
            <a:pPr marL="643462" indent="-457200">
              <a:lnSpc>
                <a:spcPct val="150000"/>
              </a:lnSpc>
              <a:buFont typeface="+mj-lt"/>
              <a:buAutoNum type="arabicPeriod"/>
            </a:pPr>
            <a:r>
              <a:rPr lang="en-US" sz="1500" dirty="0">
                <a:latin typeface="+mn-lt"/>
              </a:rPr>
              <a:t>Transactions Based on Months &amp; Year</a:t>
            </a:r>
          </a:p>
          <a:p>
            <a:pPr marL="643462" indent="-457200">
              <a:lnSpc>
                <a:spcPct val="150000"/>
              </a:lnSpc>
              <a:buFont typeface="+mj-lt"/>
              <a:buAutoNum type="arabicPeriod"/>
            </a:pPr>
            <a:r>
              <a:rPr lang="en-US" sz="1500" dirty="0">
                <a:latin typeface="+mn-lt"/>
              </a:rPr>
              <a:t>The Transactions count  in Month of January is most and in February there is suddenly  decrease in transaction . Then it gets stabilize and then  in June there is a slight increase .</a:t>
            </a:r>
          </a:p>
          <a:p>
            <a:pPr marL="643462" indent="-457200">
              <a:lnSpc>
                <a:spcPct val="150000"/>
              </a:lnSpc>
              <a:buFont typeface="+mj-lt"/>
              <a:buAutoNum type="arabicPeriod"/>
            </a:pPr>
            <a:r>
              <a:rPr lang="en-US" sz="1500" dirty="0">
                <a:latin typeface="+mn-lt"/>
              </a:rPr>
              <a:t>Then it again stabilize </a:t>
            </a:r>
          </a:p>
          <a:p>
            <a:pPr marL="643462" indent="-457200">
              <a:lnSpc>
                <a:spcPct val="150000"/>
              </a:lnSpc>
              <a:buFont typeface="+mj-lt"/>
              <a:buAutoNum type="arabicPeriod"/>
            </a:pPr>
            <a:r>
              <a:rPr lang="en-US" sz="1500" dirty="0">
                <a:latin typeface="+mn-lt"/>
              </a:rPr>
              <a:t> Berka Dataset is spanning across 6 years . Among 6 years in year 1998 there is a sudden fall in the transactions counts  in month of November which has happened due to decrease in withdrawals transactions.</a:t>
            </a:r>
            <a:endParaRPr lang="en-IN" dirty="0"/>
          </a:p>
        </p:txBody>
      </p:sp>
      <p:pic>
        <p:nvPicPr>
          <p:cNvPr id="5" name="Picture 4" descr="A graph of a line graph&#10;&#10;AI-generated content may be incorrect.">
            <a:extLst>
              <a:ext uri="{FF2B5EF4-FFF2-40B4-BE49-F238E27FC236}">
                <a16:creationId xmlns:a16="http://schemas.microsoft.com/office/drawing/2014/main" id="{726161F9-9169-4570-C4E9-57799AB87C22}"/>
              </a:ext>
            </a:extLst>
          </p:cNvPr>
          <p:cNvPicPr>
            <a:picLocks noChangeAspect="1"/>
          </p:cNvPicPr>
          <p:nvPr/>
        </p:nvPicPr>
        <p:blipFill>
          <a:blip r:embed="rId2"/>
          <a:stretch>
            <a:fillRect/>
          </a:stretch>
        </p:blipFill>
        <p:spPr>
          <a:xfrm>
            <a:off x="275303" y="872146"/>
            <a:ext cx="5693281" cy="2441308"/>
          </a:xfrm>
          <a:prstGeom prst="rect">
            <a:avLst/>
          </a:prstGeom>
          <a:ln>
            <a:solidFill>
              <a:schemeClr val="tx1"/>
            </a:solidFill>
          </a:ln>
        </p:spPr>
      </p:pic>
      <p:pic>
        <p:nvPicPr>
          <p:cNvPr id="6" name="Picture 5" descr="A graph of blue and orange bars&#10;&#10;AI-generated content may be incorrect.">
            <a:extLst>
              <a:ext uri="{FF2B5EF4-FFF2-40B4-BE49-F238E27FC236}">
                <a16:creationId xmlns:a16="http://schemas.microsoft.com/office/drawing/2014/main" id="{0A6C6D37-2787-F528-D67B-566016258E0D}"/>
              </a:ext>
            </a:extLst>
          </p:cNvPr>
          <p:cNvPicPr>
            <a:picLocks noChangeAspect="1"/>
          </p:cNvPicPr>
          <p:nvPr/>
        </p:nvPicPr>
        <p:blipFill>
          <a:blip r:embed="rId3"/>
          <a:stretch>
            <a:fillRect/>
          </a:stretch>
        </p:blipFill>
        <p:spPr>
          <a:xfrm>
            <a:off x="275302" y="3595697"/>
            <a:ext cx="5693281" cy="2441309"/>
          </a:xfrm>
          <a:prstGeom prst="rect">
            <a:avLst/>
          </a:prstGeom>
          <a:ln>
            <a:solidFill>
              <a:schemeClr val="tx1"/>
            </a:solidFill>
          </a:ln>
        </p:spPr>
      </p:pic>
      <p:sp>
        <p:nvSpPr>
          <p:cNvPr id="4" name="Title 2">
            <a:extLst>
              <a:ext uri="{FF2B5EF4-FFF2-40B4-BE49-F238E27FC236}">
                <a16:creationId xmlns:a16="http://schemas.microsoft.com/office/drawing/2014/main" id="{3EC54035-2BEA-7DAC-EBDF-E8573ECD9AEF}"/>
              </a:ext>
            </a:extLst>
          </p:cNvPr>
          <p:cNvSpPr txBox="1">
            <a:spLocks/>
          </p:cNvSpPr>
          <p:nvPr/>
        </p:nvSpPr>
        <p:spPr>
          <a:xfrm>
            <a:off x="0" y="0"/>
            <a:ext cx="12192000" cy="698090"/>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IN" sz="3600" dirty="0"/>
              <a:t>Monthly &amp; Yearly Transaction Patterns</a:t>
            </a:r>
            <a:endParaRPr lang="en-IN" sz="3600" kern="0" dirty="0"/>
          </a:p>
        </p:txBody>
      </p:sp>
    </p:spTree>
    <p:extLst>
      <p:ext uri="{BB962C8B-B14F-4D97-AF65-F5344CB8AC3E}">
        <p14:creationId xmlns:p14="http://schemas.microsoft.com/office/powerpoint/2010/main" val="23203364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B520AA8-3760-96D2-DB23-7B11810B00B6}"/>
              </a:ext>
            </a:extLst>
          </p:cNvPr>
          <p:cNvSpPr>
            <a:spLocks noGrp="1"/>
          </p:cNvSpPr>
          <p:nvPr>
            <p:ph type="body" idx="1"/>
          </p:nvPr>
        </p:nvSpPr>
        <p:spPr>
          <a:xfrm>
            <a:off x="6803922" y="967994"/>
            <a:ext cx="5064045" cy="4888669"/>
          </a:xfrm>
        </p:spPr>
        <p:txBody>
          <a:bodyPr>
            <a:normAutofit/>
          </a:bodyPr>
          <a:lstStyle/>
          <a:p>
            <a:pPr marL="643462" indent="-457200">
              <a:buFont typeface="+mj-lt"/>
              <a:buAutoNum type="arabicPeriod"/>
            </a:pPr>
            <a:r>
              <a:rPr lang="en-US" dirty="0"/>
              <a:t>In February, there is a sharp decline in total transactions, with a –42% drop in transaction counts.</a:t>
            </a:r>
            <a:br>
              <a:rPr lang="en-US" dirty="0"/>
            </a:br>
            <a:r>
              <a:rPr lang="en-US" dirty="0"/>
              <a:t>To understand the reason behind this decline, a deeper analysis using other columns is required.</a:t>
            </a:r>
          </a:p>
          <a:p>
            <a:pPr marL="643462" indent="-457200">
              <a:buFont typeface="+mj-lt"/>
              <a:buAutoNum type="arabicPeriod"/>
            </a:pPr>
            <a:r>
              <a:rPr lang="en-US" dirty="0"/>
              <a:t>One major contributing factor is the significant decrease in Expense-type transactions, which show a drop of around 5,700 transactions in February.</a:t>
            </a:r>
            <a:br>
              <a:rPr lang="en-US" dirty="0"/>
            </a:br>
            <a:r>
              <a:rPr lang="en-US" dirty="0"/>
              <a:t>This reduction in Expense transactions is likely a key reason behind the overall fall in transaction volume.</a:t>
            </a:r>
          </a:p>
          <a:p>
            <a:endParaRPr lang="en-IN" dirty="0"/>
          </a:p>
        </p:txBody>
      </p:sp>
      <p:pic>
        <p:nvPicPr>
          <p:cNvPr id="5" name="Picture 4" descr="A graph showing a line and numbers&#10;&#10;AI-generated content may be incorrect.">
            <a:extLst>
              <a:ext uri="{FF2B5EF4-FFF2-40B4-BE49-F238E27FC236}">
                <a16:creationId xmlns:a16="http://schemas.microsoft.com/office/drawing/2014/main" id="{92A27435-DE56-58A5-C112-6553320FE627}"/>
              </a:ext>
            </a:extLst>
          </p:cNvPr>
          <p:cNvPicPr>
            <a:picLocks noChangeAspect="1"/>
          </p:cNvPicPr>
          <p:nvPr/>
        </p:nvPicPr>
        <p:blipFill>
          <a:blip r:embed="rId2"/>
          <a:stretch>
            <a:fillRect/>
          </a:stretch>
        </p:blipFill>
        <p:spPr>
          <a:xfrm>
            <a:off x="510621" y="967994"/>
            <a:ext cx="5951682" cy="2461006"/>
          </a:xfrm>
          <a:prstGeom prst="rect">
            <a:avLst/>
          </a:prstGeom>
          <a:ln>
            <a:solidFill>
              <a:schemeClr val="tx1"/>
            </a:solidFill>
          </a:ln>
        </p:spPr>
      </p:pic>
      <p:pic>
        <p:nvPicPr>
          <p:cNvPr id="7" name="Picture 6" descr="A graph showing a number of individuals&#10;&#10;AI-generated content may be incorrect.">
            <a:extLst>
              <a:ext uri="{FF2B5EF4-FFF2-40B4-BE49-F238E27FC236}">
                <a16:creationId xmlns:a16="http://schemas.microsoft.com/office/drawing/2014/main" id="{F8A99E2D-2B04-D2F5-F257-166F1C230AA5}"/>
              </a:ext>
            </a:extLst>
          </p:cNvPr>
          <p:cNvPicPr>
            <a:picLocks noChangeAspect="1"/>
          </p:cNvPicPr>
          <p:nvPr/>
        </p:nvPicPr>
        <p:blipFill>
          <a:blip r:embed="rId3"/>
          <a:stretch>
            <a:fillRect/>
          </a:stretch>
        </p:blipFill>
        <p:spPr>
          <a:xfrm>
            <a:off x="510621" y="3563289"/>
            <a:ext cx="5951682" cy="2461006"/>
          </a:xfrm>
          <a:prstGeom prst="rect">
            <a:avLst/>
          </a:prstGeom>
          <a:ln>
            <a:solidFill>
              <a:schemeClr val="tx1"/>
            </a:solidFill>
          </a:ln>
        </p:spPr>
      </p:pic>
      <p:sp>
        <p:nvSpPr>
          <p:cNvPr id="8" name="Title 2">
            <a:extLst>
              <a:ext uri="{FF2B5EF4-FFF2-40B4-BE49-F238E27FC236}">
                <a16:creationId xmlns:a16="http://schemas.microsoft.com/office/drawing/2014/main" id="{ADC660F4-95F3-E9F0-BF68-22235962464F}"/>
              </a:ext>
            </a:extLst>
          </p:cNvPr>
          <p:cNvSpPr txBox="1">
            <a:spLocks/>
          </p:cNvSpPr>
          <p:nvPr/>
        </p:nvSpPr>
        <p:spPr>
          <a:xfrm>
            <a:off x="0" y="0"/>
            <a:ext cx="12192000" cy="698090"/>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US" sz="3600" dirty="0"/>
              <a:t>Analyzing the February Transaction Decline</a:t>
            </a:r>
            <a:endParaRPr lang="en-IN" sz="3600" kern="0" dirty="0"/>
          </a:p>
        </p:txBody>
      </p:sp>
    </p:spTree>
    <p:extLst>
      <p:ext uri="{BB962C8B-B14F-4D97-AF65-F5344CB8AC3E}">
        <p14:creationId xmlns:p14="http://schemas.microsoft.com/office/powerpoint/2010/main" val="16830255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FEF7C6B-A036-96E6-4543-045672D1CAFE}"/>
              </a:ext>
            </a:extLst>
          </p:cNvPr>
          <p:cNvSpPr>
            <a:spLocks noGrp="1"/>
          </p:cNvSpPr>
          <p:nvPr>
            <p:ph type="body" idx="1"/>
          </p:nvPr>
        </p:nvSpPr>
        <p:spPr>
          <a:xfrm>
            <a:off x="6410634" y="1024771"/>
            <a:ext cx="4864510" cy="5002403"/>
          </a:xfrm>
        </p:spPr>
        <p:txBody>
          <a:bodyPr/>
          <a:lstStyle/>
          <a:p>
            <a:pPr>
              <a:lnSpc>
                <a:spcPct val="100000"/>
              </a:lnSpc>
            </a:pPr>
            <a:r>
              <a:rPr lang="en-US" dirty="0"/>
              <a:t>In above line chart we can observe that there is a decrease in Card Withdrawal as well as cash withdrawals which also a reason to drop in transactions.</a:t>
            </a:r>
          </a:p>
          <a:p>
            <a:pPr>
              <a:lnSpc>
                <a:spcPct val="100000"/>
              </a:lnSpc>
            </a:pPr>
            <a:r>
              <a:rPr lang="en-US" dirty="0"/>
              <a:t>In Below line chart there is a drop of  expenses on the based of </a:t>
            </a:r>
            <a:r>
              <a:rPr lang="en-US" dirty="0" err="1"/>
              <a:t>k_symbols</a:t>
            </a:r>
            <a:r>
              <a:rPr lang="en-US" dirty="0"/>
              <a:t> which are household bills and penalty interest .</a:t>
            </a:r>
          </a:p>
          <a:p>
            <a:pPr>
              <a:lnSpc>
                <a:spcPct val="100000"/>
              </a:lnSpc>
            </a:pPr>
            <a:r>
              <a:rPr lang="en-US" dirty="0"/>
              <a:t>There is a sudden increase in Transactions in Month December by 11% change by previous months it can be explained from above chart it is because of operations are being consumed more . </a:t>
            </a:r>
          </a:p>
          <a:p>
            <a:endParaRPr lang="en-IN" dirty="0"/>
          </a:p>
        </p:txBody>
      </p:sp>
      <p:pic>
        <p:nvPicPr>
          <p:cNvPr id="5" name="Picture 4" descr="A graph of numbers and a number of different colored bars&#10;&#10;AI-generated content may be incorrect.">
            <a:extLst>
              <a:ext uri="{FF2B5EF4-FFF2-40B4-BE49-F238E27FC236}">
                <a16:creationId xmlns:a16="http://schemas.microsoft.com/office/drawing/2014/main" id="{026B49B7-8C74-B4A6-2B1F-4D2DA6951FAB}"/>
              </a:ext>
            </a:extLst>
          </p:cNvPr>
          <p:cNvPicPr>
            <a:picLocks noChangeAspect="1"/>
          </p:cNvPicPr>
          <p:nvPr/>
        </p:nvPicPr>
        <p:blipFill>
          <a:blip r:embed="rId2"/>
          <a:stretch>
            <a:fillRect/>
          </a:stretch>
        </p:blipFill>
        <p:spPr>
          <a:xfrm>
            <a:off x="403196" y="1024771"/>
            <a:ext cx="5378171" cy="2653009"/>
          </a:xfrm>
          <a:prstGeom prst="rect">
            <a:avLst/>
          </a:prstGeom>
          <a:ln>
            <a:solidFill>
              <a:schemeClr val="tx1"/>
            </a:solidFill>
          </a:ln>
        </p:spPr>
      </p:pic>
      <p:pic>
        <p:nvPicPr>
          <p:cNvPr id="7" name="Picture 6" descr="A graph of a graph showing different types of payments&#10;&#10;AI-generated content may be incorrect.">
            <a:extLst>
              <a:ext uri="{FF2B5EF4-FFF2-40B4-BE49-F238E27FC236}">
                <a16:creationId xmlns:a16="http://schemas.microsoft.com/office/drawing/2014/main" id="{BAF2BE0B-0DCF-56A2-E70C-4CB1B14872F6}"/>
              </a:ext>
            </a:extLst>
          </p:cNvPr>
          <p:cNvPicPr>
            <a:picLocks noChangeAspect="1"/>
          </p:cNvPicPr>
          <p:nvPr/>
        </p:nvPicPr>
        <p:blipFill>
          <a:blip r:embed="rId3"/>
          <a:stretch>
            <a:fillRect/>
          </a:stretch>
        </p:blipFill>
        <p:spPr>
          <a:xfrm>
            <a:off x="403197" y="3790609"/>
            <a:ext cx="5378171" cy="2472539"/>
          </a:xfrm>
          <a:prstGeom prst="rect">
            <a:avLst/>
          </a:prstGeom>
          <a:ln>
            <a:solidFill>
              <a:schemeClr val="tx1"/>
            </a:solidFill>
          </a:ln>
        </p:spPr>
      </p:pic>
      <p:sp>
        <p:nvSpPr>
          <p:cNvPr id="8" name="Title 2">
            <a:extLst>
              <a:ext uri="{FF2B5EF4-FFF2-40B4-BE49-F238E27FC236}">
                <a16:creationId xmlns:a16="http://schemas.microsoft.com/office/drawing/2014/main" id="{E5BB77D0-5BF5-3E2C-BF8D-2A48E0B0B840}"/>
              </a:ext>
            </a:extLst>
          </p:cNvPr>
          <p:cNvSpPr txBox="1">
            <a:spLocks/>
          </p:cNvSpPr>
          <p:nvPr/>
        </p:nvSpPr>
        <p:spPr>
          <a:xfrm>
            <a:off x="0" y="0"/>
            <a:ext cx="12192000" cy="698090"/>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US" sz="3600" dirty="0"/>
              <a:t>Drivers of Monthly Transaction Declines and Spikes</a:t>
            </a:r>
            <a:endParaRPr lang="en-IN" sz="3600" kern="0" dirty="0"/>
          </a:p>
        </p:txBody>
      </p:sp>
    </p:spTree>
    <p:extLst>
      <p:ext uri="{BB962C8B-B14F-4D97-AF65-F5344CB8AC3E}">
        <p14:creationId xmlns:p14="http://schemas.microsoft.com/office/powerpoint/2010/main" val="26577353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502CDF43-6676-CF0A-AD84-B90AC7FE2D21}"/>
              </a:ext>
            </a:extLst>
          </p:cNvPr>
          <p:cNvSpPr txBox="1">
            <a:spLocks/>
          </p:cNvSpPr>
          <p:nvPr/>
        </p:nvSpPr>
        <p:spPr>
          <a:xfrm>
            <a:off x="0" y="2458065"/>
            <a:ext cx="12192000" cy="865238"/>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US" sz="5400" kern="0" dirty="0"/>
              <a:t>Customer Behavior Analysis</a:t>
            </a:r>
            <a:endParaRPr lang="en-IN" sz="5400" kern="0" dirty="0"/>
          </a:p>
        </p:txBody>
      </p:sp>
    </p:spTree>
    <p:extLst>
      <p:ext uri="{BB962C8B-B14F-4D97-AF65-F5344CB8AC3E}">
        <p14:creationId xmlns:p14="http://schemas.microsoft.com/office/powerpoint/2010/main" val="5030917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55D18FF-96F7-9DA0-96EE-F31B0F656FE0}"/>
              </a:ext>
            </a:extLst>
          </p:cNvPr>
          <p:cNvSpPr>
            <a:spLocks noGrp="1"/>
          </p:cNvSpPr>
          <p:nvPr>
            <p:ph type="body" idx="1"/>
          </p:nvPr>
        </p:nvSpPr>
        <p:spPr>
          <a:xfrm>
            <a:off x="6096001" y="865239"/>
            <a:ext cx="5592096" cy="5229266"/>
          </a:xfrm>
        </p:spPr>
        <p:txBody>
          <a:bodyPr/>
          <a:lstStyle/>
          <a:p>
            <a:pPr>
              <a:lnSpc>
                <a:spcPct val="100000"/>
              </a:lnSpc>
            </a:pPr>
            <a:r>
              <a:rPr lang="en-US" dirty="0"/>
              <a:t>Distribution of Transactions Based on Age-</a:t>
            </a:r>
            <a:r>
              <a:rPr lang="en-US" dirty="0" err="1"/>
              <a:t>Grps</a:t>
            </a:r>
            <a:r>
              <a:rPr lang="en-US" dirty="0"/>
              <a:t> </a:t>
            </a:r>
          </a:p>
          <a:p>
            <a:pPr>
              <a:lnSpc>
                <a:spcPct val="100000"/>
              </a:lnSpc>
            </a:pPr>
            <a:r>
              <a:rPr lang="en-US" dirty="0"/>
              <a:t>Adults  contributes the most in terms of Transactions  about 62% and then senior about  37%  </a:t>
            </a:r>
          </a:p>
          <a:p>
            <a:pPr>
              <a:lnSpc>
                <a:spcPct val="100000"/>
              </a:lnSpc>
            </a:pPr>
            <a:r>
              <a:rPr lang="en-US" dirty="0"/>
              <a:t>Least contributed by Minor only 1% of total </a:t>
            </a:r>
          </a:p>
          <a:p>
            <a:pPr>
              <a:lnSpc>
                <a:spcPct val="100000"/>
              </a:lnSpc>
            </a:pPr>
            <a:r>
              <a:rPr lang="en-US" dirty="0"/>
              <a:t>In below chart we can see how the </a:t>
            </a:r>
            <a:r>
              <a:rPr lang="en-US" dirty="0" err="1"/>
              <a:t>age_grps</a:t>
            </a:r>
            <a:r>
              <a:rPr lang="en-US" dirty="0"/>
              <a:t> using which </a:t>
            </a:r>
            <a:r>
              <a:rPr lang="en-US" dirty="0" err="1"/>
              <a:t>card_types</a:t>
            </a:r>
            <a:r>
              <a:rPr lang="en-US" dirty="0"/>
              <a:t> the most </a:t>
            </a:r>
          </a:p>
          <a:p>
            <a:pPr>
              <a:lnSpc>
                <a:spcPct val="100000"/>
              </a:lnSpc>
            </a:pPr>
            <a:r>
              <a:rPr lang="en-US" dirty="0"/>
              <a:t>Adults about 2 thousands of transactions done is in cash which depicts they still lagging behind in </a:t>
            </a:r>
            <a:r>
              <a:rPr lang="en-IN" dirty="0"/>
              <a:t>adopting digital payment methods</a:t>
            </a:r>
            <a:r>
              <a:rPr lang="en-US" dirty="0"/>
              <a:t>.</a:t>
            </a:r>
          </a:p>
          <a:p>
            <a:pPr>
              <a:lnSpc>
                <a:spcPct val="100000"/>
              </a:lnSpc>
            </a:pPr>
            <a:r>
              <a:rPr lang="en-US" dirty="0"/>
              <a:t>Same for senior they have done about more than 1 thousands transactions in cash </a:t>
            </a:r>
          </a:p>
          <a:p>
            <a:pPr>
              <a:lnSpc>
                <a:spcPct val="100000"/>
              </a:lnSpc>
            </a:pPr>
            <a:r>
              <a:rPr lang="en-IN" dirty="0"/>
              <a:t>After cash transactions , classic card contributes the most and the least one is the gold.</a:t>
            </a:r>
          </a:p>
        </p:txBody>
      </p:sp>
      <p:pic>
        <p:nvPicPr>
          <p:cNvPr id="5" name="Picture 4" descr="A diagram of a person's age&#10;&#10;AI-generated content may be incorrect.">
            <a:extLst>
              <a:ext uri="{FF2B5EF4-FFF2-40B4-BE49-F238E27FC236}">
                <a16:creationId xmlns:a16="http://schemas.microsoft.com/office/drawing/2014/main" id="{6EE40455-8DBD-DDCB-D464-BEDC74DFFE0B}"/>
              </a:ext>
            </a:extLst>
          </p:cNvPr>
          <p:cNvPicPr>
            <a:picLocks noChangeAspect="1"/>
          </p:cNvPicPr>
          <p:nvPr/>
        </p:nvPicPr>
        <p:blipFill>
          <a:blip r:embed="rId2"/>
          <a:stretch>
            <a:fillRect/>
          </a:stretch>
        </p:blipFill>
        <p:spPr>
          <a:xfrm>
            <a:off x="503902" y="784123"/>
            <a:ext cx="5187627" cy="2644877"/>
          </a:xfrm>
          <a:prstGeom prst="rect">
            <a:avLst/>
          </a:prstGeom>
          <a:ln>
            <a:solidFill>
              <a:schemeClr val="tx1"/>
            </a:solidFill>
          </a:ln>
        </p:spPr>
      </p:pic>
      <p:pic>
        <p:nvPicPr>
          <p:cNvPr id="7" name="Picture 6" descr="A graph of a number of people with different colored bars&#10;&#10;AI-generated content may be incorrect.">
            <a:extLst>
              <a:ext uri="{FF2B5EF4-FFF2-40B4-BE49-F238E27FC236}">
                <a16:creationId xmlns:a16="http://schemas.microsoft.com/office/drawing/2014/main" id="{438DF2B3-1C52-75DB-F7AE-F1F7392BA226}"/>
              </a:ext>
            </a:extLst>
          </p:cNvPr>
          <p:cNvPicPr>
            <a:picLocks noChangeAspect="1"/>
          </p:cNvPicPr>
          <p:nvPr/>
        </p:nvPicPr>
        <p:blipFill>
          <a:blip r:embed="rId3"/>
          <a:stretch>
            <a:fillRect/>
          </a:stretch>
        </p:blipFill>
        <p:spPr>
          <a:xfrm>
            <a:off x="503903" y="3515033"/>
            <a:ext cx="5187627" cy="2749595"/>
          </a:xfrm>
          <a:prstGeom prst="rect">
            <a:avLst/>
          </a:prstGeom>
          <a:ln>
            <a:solidFill>
              <a:schemeClr val="tx1"/>
            </a:solidFill>
          </a:ln>
        </p:spPr>
      </p:pic>
      <p:sp>
        <p:nvSpPr>
          <p:cNvPr id="4" name="Title 2">
            <a:extLst>
              <a:ext uri="{FF2B5EF4-FFF2-40B4-BE49-F238E27FC236}">
                <a16:creationId xmlns:a16="http://schemas.microsoft.com/office/drawing/2014/main" id="{B1BE05EA-F27F-1291-5DEA-420E60EAB1DC}"/>
              </a:ext>
            </a:extLst>
          </p:cNvPr>
          <p:cNvSpPr txBox="1">
            <a:spLocks/>
          </p:cNvSpPr>
          <p:nvPr/>
        </p:nvSpPr>
        <p:spPr>
          <a:xfrm>
            <a:off x="0" y="0"/>
            <a:ext cx="12192000" cy="698090"/>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US" sz="3600" dirty="0"/>
              <a:t>Age-Wise Transaction Trends &amp; Cash Usage Insights</a:t>
            </a:r>
            <a:endParaRPr lang="en-IN" sz="3600" kern="0" dirty="0"/>
          </a:p>
        </p:txBody>
      </p:sp>
    </p:spTree>
    <p:extLst>
      <p:ext uri="{BB962C8B-B14F-4D97-AF65-F5344CB8AC3E}">
        <p14:creationId xmlns:p14="http://schemas.microsoft.com/office/powerpoint/2010/main" val="364644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80CF997-42A3-48F6-18FF-88B68ED81FFD}"/>
              </a:ext>
            </a:extLst>
          </p:cNvPr>
          <p:cNvSpPr>
            <a:spLocks noGrp="1"/>
          </p:cNvSpPr>
          <p:nvPr>
            <p:ph type="body" idx="1"/>
          </p:nvPr>
        </p:nvSpPr>
        <p:spPr>
          <a:xfrm>
            <a:off x="5840361" y="1294445"/>
            <a:ext cx="5483942" cy="4582864"/>
          </a:xfrm>
        </p:spPr>
        <p:txBody>
          <a:bodyPr/>
          <a:lstStyle/>
          <a:p>
            <a:pPr>
              <a:lnSpc>
                <a:spcPct val="100000"/>
              </a:lnSpc>
            </a:pPr>
            <a:r>
              <a:rPr lang="en-US" dirty="0"/>
              <a:t>There are Two types of account holder – despondent  &amp; owner</a:t>
            </a:r>
          </a:p>
          <a:p>
            <a:pPr>
              <a:lnSpc>
                <a:spcPct val="100000"/>
              </a:lnSpc>
            </a:pPr>
            <a:r>
              <a:rPr lang="en-US" dirty="0"/>
              <a:t>Owner – The account owner how have all the rights to do transactions.</a:t>
            </a:r>
          </a:p>
          <a:p>
            <a:pPr>
              <a:lnSpc>
                <a:spcPct val="100000"/>
              </a:lnSpc>
            </a:pPr>
            <a:r>
              <a:rPr lang="en-US" dirty="0"/>
              <a:t>Despondent  -Means the client can operate the account, but does not own it</a:t>
            </a:r>
          </a:p>
          <a:p>
            <a:pPr>
              <a:lnSpc>
                <a:spcPct val="100000"/>
              </a:lnSpc>
            </a:pPr>
            <a:r>
              <a:rPr lang="en-US" dirty="0"/>
              <a:t>In Case of Adults 61%  of account holder are owner and only 10% are despondent </a:t>
            </a:r>
          </a:p>
          <a:p>
            <a:pPr>
              <a:lnSpc>
                <a:spcPct val="100000"/>
              </a:lnSpc>
            </a:pPr>
            <a:r>
              <a:rPr lang="en-US" dirty="0"/>
              <a:t>In case of Minor owner are of 1.2% and 0.33% are despondent .</a:t>
            </a:r>
          </a:p>
          <a:p>
            <a:pPr>
              <a:lnSpc>
                <a:spcPct val="100000"/>
              </a:lnSpc>
            </a:pPr>
            <a:r>
              <a:rPr lang="en-US" dirty="0"/>
              <a:t>In case of senior the owner are 36.89% of owner and 8.84 are despondent.</a:t>
            </a:r>
            <a:endParaRPr lang="en-IN" dirty="0"/>
          </a:p>
        </p:txBody>
      </p:sp>
      <p:pic>
        <p:nvPicPr>
          <p:cNvPr id="8" name="Picture 7" descr="A graph with numbers and a number of bars&#10;&#10;AI-generated content may be incorrect.">
            <a:extLst>
              <a:ext uri="{FF2B5EF4-FFF2-40B4-BE49-F238E27FC236}">
                <a16:creationId xmlns:a16="http://schemas.microsoft.com/office/drawing/2014/main" id="{EBF8AA34-C14D-5BBE-1EBE-2C9931E31150}"/>
              </a:ext>
            </a:extLst>
          </p:cNvPr>
          <p:cNvPicPr>
            <a:picLocks noChangeAspect="1"/>
          </p:cNvPicPr>
          <p:nvPr/>
        </p:nvPicPr>
        <p:blipFill>
          <a:blip r:embed="rId2"/>
          <a:stretch>
            <a:fillRect/>
          </a:stretch>
        </p:blipFill>
        <p:spPr>
          <a:xfrm>
            <a:off x="285210" y="1294445"/>
            <a:ext cx="5253473" cy="4014975"/>
          </a:xfrm>
          <a:prstGeom prst="rect">
            <a:avLst/>
          </a:prstGeom>
          <a:ln>
            <a:solidFill>
              <a:schemeClr val="bg2"/>
            </a:solidFill>
          </a:ln>
        </p:spPr>
      </p:pic>
      <p:sp>
        <p:nvSpPr>
          <p:cNvPr id="9" name="Title 2">
            <a:extLst>
              <a:ext uri="{FF2B5EF4-FFF2-40B4-BE49-F238E27FC236}">
                <a16:creationId xmlns:a16="http://schemas.microsoft.com/office/drawing/2014/main" id="{F3CDA056-23CF-79D7-4104-54C778EE9A98}"/>
              </a:ext>
            </a:extLst>
          </p:cNvPr>
          <p:cNvSpPr txBox="1">
            <a:spLocks/>
          </p:cNvSpPr>
          <p:nvPr/>
        </p:nvSpPr>
        <p:spPr>
          <a:xfrm>
            <a:off x="0" y="0"/>
            <a:ext cx="12192000" cy="698090"/>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US" sz="3600" dirty="0"/>
              <a:t>Ownership Structure by Age Group</a:t>
            </a:r>
            <a:endParaRPr lang="en-IN" sz="3600" kern="0" dirty="0"/>
          </a:p>
        </p:txBody>
      </p:sp>
    </p:spTree>
    <p:extLst>
      <p:ext uri="{BB962C8B-B14F-4D97-AF65-F5344CB8AC3E}">
        <p14:creationId xmlns:p14="http://schemas.microsoft.com/office/powerpoint/2010/main" val="41635258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45818E2F-A405-B0BA-DAED-E60B82FC625F}"/>
              </a:ext>
            </a:extLst>
          </p:cNvPr>
          <p:cNvSpPr>
            <a:spLocks noGrp="1"/>
          </p:cNvSpPr>
          <p:nvPr>
            <p:ph type="body" idx="1"/>
          </p:nvPr>
        </p:nvSpPr>
        <p:spPr>
          <a:xfrm>
            <a:off x="5319253" y="1370600"/>
            <a:ext cx="6489289" cy="4804058"/>
          </a:xfrm>
        </p:spPr>
        <p:txBody>
          <a:bodyPr>
            <a:normAutofit fontScale="92500"/>
          </a:bodyPr>
          <a:lstStyle/>
          <a:p>
            <a:pPr>
              <a:lnSpc>
                <a:spcPct val="110000"/>
              </a:lnSpc>
            </a:pPr>
            <a:r>
              <a:rPr lang="en-US" dirty="0"/>
              <a:t>The Customer Type Distribution based on Accounts</a:t>
            </a:r>
          </a:p>
          <a:p>
            <a:pPr>
              <a:lnSpc>
                <a:spcPct val="110000"/>
              </a:lnSpc>
            </a:pPr>
            <a:r>
              <a:rPr lang="en-US" dirty="0"/>
              <a:t>The customer type classified into premium ,high ,low , medium </a:t>
            </a:r>
          </a:p>
          <a:p>
            <a:pPr>
              <a:lnSpc>
                <a:spcPct val="110000"/>
              </a:lnSpc>
            </a:pPr>
            <a:r>
              <a:rPr lang="en-US" dirty="0"/>
              <a:t>This customer classification is based on two factors</a:t>
            </a:r>
          </a:p>
          <a:p>
            <a:pPr>
              <a:lnSpc>
                <a:spcPct val="110000"/>
              </a:lnSpc>
            </a:pPr>
            <a:r>
              <a:rPr lang="en-US" dirty="0"/>
              <a:t> ( </a:t>
            </a:r>
            <a:r>
              <a:rPr lang="en-US" dirty="0" err="1"/>
              <a:t>Activity_Scores</a:t>
            </a:r>
            <a:r>
              <a:rPr lang="en-US" dirty="0"/>
              <a:t> = </a:t>
            </a:r>
            <a:r>
              <a:rPr lang="en-US" dirty="0" err="1"/>
              <a:t>Customer_Duration</a:t>
            </a:r>
            <a:r>
              <a:rPr lang="en-US" dirty="0"/>
              <a:t> % + </a:t>
            </a:r>
            <a:r>
              <a:rPr lang="en-US" dirty="0" err="1"/>
              <a:t>Trans_Counts</a:t>
            </a:r>
            <a:r>
              <a:rPr lang="en-US" dirty="0"/>
              <a:t>%)</a:t>
            </a:r>
          </a:p>
          <a:p>
            <a:pPr>
              <a:lnSpc>
                <a:spcPct val="110000"/>
              </a:lnSpc>
            </a:pPr>
            <a:r>
              <a:rPr lang="en-US" dirty="0"/>
              <a:t>If </a:t>
            </a:r>
            <a:r>
              <a:rPr lang="en-US" dirty="0" err="1"/>
              <a:t>activity_scores</a:t>
            </a:r>
            <a:r>
              <a:rPr lang="en-US" dirty="0"/>
              <a:t> is between 12% and 15% then ‘</a:t>
            </a:r>
            <a:r>
              <a:rPr lang="en-US" dirty="0" err="1"/>
              <a:t>Premium_Customer</a:t>
            </a:r>
            <a:r>
              <a:rPr lang="en-US" dirty="0"/>
              <a:t>’</a:t>
            </a:r>
          </a:p>
          <a:p>
            <a:pPr>
              <a:lnSpc>
                <a:spcPct val="110000"/>
              </a:lnSpc>
            </a:pPr>
            <a:r>
              <a:rPr lang="en-US" dirty="0"/>
              <a:t>If activity score is between 9% and 14% then ‘</a:t>
            </a:r>
            <a:r>
              <a:rPr lang="en-US" dirty="0" err="1"/>
              <a:t>High_Value_Customer</a:t>
            </a:r>
            <a:r>
              <a:rPr lang="en-US" dirty="0"/>
              <a:t>’</a:t>
            </a:r>
          </a:p>
          <a:p>
            <a:pPr>
              <a:lnSpc>
                <a:spcPct val="110000"/>
              </a:lnSpc>
            </a:pPr>
            <a:r>
              <a:rPr lang="en-US" dirty="0"/>
              <a:t>If activity score is between 4% and 9% then ‘Medium’ and less than 4% then it is ‘</a:t>
            </a:r>
            <a:r>
              <a:rPr lang="en-US" dirty="0" err="1"/>
              <a:t>Low_Value_Customer</a:t>
            </a:r>
            <a:r>
              <a:rPr lang="en-US" dirty="0"/>
              <a:t>’</a:t>
            </a:r>
          </a:p>
          <a:p>
            <a:pPr>
              <a:lnSpc>
                <a:spcPct val="110000"/>
              </a:lnSpc>
            </a:pPr>
            <a:r>
              <a:rPr lang="en-IN" dirty="0"/>
              <a:t>Customer are of Medium type contributes the most then low and at least premium value customers.</a:t>
            </a:r>
          </a:p>
        </p:txBody>
      </p:sp>
      <p:pic>
        <p:nvPicPr>
          <p:cNvPr id="5" name="Picture 4">
            <a:extLst>
              <a:ext uri="{FF2B5EF4-FFF2-40B4-BE49-F238E27FC236}">
                <a16:creationId xmlns:a16="http://schemas.microsoft.com/office/drawing/2014/main" id="{40F27371-DA88-0D02-0625-30029A2AA2C6}"/>
              </a:ext>
            </a:extLst>
          </p:cNvPr>
          <p:cNvPicPr>
            <a:picLocks noChangeAspect="1"/>
          </p:cNvPicPr>
          <p:nvPr/>
        </p:nvPicPr>
        <p:blipFill>
          <a:blip r:embed="rId2"/>
          <a:stretch>
            <a:fillRect/>
          </a:stretch>
        </p:blipFill>
        <p:spPr>
          <a:xfrm>
            <a:off x="255713" y="1370600"/>
            <a:ext cx="4748906" cy="3869993"/>
          </a:xfrm>
          <a:prstGeom prst="rect">
            <a:avLst/>
          </a:prstGeom>
          <a:ln>
            <a:solidFill>
              <a:schemeClr val="bg2"/>
            </a:solidFill>
          </a:ln>
        </p:spPr>
      </p:pic>
      <p:sp>
        <p:nvSpPr>
          <p:cNvPr id="6" name="Title 2">
            <a:extLst>
              <a:ext uri="{FF2B5EF4-FFF2-40B4-BE49-F238E27FC236}">
                <a16:creationId xmlns:a16="http://schemas.microsoft.com/office/drawing/2014/main" id="{D67ACB3A-FF47-BDF3-61CC-4AC869E5EC03}"/>
              </a:ext>
            </a:extLst>
          </p:cNvPr>
          <p:cNvSpPr txBox="1">
            <a:spLocks/>
          </p:cNvSpPr>
          <p:nvPr/>
        </p:nvSpPr>
        <p:spPr>
          <a:xfrm>
            <a:off x="0" y="0"/>
            <a:ext cx="12192000" cy="698090"/>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US" sz="3600" dirty="0"/>
              <a:t>Customer Segmentation Based on Activity Scores</a:t>
            </a:r>
            <a:endParaRPr lang="en-IN" sz="3600" kern="0" dirty="0"/>
          </a:p>
        </p:txBody>
      </p:sp>
    </p:spTree>
    <p:extLst>
      <p:ext uri="{BB962C8B-B14F-4D97-AF65-F5344CB8AC3E}">
        <p14:creationId xmlns:p14="http://schemas.microsoft.com/office/powerpoint/2010/main" val="41275232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6BFBCEA-32C3-5670-F7ED-C5A59EBDDB14}"/>
              </a:ext>
            </a:extLst>
          </p:cNvPr>
          <p:cNvSpPr txBox="1">
            <a:spLocks/>
          </p:cNvSpPr>
          <p:nvPr/>
        </p:nvSpPr>
        <p:spPr>
          <a:xfrm>
            <a:off x="0" y="2458065"/>
            <a:ext cx="12192000" cy="865238"/>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US" sz="5400" kern="0" dirty="0"/>
              <a:t>Loan Analysis</a:t>
            </a:r>
            <a:endParaRPr lang="en-IN" sz="5400" kern="0" dirty="0"/>
          </a:p>
        </p:txBody>
      </p:sp>
    </p:spTree>
    <p:extLst>
      <p:ext uri="{BB962C8B-B14F-4D97-AF65-F5344CB8AC3E}">
        <p14:creationId xmlns:p14="http://schemas.microsoft.com/office/powerpoint/2010/main" val="244409673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902C006-8A8E-C45D-4FA1-1D22181F6147}"/>
              </a:ext>
            </a:extLst>
          </p:cNvPr>
          <p:cNvSpPr>
            <a:spLocks noGrp="1"/>
          </p:cNvSpPr>
          <p:nvPr>
            <p:ph type="body" idx="1"/>
          </p:nvPr>
        </p:nvSpPr>
        <p:spPr>
          <a:xfrm>
            <a:off x="6282814" y="1061902"/>
            <a:ext cx="5319252" cy="4734196"/>
          </a:xfrm>
        </p:spPr>
        <p:txBody>
          <a:bodyPr>
            <a:normAutofit lnSpcReduction="10000"/>
          </a:bodyPr>
          <a:lstStyle/>
          <a:p>
            <a:pPr>
              <a:lnSpc>
                <a:spcPct val="100000"/>
              </a:lnSpc>
            </a:pPr>
            <a:r>
              <a:rPr lang="en-US" dirty="0" err="1"/>
              <a:t>Loan_Taken</a:t>
            </a:r>
            <a:r>
              <a:rPr lang="en-US" dirty="0"/>
              <a:t> By Age </a:t>
            </a:r>
            <a:r>
              <a:rPr lang="en-US" dirty="0" err="1"/>
              <a:t>grps</a:t>
            </a:r>
            <a:r>
              <a:rPr lang="en-US" dirty="0"/>
              <a:t> distributed like most loan taken by Adults about 74% .</a:t>
            </a:r>
          </a:p>
          <a:p>
            <a:pPr>
              <a:lnSpc>
                <a:spcPct val="100000"/>
              </a:lnSpc>
            </a:pPr>
            <a:r>
              <a:rPr lang="en-US" dirty="0"/>
              <a:t>Then Senior about 26% of loan and as minor is not eligible to take loan is 0%.</a:t>
            </a:r>
          </a:p>
          <a:p>
            <a:pPr>
              <a:lnSpc>
                <a:spcPct val="100000"/>
              </a:lnSpc>
            </a:pPr>
            <a:r>
              <a:rPr lang="en-US" dirty="0"/>
              <a:t>The adults are more relying on the medium-term loans whose duration is between 36 and 48 months then Long-term loan taken about 2.48%.</a:t>
            </a:r>
          </a:p>
          <a:p>
            <a:pPr>
              <a:lnSpc>
                <a:spcPct val="100000"/>
              </a:lnSpc>
            </a:pPr>
            <a:r>
              <a:rPr lang="en-US" dirty="0"/>
              <a:t>The seniors are relying more on short term loans about 1.64% and then Medium-term loan </a:t>
            </a:r>
          </a:p>
          <a:p>
            <a:pPr>
              <a:lnSpc>
                <a:spcPct val="100000"/>
              </a:lnSpc>
            </a:pPr>
            <a:r>
              <a:rPr lang="en-US" dirty="0"/>
              <a:t>The loan taken by Adults are the most and they are taking Medium term loan the most and then Seniors are taking loan about 26% and they are taking short term loan the most </a:t>
            </a:r>
          </a:p>
        </p:txBody>
      </p:sp>
      <p:pic>
        <p:nvPicPr>
          <p:cNvPr id="5" name="Picture 4" descr="A graph of blue and white bars&#10;&#10;AI-generated content may be incorrect.">
            <a:extLst>
              <a:ext uri="{FF2B5EF4-FFF2-40B4-BE49-F238E27FC236}">
                <a16:creationId xmlns:a16="http://schemas.microsoft.com/office/drawing/2014/main" id="{DFD16030-F657-1017-5F70-87D9292BC310}"/>
              </a:ext>
            </a:extLst>
          </p:cNvPr>
          <p:cNvPicPr>
            <a:picLocks noChangeAspect="1"/>
          </p:cNvPicPr>
          <p:nvPr/>
        </p:nvPicPr>
        <p:blipFill>
          <a:blip r:embed="rId2"/>
          <a:stretch>
            <a:fillRect/>
          </a:stretch>
        </p:blipFill>
        <p:spPr>
          <a:xfrm>
            <a:off x="403197" y="1025094"/>
            <a:ext cx="5800958" cy="2834149"/>
          </a:xfrm>
          <a:prstGeom prst="rect">
            <a:avLst/>
          </a:prstGeom>
          <a:ln>
            <a:solidFill>
              <a:schemeClr val="bg2"/>
            </a:solidFill>
          </a:ln>
        </p:spPr>
      </p:pic>
      <p:pic>
        <p:nvPicPr>
          <p:cNvPr id="7" name="Picture 6" descr="A pie chart with a blue and orange circle&#10;&#10;AI-generated content may be incorrect.">
            <a:extLst>
              <a:ext uri="{FF2B5EF4-FFF2-40B4-BE49-F238E27FC236}">
                <a16:creationId xmlns:a16="http://schemas.microsoft.com/office/drawing/2014/main" id="{9FE015DE-81BF-3454-E2FA-130B6A8AA9CD}"/>
              </a:ext>
            </a:extLst>
          </p:cNvPr>
          <p:cNvPicPr>
            <a:picLocks noChangeAspect="1"/>
          </p:cNvPicPr>
          <p:nvPr/>
        </p:nvPicPr>
        <p:blipFill>
          <a:blip r:embed="rId3"/>
          <a:stretch>
            <a:fillRect/>
          </a:stretch>
        </p:blipFill>
        <p:spPr>
          <a:xfrm>
            <a:off x="403197" y="4058428"/>
            <a:ext cx="5800959" cy="2116230"/>
          </a:xfrm>
          <a:prstGeom prst="rect">
            <a:avLst/>
          </a:prstGeom>
          <a:ln>
            <a:solidFill>
              <a:schemeClr val="bg2"/>
            </a:solidFill>
          </a:ln>
        </p:spPr>
      </p:pic>
      <p:sp>
        <p:nvSpPr>
          <p:cNvPr id="10" name="Title 2">
            <a:extLst>
              <a:ext uri="{FF2B5EF4-FFF2-40B4-BE49-F238E27FC236}">
                <a16:creationId xmlns:a16="http://schemas.microsoft.com/office/drawing/2014/main" id="{928DD76A-AF4D-E54E-7729-26C2E3ED8D1F}"/>
              </a:ext>
            </a:extLst>
          </p:cNvPr>
          <p:cNvSpPr txBox="1">
            <a:spLocks/>
          </p:cNvSpPr>
          <p:nvPr/>
        </p:nvSpPr>
        <p:spPr>
          <a:xfrm>
            <a:off x="0" y="0"/>
            <a:ext cx="12192000" cy="698090"/>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US" sz="3600" dirty="0"/>
              <a:t>Loan Distribution Across Age Groups and Loan Types</a:t>
            </a:r>
            <a:endParaRPr lang="en-IN" sz="3600" kern="0" dirty="0"/>
          </a:p>
        </p:txBody>
      </p:sp>
    </p:spTree>
    <p:extLst>
      <p:ext uri="{BB962C8B-B14F-4D97-AF65-F5344CB8AC3E}">
        <p14:creationId xmlns:p14="http://schemas.microsoft.com/office/powerpoint/2010/main" val="19094608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E8FB157-39DE-D0DD-DC99-E35C8998B6E6}"/>
              </a:ext>
            </a:extLst>
          </p:cNvPr>
          <p:cNvSpPr>
            <a:spLocks noGrp="1"/>
          </p:cNvSpPr>
          <p:nvPr>
            <p:ph type="body" idx="1"/>
          </p:nvPr>
        </p:nvSpPr>
        <p:spPr>
          <a:xfrm>
            <a:off x="6400800" y="1415845"/>
            <a:ext cx="4952999" cy="4563200"/>
          </a:xfrm>
        </p:spPr>
        <p:txBody>
          <a:bodyPr/>
          <a:lstStyle/>
          <a:p>
            <a:pPr>
              <a:lnSpc>
                <a:spcPct val="100000"/>
              </a:lnSpc>
            </a:pPr>
            <a:r>
              <a:rPr lang="en-US" dirty="0"/>
              <a:t>Loan repayment status the status are being classified into A,B,C,D</a:t>
            </a:r>
          </a:p>
          <a:p>
            <a:pPr>
              <a:lnSpc>
                <a:spcPct val="100000"/>
              </a:lnSpc>
            </a:pPr>
            <a:r>
              <a:rPr lang="en-US" dirty="0"/>
              <a:t>In which A – ‘No Delays’  , B – ‘Mild Delays’ ,C – ‘High Delays’ , D – ‘Bad Debts’.</a:t>
            </a:r>
          </a:p>
          <a:p>
            <a:pPr>
              <a:lnSpc>
                <a:spcPct val="100000"/>
              </a:lnSpc>
            </a:pPr>
            <a:r>
              <a:rPr lang="en-US" dirty="0"/>
              <a:t>For both classes of senior and adult the repayment status is C which means there is a High Delays .</a:t>
            </a:r>
          </a:p>
          <a:p>
            <a:pPr>
              <a:lnSpc>
                <a:spcPct val="100000"/>
              </a:lnSpc>
            </a:pPr>
            <a:r>
              <a:rPr lang="en-US" dirty="0"/>
              <a:t>For repayment status both classes actually performing same as in both c status are most contributed then the A status .</a:t>
            </a:r>
          </a:p>
        </p:txBody>
      </p:sp>
      <p:pic>
        <p:nvPicPr>
          <p:cNvPr id="5" name="Picture 4">
            <a:extLst>
              <a:ext uri="{FF2B5EF4-FFF2-40B4-BE49-F238E27FC236}">
                <a16:creationId xmlns:a16="http://schemas.microsoft.com/office/drawing/2014/main" id="{BCD1E057-54DC-2E57-EBFC-7CB2E5D10D55}"/>
              </a:ext>
            </a:extLst>
          </p:cNvPr>
          <p:cNvPicPr>
            <a:picLocks noChangeAspect="1"/>
          </p:cNvPicPr>
          <p:nvPr/>
        </p:nvPicPr>
        <p:blipFill>
          <a:blip r:embed="rId2"/>
          <a:stretch>
            <a:fillRect/>
          </a:stretch>
        </p:blipFill>
        <p:spPr>
          <a:xfrm>
            <a:off x="403197" y="1536403"/>
            <a:ext cx="5687219" cy="3664861"/>
          </a:xfrm>
          <a:prstGeom prst="rect">
            <a:avLst/>
          </a:prstGeom>
          <a:ln>
            <a:solidFill>
              <a:schemeClr val="bg2"/>
            </a:solidFill>
          </a:ln>
        </p:spPr>
      </p:pic>
      <p:sp>
        <p:nvSpPr>
          <p:cNvPr id="6" name="Title 2">
            <a:extLst>
              <a:ext uri="{FF2B5EF4-FFF2-40B4-BE49-F238E27FC236}">
                <a16:creationId xmlns:a16="http://schemas.microsoft.com/office/drawing/2014/main" id="{04F98028-D150-78EF-67FF-E60A85F14D66}"/>
              </a:ext>
            </a:extLst>
          </p:cNvPr>
          <p:cNvSpPr txBox="1">
            <a:spLocks/>
          </p:cNvSpPr>
          <p:nvPr/>
        </p:nvSpPr>
        <p:spPr>
          <a:xfrm>
            <a:off x="0" y="0"/>
            <a:ext cx="12192000" cy="698090"/>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US" sz="3600" dirty="0"/>
              <a:t>Loan Repayment Status Across Age Groups</a:t>
            </a:r>
            <a:endParaRPr lang="en-IN" sz="3600" kern="0" dirty="0"/>
          </a:p>
        </p:txBody>
      </p:sp>
    </p:spTree>
    <p:extLst>
      <p:ext uri="{BB962C8B-B14F-4D97-AF65-F5344CB8AC3E}">
        <p14:creationId xmlns:p14="http://schemas.microsoft.com/office/powerpoint/2010/main" val="33008352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CCE44E8-8C6F-FB0E-9251-B5FDB60DEE50}"/>
              </a:ext>
            </a:extLst>
          </p:cNvPr>
          <p:cNvSpPr>
            <a:spLocks noGrp="1"/>
          </p:cNvSpPr>
          <p:nvPr>
            <p:ph type="body" idx="1"/>
          </p:nvPr>
        </p:nvSpPr>
        <p:spPr>
          <a:xfrm>
            <a:off x="5850194" y="1860653"/>
            <a:ext cx="5503606" cy="3955636"/>
          </a:xfrm>
        </p:spPr>
        <p:txBody>
          <a:bodyPr/>
          <a:lstStyle/>
          <a:p>
            <a:r>
              <a:rPr lang="en-US" dirty="0"/>
              <a:t>These are the Top 5 Districts who have given the loan most </a:t>
            </a:r>
          </a:p>
          <a:p>
            <a:r>
              <a:rPr lang="en-US" dirty="0"/>
              <a:t>To find out what was the reason behind the loan is given to these district are most is :</a:t>
            </a:r>
          </a:p>
          <a:p>
            <a:r>
              <a:rPr lang="en-US" dirty="0"/>
              <a:t>These Top 5 districts Avg population , Avg salary ,Avg Ratio of Urban Population is greater than the avg population Avg salary ,Avg Ratio of Urban Population  of the whole district dataset respectively .</a:t>
            </a:r>
          </a:p>
        </p:txBody>
      </p:sp>
      <p:pic>
        <p:nvPicPr>
          <p:cNvPr id="5" name="Picture 4">
            <a:extLst>
              <a:ext uri="{FF2B5EF4-FFF2-40B4-BE49-F238E27FC236}">
                <a16:creationId xmlns:a16="http://schemas.microsoft.com/office/drawing/2014/main" id="{CB093CF8-634F-8B7C-1299-605A583283E7}"/>
              </a:ext>
            </a:extLst>
          </p:cNvPr>
          <p:cNvPicPr>
            <a:picLocks noChangeAspect="1"/>
          </p:cNvPicPr>
          <p:nvPr/>
        </p:nvPicPr>
        <p:blipFill>
          <a:blip r:embed="rId2"/>
          <a:stretch>
            <a:fillRect/>
          </a:stretch>
        </p:blipFill>
        <p:spPr>
          <a:xfrm>
            <a:off x="314707" y="1860653"/>
            <a:ext cx="5219332" cy="3537258"/>
          </a:xfrm>
          <a:prstGeom prst="rect">
            <a:avLst/>
          </a:prstGeom>
        </p:spPr>
      </p:pic>
      <p:sp>
        <p:nvSpPr>
          <p:cNvPr id="6" name="Title 2">
            <a:extLst>
              <a:ext uri="{FF2B5EF4-FFF2-40B4-BE49-F238E27FC236}">
                <a16:creationId xmlns:a16="http://schemas.microsoft.com/office/drawing/2014/main" id="{EA0B6FE0-D0F6-F3B2-D2AA-AF44B913DCBE}"/>
              </a:ext>
            </a:extLst>
          </p:cNvPr>
          <p:cNvSpPr txBox="1">
            <a:spLocks/>
          </p:cNvSpPr>
          <p:nvPr/>
        </p:nvSpPr>
        <p:spPr>
          <a:xfrm>
            <a:off x="0" y="0"/>
            <a:ext cx="12192000" cy="776748"/>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IN" sz="3600" dirty="0"/>
              <a:t>Loan Distribution by District</a:t>
            </a:r>
            <a:endParaRPr lang="en-IN" sz="3600" kern="0" dirty="0"/>
          </a:p>
        </p:txBody>
      </p:sp>
    </p:spTree>
    <p:extLst>
      <p:ext uri="{BB962C8B-B14F-4D97-AF65-F5344CB8AC3E}">
        <p14:creationId xmlns:p14="http://schemas.microsoft.com/office/powerpoint/2010/main" val="32824707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0EBA3FA7-0563-9EE5-FC6A-94E1D3319DEE}"/>
              </a:ext>
            </a:extLst>
          </p:cNvPr>
          <p:cNvSpPr txBox="1">
            <a:spLocks/>
          </p:cNvSpPr>
          <p:nvPr/>
        </p:nvSpPr>
        <p:spPr>
          <a:xfrm>
            <a:off x="0" y="1976284"/>
            <a:ext cx="12192000" cy="1917290"/>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US" sz="5400" kern="0" dirty="0"/>
              <a:t>Business Problems &amp; Recommendations</a:t>
            </a:r>
            <a:endParaRPr lang="en-IN" sz="5400" kern="0" dirty="0"/>
          </a:p>
        </p:txBody>
      </p:sp>
    </p:spTree>
    <p:extLst>
      <p:ext uri="{BB962C8B-B14F-4D97-AF65-F5344CB8AC3E}">
        <p14:creationId xmlns:p14="http://schemas.microsoft.com/office/powerpoint/2010/main" val="1972463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A518DBD-FF3B-F47C-A40A-C78627E167E1}"/>
              </a:ext>
            </a:extLst>
          </p:cNvPr>
          <p:cNvSpPr>
            <a:spLocks noGrp="1"/>
          </p:cNvSpPr>
          <p:nvPr>
            <p:ph type="body" idx="1"/>
          </p:nvPr>
        </p:nvSpPr>
        <p:spPr>
          <a:xfrm>
            <a:off x="353961" y="894735"/>
            <a:ext cx="11425084" cy="5171768"/>
          </a:xfrm>
        </p:spPr>
        <p:txBody>
          <a:bodyPr>
            <a:normAutofit lnSpcReduction="10000"/>
          </a:bodyPr>
          <a:lstStyle/>
          <a:p>
            <a:pPr marL="186262" indent="0">
              <a:buNone/>
            </a:pPr>
            <a:r>
              <a:rPr lang="en-US" dirty="0"/>
              <a:t>1) Mis-classified Transaction data :</a:t>
            </a:r>
          </a:p>
          <a:p>
            <a:pPr marL="186262" indent="0">
              <a:buNone/>
            </a:pPr>
            <a:r>
              <a:rPr lang="en-US" dirty="0"/>
              <a:t>In Transaction Data the transaction Type is classified into 3  – Income ,Expense ,Withdrawals </a:t>
            </a:r>
          </a:p>
          <a:p>
            <a:pPr marL="186262" indent="0">
              <a:buNone/>
            </a:pPr>
            <a:r>
              <a:rPr lang="en-US" dirty="0"/>
              <a:t>Under Expense there are transaction of withdrawals as well there is separate withdrawal type which can be misclassified  the banks need to recode them to avoid these types of confusions in analyzing and  reporting.</a:t>
            </a:r>
          </a:p>
          <a:p>
            <a:pPr marL="186262" indent="0">
              <a:buNone/>
            </a:pPr>
            <a:r>
              <a:rPr lang="en-US" dirty="0"/>
              <a:t>Recommendation :</a:t>
            </a:r>
          </a:p>
          <a:p>
            <a:r>
              <a:rPr lang="en-US" b="1" dirty="0"/>
              <a:t>Automated checks:</a:t>
            </a:r>
            <a:endParaRPr lang="en-US" dirty="0"/>
          </a:p>
          <a:p>
            <a:r>
              <a:rPr lang="en-US" dirty="0"/>
              <a:t>Flag any new transaction with missing </a:t>
            </a:r>
            <a:r>
              <a:rPr lang="en-US" dirty="0" err="1"/>
              <a:t>k_symbol</a:t>
            </a:r>
            <a:r>
              <a:rPr lang="en-US" dirty="0"/>
              <a:t> for review before it enters the reporting system.</a:t>
            </a:r>
          </a:p>
          <a:p>
            <a:pPr marL="186262" indent="0">
              <a:buNone/>
            </a:pPr>
            <a:endParaRPr lang="en-US" dirty="0"/>
          </a:p>
          <a:p>
            <a:pPr marL="186262" indent="0">
              <a:buNone/>
            </a:pPr>
            <a:r>
              <a:rPr lang="en-US" dirty="0"/>
              <a:t>2) Missing Data :</a:t>
            </a:r>
          </a:p>
          <a:p>
            <a:pPr marL="186262" indent="0">
              <a:buNone/>
            </a:pPr>
            <a:r>
              <a:rPr lang="en-US" dirty="0"/>
              <a:t>Under Income as Well expense type the k-symbols of them are none which means that banks are not keeping details of the reason of records which can leads to confusion in interpretation.</a:t>
            </a:r>
          </a:p>
          <a:p>
            <a:pPr marL="186262" indent="0">
              <a:buNone/>
            </a:pPr>
            <a:r>
              <a:rPr lang="en-US" dirty="0"/>
              <a:t>Recommendation - For </a:t>
            </a:r>
            <a:r>
              <a:rPr lang="en-US" b="1" dirty="0"/>
              <a:t>accurate reporting</a:t>
            </a:r>
            <a:r>
              <a:rPr lang="en-US" dirty="0"/>
              <a:t>, the bank should </a:t>
            </a:r>
            <a:r>
              <a:rPr lang="en-US" b="1" dirty="0"/>
              <a:t>recode or consolidate transactions</a:t>
            </a:r>
            <a:r>
              <a:rPr lang="en-US" dirty="0"/>
              <a:t>:</a:t>
            </a:r>
          </a:p>
          <a:p>
            <a:r>
              <a:rPr lang="en-US" dirty="0"/>
              <a:t>True withdrawals should only appear in </a:t>
            </a:r>
            <a:r>
              <a:rPr lang="en-US" b="1" dirty="0"/>
              <a:t>Withdrawals</a:t>
            </a:r>
            <a:r>
              <a:rPr lang="en-US" dirty="0"/>
              <a:t>.</a:t>
            </a:r>
          </a:p>
          <a:p>
            <a:r>
              <a:rPr lang="en-US" dirty="0"/>
              <a:t>Other spending (payments, bills) should stay under </a:t>
            </a:r>
            <a:r>
              <a:rPr lang="en-US" b="1" dirty="0"/>
              <a:t>Expense</a:t>
            </a:r>
            <a:r>
              <a:rPr lang="en-US" dirty="0"/>
              <a:t>.</a:t>
            </a:r>
          </a:p>
          <a:p>
            <a:pPr marL="186262" indent="0">
              <a:buNone/>
            </a:pPr>
            <a:endParaRPr lang="en-US" dirty="0"/>
          </a:p>
          <a:p>
            <a:pPr marL="186262" indent="0">
              <a:buNone/>
            </a:pPr>
            <a:endParaRPr lang="en-US" dirty="0"/>
          </a:p>
          <a:p>
            <a:pPr marL="186262" indent="0">
              <a:buNone/>
            </a:pPr>
            <a:endParaRPr lang="en-IN" dirty="0"/>
          </a:p>
        </p:txBody>
      </p:sp>
      <p:sp>
        <p:nvSpPr>
          <p:cNvPr id="4" name="Title 2">
            <a:extLst>
              <a:ext uri="{FF2B5EF4-FFF2-40B4-BE49-F238E27FC236}">
                <a16:creationId xmlns:a16="http://schemas.microsoft.com/office/drawing/2014/main" id="{4E19B7F2-5535-27C7-88D1-4B39B287D535}"/>
              </a:ext>
            </a:extLst>
          </p:cNvPr>
          <p:cNvSpPr txBox="1">
            <a:spLocks/>
          </p:cNvSpPr>
          <p:nvPr/>
        </p:nvSpPr>
        <p:spPr>
          <a:xfrm>
            <a:off x="0" y="0"/>
            <a:ext cx="12192000" cy="776748"/>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US" sz="3600" kern="0" dirty="0"/>
              <a:t>Business Problems </a:t>
            </a:r>
            <a:endParaRPr lang="en-IN" sz="3600" kern="0" dirty="0"/>
          </a:p>
        </p:txBody>
      </p:sp>
    </p:spTree>
    <p:extLst>
      <p:ext uri="{BB962C8B-B14F-4D97-AF65-F5344CB8AC3E}">
        <p14:creationId xmlns:p14="http://schemas.microsoft.com/office/powerpoint/2010/main" val="4602719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CA4EAA-7E4A-C770-DFA8-43074F4BA5AF}"/>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7AC903A-B58A-70A9-A38D-5748185CD8FD}"/>
              </a:ext>
            </a:extLst>
          </p:cNvPr>
          <p:cNvSpPr>
            <a:spLocks noGrp="1"/>
          </p:cNvSpPr>
          <p:nvPr>
            <p:ph type="body" idx="1"/>
          </p:nvPr>
        </p:nvSpPr>
        <p:spPr>
          <a:xfrm>
            <a:off x="6204154" y="953729"/>
            <a:ext cx="5801033" cy="5112774"/>
          </a:xfrm>
        </p:spPr>
        <p:txBody>
          <a:bodyPr>
            <a:normAutofit fontScale="92500" lnSpcReduction="20000"/>
          </a:bodyPr>
          <a:lstStyle/>
          <a:p>
            <a:pPr marL="186262" indent="0">
              <a:buNone/>
            </a:pPr>
            <a:r>
              <a:rPr lang="en-US" dirty="0"/>
              <a:t>3) Suspicious /High Value Transactions</a:t>
            </a:r>
          </a:p>
          <a:p>
            <a:r>
              <a:rPr lang="en-US" dirty="0"/>
              <a:t>Transactions are considered suspicious when the transaction amount is unusually high, defined as amounts above the 99th percentile (0.99 quantile).</a:t>
            </a:r>
          </a:p>
          <a:p>
            <a:r>
              <a:rPr lang="en-US" dirty="0"/>
              <a:t>To identify genuine suspicious activity, additional conditions were applied:</a:t>
            </a:r>
          </a:p>
          <a:p>
            <a:r>
              <a:rPr lang="en-US" dirty="0"/>
              <a:t>High transaction amount</a:t>
            </a:r>
          </a:p>
          <a:p>
            <a:r>
              <a:rPr lang="en-US" dirty="0"/>
              <a:t>High frequency of transactions (more than 200)</a:t>
            </a:r>
          </a:p>
          <a:p>
            <a:r>
              <a:rPr lang="en-US" dirty="0"/>
              <a:t>Occurring within a short time period, categorized by month and year</a:t>
            </a:r>
          </a:p>
          <a:p>
            <a:r>
              <a:rPr lang="en-US" dirty="0"/>
              <a:t>Based on these criteria:</a:t>
            </a:r>
          </a:p>
          <a:p>
            <a:r>
              <a:rPr lang="en-US" dirty="0"/>
              <a:t>21 transactions were identified as suspicious/high-risk transactions</a:t>
            </a:r>
          </a:p>
          <a:p>
            <a:r>
              <a:rPr lang="en-US" dirty="0"/>
              <a:t>The highest number of such transactions occurred in January and November</a:t>
            </a:r>
          </a:p>
          <a:p>
            <a:r>
              <a:rPr lang="en-US" dirty="0"/>
              <a:t>The lowest occurrence was observed in December</a:t>
            </a:r>
          </a:p>
          <a:p>
            <a:r>
              <a:rPr lang="en-US" dirty="0"/>
              <a:t>Recommendation – To put high alerts if the transaction not come under above condition to control fraudulent transactions</a:t>
            </a:r>
          </a:p>
          <a:p>
            <a:endParaRPr lang="en-US" dirty="0"/>
          </a:p>
          <a:p>
            <a:pPr marL="186262" indent="0">
              <a:buNone/>
            </a:pPr>
            <a:endParaRPr lang="en-US" dirty="0"/>
          </a:p>
          <a:p>
            <a:pPr marL="186262" indent="0">
              <a:buNone/>
            </a:pPr>
            <a:endParaRPr lang="en-US" dirty="0"/>
          </a:p>
          <a:p>
            <a:pPr marL="186262" indent="0">
              <a:buNone/>
            </a:pPr>
            <a:endParaRPr lang="en-IN" dirty="0"/>
          </a:p>
        </p:txBody>
      </p:sp>
      <p:sp>
        <p:nvSpPr>
          <p:cNvPr id="4" name="Title 2">
            <a:extLst>
              <a:ext uri="{FF2B5EF4-FFF2-40B4-BE49-F238E27FC236}">
                <a16:creationId xmlns:a16="http://schemas.microsoft.com/office/drawing/2014/main" id="{74AC3703-1275-BA88-0300-397D8AC9CF8C}"/>
              </a:ext>
            </a:extLst>
          </p:cNvPr>
          <p:cNvSpPr txBox="1">
            <a:spLocks/>
          </p:cNvSpPr>
          <p:nvPr/>
        </p:nvSpPr>
        <p:spPr>
          <a:xfrm>
            <a:off x="0" y="0"/>
            <a:ext cx="12192000" cy="776748"/>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US" sz="3600" kern="0" dirty="0"/>
              <a:t>Business Problems </a:t>
            </a:r>
            <a:endParaRPr lang="en-IN" sz="3600" kern="0" dirty="0"/>
          </a:p>
        </p:txBody>
      </p:sp>
      <p:pic>
        <p:nvPicPr>
          <p:cNvPr id="5" name="Picture 4">
            <a:extLst>
              <a:ext uri="{FF2B5EF4-FFF2-40B4-BE49-F238E27FC236}">
                <a16:creationId xmlns:a16="http://schemas.microsoft.com/office/drawing/2014/main" id="{2AD57DF2-8F78-BA2A-8504-3C1761BB3A03}"/>
              </a:ext>
            </a:extLst>
          </p:cNvPr>
          <p:cNvPicPr>
            <a:picLocks noChangeAspect="1"/>
          </p:cNvPicPr>
          <p:nvPr/>
        </p:nvPicPr>
        <p:blipFill>
          <a:blip r:embed="rId2"/>
          <a:stretch>
            <a:fillRect/>
          </a:stretch>
        </p:blipFill>
        <p:spPr>
          <a:xfrm>
            <a:off x="70721" y="953729"/>
            <a:ext cx="6133433" cy="4660490"/>
          </a:xfrm>
          <a:prstGeom prst="rect">
            <a:avLst/>
          </a:prstGeom>
        </p:spPr>
      </p:pic>
    </p:spTree>
    <p:extLst>
      <p:ext uri="{BB962C8B-B14F-4D97-AF65-F5344CB8AC3E}">
        <p14:creationId xmlns:p14="http://schemas.microsoft.com/office/powerpoint/2010/main" val="33860404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4C55FF-A4F9-3D49-CE9B-52F82D88EFC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323F15D8-DE42-AC66-B8D5-6A12DB076D6F}"/>
              </a:ext>
            </a:extLst>
          </p:cNvPr>
          <p:cNvSpPr>
            <a:spLocks noGrp="1"/>
          </p:cNvSpPr>
          <p:nvPr>
            <p:ph type="body" idx="1"/>
          </p:nvPr>
        </p:nvSpPr>
        <p:spPr>
          <a:xfrm>
            <a:off x="353961" y="894735"/>
            <a:ext cx="11425084" cy="5171768"/>
          </a:xfrm>
        </p:spPr>
        <p:txBody>
          <a:bodyPr>
            <a:normAutofit/>
          </a:bodyPr>
          <a:lstStyle/>
          <a:p>
            <a:pPr marL="186262" indent="0">
              <a:buNone/>
            </a:pPr>
            <a:endParaRPr lang="en-US" dirty="0"/>
          </a:p>
          <a:p>
            <a:pPr marL="186262" indent="0">
              <a:buNone/>
            </a:pPr>
            <a:endParaRPr lang="en-IN" dirty="0"/>
          </a:p>
        </p:txBody>
      </p:sp>
      <p:sp>
        <p:nvSpPr>
          <p:cNvPr id="4" name="Title 2">
            <a:extLst>
              <a:ext uri="{FF2B5EF4-FFF2-40B4-BE49-F238E27FC236}">
                <a16:creationId xmlns:a16="http://schemas.microsoft.com/office/drawing/2014/main" id="{45F5579A-2941-7F4F-E42E-31911CB43C73}"/>
              </a:ext>
            </a:extLst>
          </p:cNvPr>
          <p:cNvSpPr txBox="1">
            <a:spLocks/>
          </p:cNvSpPr>
          <p:nvPr/>
        </p:nvSpPr>
        <p:spPr>
          <a:xfrm>
            <a:off x="0" y="0"/>
            <a:ext cx="12192000" cy="776748"/>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US" sz="3600" kern="0" dirty="0"/>
              <a:t>Business Problems </a:t>
            </a:r>
            <a:endParaRPr lang="en-IN" sz="3600" kern="0" dirty="0"/>
          </a:p>
        </p:txBody>
      </p:sp>
      <p:pic>
        <p:nvPicPr>
          <p:cNvPr id="5" name="Picture 4">
            <a:extLst>
              <a:ext uri="{FF2B5EF4-FFF2-40B4-BE49-F238E27FC236}">
                <a16:creationId xmlns:a16="http://schemas.microsoft.com/office/drawing/2014/main" id="{065EE823-DEEB-4D78-5556-0ADE0F16792C}"/>
              </a:ext>
            </a:extLst>
          </p:cNvPr>
          <p:cNvPicPr>
            <a:picLocks noChangeAspect="1"/>
          </p:cNvPicPr>
          <p:nvPr/>
        </p:nvPicPr>
        <p:blipFill>
          <a:blip r:embed="rId2"/>
          <a:stretch>
            <a:fillRect/>
          </a:stretch>
        </p:blipFill>
        <p:spPr>
          <a:xfrm>
            <a:off x="412955" y="791497"/>
            <a:ext cx="4866968" cy="2728451"/>
          </a:xfrm>
          <a:prstGeom prst="rect">
            <a:avLst/>
          </a:prstGeom>
          <a:ln w="12700">
            <a:solidFill>
              <a:schemeClr val="bg2"/>
            </a:solidFill>
          </a:ln>
        </p:spPr>
      </p:pic>
      <p:pic>
        <p:nvPicPr>
          <p:cNvPr id="7" name="Picture 6">
            <a:extLst>
              <a:ext uri="{FF2B5EF4-FFF2-40B4-BE49-F238E27FC236}">
                <a16:creationId xmlns:a16="http://schemas.microsoft.com/office/drawing/2014/main" id="{88558EC4-5E0E-2220-0AF5-F0DEE382F613}"/>
              </a:ext>
            </a:extLst>
          </p:cNvPr>
          <p:cNvPicPr>
            <a:picLocks noChangeAspect="1"/>
          </p:cNvPicPr>
          <p:nvPr/>
        </p:nvPicPr>
        <p:blipFill>
          <a:blip r:embed="rId3"/>
          <a:stretch>
            <a:fillRect/>
          </a:stretch>
        </p:blipFill>
        <p:spPr>
          <a:xfrm>
            <a:off x="412955" y="3534697"/>
            <a:ext cx="4866968" cy="2728451"/>
          </a:xfrm>
          <a:prstGeom prst="rect">
            <a:avLst/>
          </a:prstGeom>
          <a:ln w="12700">
            <a:solidFill>
              <a:schemeClr val="bg2"/>
            </a:solidFill>
          </a:ln>
        </p:spPr>
      </p:pic>
      <p:sp>
        <p:nvSpPr>
          <p:cNvPr id="8" name="TextBox 7">
            <a:extLst>
              <a:ext uri="{FF2B5EF4-FFF2-40B4-BE49-F238E27FC236}">
                <a16:creationId xmlns:a16="http://schemas.microsoft.com/office/drawing/2014/main" id="{B25616D7-CD7E-6D7D-7079-7B93F5CA583C}"/>
              </a:ext>
            </a:extLst>
          </p:cNvPr>
          <p:cNvSpPr txBox="1"/>
          <p:nvPr/>
        </p:nvSpPr>
        <p:spPr>
          <a:xfrm>
            <a:off x="5909187" y="894735"/>
            <a:ext cx="5801032" cy="369332"/>
          </a:xfrm>
          <a:prstGeom prst="rect">
            <a:avLst/>
          </a:prstGeom>
          <a:noFill/>
        </p:spPr>
        <p:txBody>
          <a:bodyPr wrap="square" rtlCol="0">
            <a:spAutoFit/>
          </a:bodyPr>
          <a:lstStyle/>
          <a:p>
            <a:r>
              <a:rPr lang="en-US" dirty="0"/>
              <a:t> </a:t>
            </a:r>
            <a:endParaRPr lang="en-IN" dirty="0"/>
          </a:p>
        </p:txBody>
      </p:sp>
      <p:sp>
        <p:nvSpPr>
          <p:cNvPr id="12" name="Text Placeholder 1">
            <a:extLst>
              <a:ext uri="{FF2B5EF4-FFF2-40B4-BE49-F238E27FC236}">
                <a16:creationId xmlns:a16="http://schemas.microsoft.com/office/drawing/2014/main" id="{CDA19900-F903-DC58-60A9-21A45949FB4F}"/>
              </a:ext>
            </a:extLst>
          </p:cNvPr>
          <p:cNvSpPr txBox="1">
            <a:spLocks/>
          </p:cNvSpPr>
          <p:nvPr/>
        </p:nvSpPr>
        <p:spPr>
          <a:xfrm>
            <a:off x="5801032" y="953729"/>
            <a:ext cx="6204155" cy="5112774"/>
          </a:xfrm>
          <a:prstGeom prst="rect">
            <a:avLst/>
          </a:prstGeom>
          <a:noFill/>
          <a:ln>
            <a:noFill/>
          </a:ln>
        </p:spPr>
        <p:txBody>
          <a:bodyPr spcFirstLastPara="1" wrap="square" lIns="68575" tIns="34275" rIns="68575" bIns="34275" anchor="t" anchorCtr="0">
            <a:normAutofit/>
          </a:bodyPr>
          <a:lstStyle>
            <a:defPPr marR="0" lvl="0" algn="l" rtl="0">
              <a:lnSpc>
                <a:spcPct val="100000"/>
              </a:lnSpc>
              <a:spcBef>
                <a:spcPts val="0"/>
              </a:spcBef>
              <a:spcAft>
                <a:spcPts val="0"/>
              </a:spcAft>
            </a:defPPr>
            <a:lvl1pPr marL="609585" marR="0" lvl="0" indent="-423323" algn="l" rtl="0" eaLnBrk="1" hangingPunct="1">
              <a:lnSpc>
                <a:spcPct val="90000"/>
              </a:lnSpc>
              <a:spcBef>
                <a:spcPts val="1067"/>
              </a:spcBef>
              <a:spcAft>
                <a:spcPts val="0"/>
              </a:spcAft>
              <a:buClr>
                <a:schemeClr val="dk1"/>
              </a:buClr>
              <a:buSzPts val="1400"/>
              <a:buFont typeface="Arial"/>
              <a:buChar char="•"/>
              <a:defRPr sz="1867" b="0" i="0" u="none" strike="noStrike" cap="none">
                <a:solidFill>
                  <a:srgbClr val="000000"/>
                </a:solidFill>
                <a:latin typeface="Calibri" panose="020F0502020204030204" pitchFamily="34" charset="0"/>
                <a:ea typeface="Raleway" pitchFamily="2" charset="0"/>
                <a:cs typeface="Calibri" panose="020F0502020204030204" pitchFamily="34" charset="0"/>
                <a:sym typeface="Arial"/>
              </a:defRPr>
            </a:lvl1pPr>
            <a:lvl2pPr marL="1219170" marR="0" lvl="1" indent="-423323" algn="l" rtl="0" eaLnBrk="1" hangingPunct="1">
              <a:lnSpc>
                <a:spcPct val="90000"/>
              </a:lnSpc>
              <a:spcBef>
                <a:spcPts val="533"/>
              </a:spcBef>
              <a:spcAft>
                <a:spcPts val="0"/>
              </a:spcAft>
              <a:buClr>
                <a:schemeClr val="dk1"/>
              </a:buClr>
              <a:buSzPts val="1400"/>
              <a:buFont typeface="Arial"/>
              <a:buChar char="•"/>
              <a:defRPr sz="1867" b="0" i="0" u="none" strike="noStrike" cap="none">
                <a:solidFill>
                  <a:srgbClr val="000000"/>
                </a:solidFill>
                <a:latin typeface="Arial"/>
                <a:ea typeface="Arial"/>
                <a:cs typeface="Arial"/>
                <a:sym typeface="Arial"/>
              </a:defRPr>
            </a:lvl2pPr>
            <a:lvl3pPr marL="1828754" marR="0" lvl="2" indent="-423323" algn="l" rtl="0" eaLnBrk="1" hangingPunct="1">
              <a:lnSpc>
                <a:spcPct val="90000"/>
              </a:lnSpc>
              <a:spcBef>
                <a:spcPts val="533"/>
              </a:spcBef>
              <a:spcAft>
                <a:spcPts val="0"/>
              </a:spcAft>
              <a:buClr>
                <a:schemeClr val="dk1"/>
              </a:buClr>
              <a:buSzPts val="1400"/>
              <a:buFont typeface="Arial"/>
              <a:buChar char="•"/>
              <a:defRPr sz="1867" b="0" i="0" u="none" strike="noStrike" cap="none">
                <a:solidFill>
                  <a:srgbClr val="000000"/>
                </a:solidFill>
                <a:latin typeface="Arial"/>
                <a:ea typeface="Arial"/>
                <a:cs typeface="Arial"/>
                <a:sym typeface="Arial"/>
              </a:defRPr>
            </a:lvl3pPr>
            <a:lvl4pPr marL="2438339" marR="0" lvl="3" indent="-423323" algn="l" rtl="0" eaLnBrk="1" hangingPunct="1">
              <a:lnSpc>
                <a:spcPct val="90000"/>
              </a:lnSpc>
              <a:spcBef>
                <a:spcPts val="533"/>
              </a:spcBef>
              <a:spcAft>
                <a:spcPts val="0"/>
              </a:spcAft>
              <a:buClr>
                <a:schemeClr val="dk1"/>
              </a:buClr>
              <a:buSzPts val="1400"/>
              <a:buFont typeface="Arial"/>
              <a:buChar char="•"/>
              <a:defRPr sz="1867" b="0" i="0" u="none" strike="noStrike" cap="none">
                <a:solidFill>
                  <a:srgbClr val="000000"/>
                </a:solidFill>
                <a:latin typeface="Arial"/>
                <a:ea typeface="Arial"/>
                <a:cs typeface="Arial"/>
                <a:sym typeface="Arial"/>
              </a:defRPr>
            </a:lvl4pPr>
            <a:lvl5pPr marL="3047924" marR="0" lvl="4" indent="-423323" algn="l" rtl="0" eaLnBrk="1" hangingPunct="1">
              <a:lnSpc>
                <a:spcPct val="90000"/>
              </a:lnSpc>
              <a:spcBef>
                <a:spcPts val="533"/>
              </a:spcBef>
              <a:spcAft>
                <a:spcPts val="0"/>
              </a:spcAft>
              <a:buClr>
                <a:schemeClr val="dk1"/>
              </a:buClr>
              <a:buSzPts val="1400"/>
              <a:buFont typeface="Arial"/>
              <a:buChar char="•"/>
              <a:defRPr sz="1867" b="0" i="0" u="none" strike="noStrike" cap="none">
                <a:solidFill>
                  <a:srgbClr val="000000"/>
                </a:solidFill>
                <a:latin typeface="Arial"/>
                <a:ea typeface="Arial"/>
                <a:cs typeface="Arial"/>
                <a:sym typeface="Arial"/>
              </a:defRPr>
            </a:lvl5pPr>
            <a:lvl6pPr marL="3657509" marR="0" lvl="5" indent="-423323" algn="l" rtl="0" eaLnBrk="1" hangingPunct="1">
              <a:lnSpc>
                <a:spcPct val="90000"/>
              </a:lnSpc>
              <a:spcBef>
                <a:spcPts val="533"/>
              </a:spcBef>
              <a:spcAft>
                <a:spcPts val="0"/>
              </a:spcAft>
              <a:buClr>
                <a:schemeClr val="dk1"/>
              </a:buClr>
              <a:buSzPts val="1400"/>
              <a:buFont typeface="Arial"/>
              <a:buChar char="•"/>
              <a:defRPr sz="1867" b="0" i="0" u="none" strike="noStrike" cap="none">
                <a:solidFill>
                  <a:srgbClr val="000000"/>
                </a:solidFill>
                <a:latin typeface="Arial"/>
                <a:ea typeface="Arial"/>
                <a:cs typeface="Arial"/>
                <a:sym typeface="Arial"/>
              </a:defRPr>
            </a:lvl6pPr>
            <a:lvl7pPr marL="4267093" marR="0" lvl="6" indent="-423323" algn="l" rtl="0" eaLnBrk="1" hangingPunct="1">
              <a:lnSpc>
                <a:spcPct val="90000"/>
              </a:lnSpc>
              <a:spcBef>
                <a:spcPts val="533"/>
              </a:spcBef>
              <a:spcAft>
                <a:spcPts val="0"/>
              </a:spcAft>
              <a:buClr>
                <a:schemeClr val="dk1"/>
              </a:buClr>
              <a:buSzPts val="1400"/>
              <a:buFont typeface="Arial"/>
              <a:buChar char="•"/>
              <a:defRPr sz="1867" b="0" i="0" u="none" strike="noStrike" cap="none">
                <a:solidFill>
                  <a:srgbClr val="000000"/>
                </a:solidFill>
                <a:latin typeface="Arial"/>
                <a:ea typeface="Arial"/>
                <a:cs typeface="Arial"/>
                <a:sym typeface="Arial"/>
              </a:defRPr>
            </a:lvl7pPr>
            <a:lvl8pPr marL="4876678" marR="0" lvl="7" indent="-423323" algn="l" rtl="0" eaLnBrk="1" hangingPunct="1">
              <a:lnSpc>
                <a:spcPct val="90000"/>
              </a:lnSpc>
              <a:spcBef>
                <a:spcPts val="533"/>
              </a:spcBef>
              <a:spcAft>
                <a:spcPts val="0"/>
              </a:spcAft>
              <a:buClr>
                <a:schemeClr val="dk1"/>
              </a:buClr>
              <a:buSzPts val="1400"/>
              <a:buFont typeface="Arial"/>
              <a:buChar char="•"/>
              <a:defRPr sz="1867" b="0" i="0" u="none" strike="noStrike" cap="none">
                <a:solidFill>
                  <a:srgbClr val="000000"/>
                </a:solidFill>
                <a:latin typeface="Arial"/>
                <a:ea typeface="Arial"/>
                <a:cs typeface="Arial"/>
                <a:sym typeface="Arial"/>
              </a:defRPr>
            </a:lvl8pPr>
            <a:lvl9pPr marL="5486263" marR="0" lvl="8" indent="-423323" algn="l" rtl="0" eaLnBrk="1" hangingPunct="1">
              <a:lnSpc>
                <a:spcPct val="90000"/>
              </a:lnSpc>
              <a:spcBef>
                <a:spcPts val="533"/>
              </a:spcBef>
              <a:spcAft>
                <a:spcPts val="0"/>
              </a:spcAft>
              <a:buClr>
                <a:schemeClr val="dk1"/>
              </a:buClr>
              <a:buSzPts val="1400"/>
              <a:buFont typeface="Arial"/>
              <a:buChar char="•"/>
              <a:defRPr sz="1867" b="0" i="0" u="none" strike="noStrike" cap="none">
                <a:solidFill>
                  <a:srgbClr val="000000"/>
                </a:solidFill>
                <a:latin typeface="Arial"/>
                <a:ea typeface="Arial"/>
                <a:cs typeface="Arial"/>
                <a:sym typeface="Arial"/>
              </a:defRPr>
            </a:lvl9pPr>
          </a:lstStyle>
          <a:p>
            <a:pPr marL="186262" indent="0">
              <a:buFont typeface="Arial"/>
              <a:buNone/>
            </a:pPr>
            <a:r>
              <a:rPr lang="en-US" kern="0" dirty="0"/>
              <a:t>4) Problem in Assigning Loan to customer .</a:t>
            </a:r>
          </a:p>
          <a:p>
            <a:r>
              <a:rPr lang="en-US" dirty="0"/>
              <a:t>Loan repayment status shows that:</a:t>
            </a:r>
          </a:p>
          <a:p>
            <a:r>
              <a:rPr lang="en-US" b="1" dirty="0"/>
              <a:t>C status</a:t>
            </a:r>
            <a:r>
              <a:rPr lang="en-US" dirty="0"/>
              <a:t> accounts for </a:t>
            </a:r>
            <a:r>
              <a:rPr lang="en-US" b="1" dirty="0"/>
              <a:t>59.1%</a:t>
            </a:r>
            <a:r>
              <a:rPr lang="en-US" dirty="0"/>
              <a:t> of total loans</a:t>
            </a:r>
          </a:p>
          <a:p>
            <a:r>
              <a:rPr lang="en-US" b="1" dirty="0"/>
              <a:t>A status</a:t>
            </a:r>
            <a:r>
              <a:rPr lang="en-US" dirty="0"/>
              <a:t> accounts for </a:t>
            </a:r>
            <a:r>
              <a:rPr lang="en-US" b="1" dirty="0"/>
              <a:t>29.8%</a:t>
            </a:r>
            <a:endParaRPr lang="en-US" dirty="0"/>
          </a:p>
          <a:p>
            <a:r>
              <a:rPr lang="en-US" b="1" dirty="0"/>
              <a:t>D status</a:t>
            </a:r>
            <a:r>
              <a:rPr lang="en-US" dirty="0"/>
              <a:t> accounts for </a:t>
            </a:r>
            <a:r>
              <a:rPr lang="en-US" b="1" dirty="0"/>
              <a:t>6.6%</a:t>
            </a:r>
            <a:endParaRPr lang="en-US" dirty="0"/>
          </a:p>
          <a:p>
            <a:r>
              <a:rPr lang="en-US" dirty="0"/>
              <a:t>When we look at </a:t>
            </a:r>
            <a:r>
              <a:rPr lang="en-US" b="1" dirty="0"/>
              <a:t>loan amount distribution</a:t>
            </a:r>
            <a:r>
              <a:rPr lang="en-US" dirty="0"/>
              <a:t>:</a:t>
            </a:r>
          </a:p>
          <a:p>
            <a:r>
              <a:rPr lang="en-US" b="1" dirty="0"/>
              <a:t>C status</a:t>
            </a:r>
            <a:r>
              <a:rPr lang="en-US" dirty="0"/>
              <a:t> contributes about </a:t>
            </a:r>
            <a:r>
              <a:rPr lang="en-US" b="1" dirty="0"/>
              <a:t>66.9%</a:t>
            </a:r>
            <a:r>
              <a:rPr lang="en-US" dirty="0"/>
              <a:t> of the total loan amount</a:t>
            </a:r>
          </a:p>
          <a:p>
            <a:r>
              <a:rPr lang="en-US" b="1" dirty="0"/>
              <a:t>A status</a:t>
            </a:r>
            <a:r>
              <a:rPr lang="en-US" dirty="0"/>
              <a:t> contributes only </a:t>
            </a:r>
            <a:r>
              <a:rPr lang="en-US" b="1" dirty="0"/>
              <a:t>18.0%</a:t>
            </a:r>
            <a:r>
              <a:rPr lang="en-US" dirty="0"/>
              <a:t> of the total loan amount</a:t>
            </a:r>
          </a:p>
          <a:p>
            <a:endParaRPr lang="en-IN" kern="0" dirty="0"/>
          </a:p>
        </p:txBody>
      </p:sp>
    </p:spTree>
    <p:extLst>
      <p:ext uri="{BB962C8B-B14F-4D97-AF65-F5344CB8AC3E}">
        <p14:creationId xmlns:p14="http://schemas.microsoft.com/office/powerpoint/2010/main" val="160762016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A4F75-43C7-BC21-CAD2-2C24F6C052BB}"/>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C01A872C-90A9-6A95-4DA9-F5D0A85B4DF6}"/>
              </a:ext>
            </a:extLst>
          </p:cNvPr>
          <p:cNvSpPr txBox="1">
            <a:spLocks/>
          </p:cNvSpPr>
          <p:nvPr/>
        </p:nvSpPr>
        <p:spPr>
          <a:xfrm>
            <a:off x="0" y="0"/>
            <a:ext cx="12192000" cy="776748"/>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US" sz="3600" kern="0" dirty="0"/>
              <a:t>Business Problems </a:t>
            </a:r>
            <a:endParaRPr lang="en-IN" sz="3600" kern="0" dirty="0"/>
          </a:p>
        </p:txBody>
      </p:sp>
      <p:sp>
        <p:nvSpPr>
          <p:cNvPr id="8" name="TextBox 7">
            <a:extLst>
              <a:ext uri="{FF2B5EF4-FFF2-40B4-BE49-F238E27FC236}">
                <a16:creationId xmlns:a16="http://schemas.microsoft.com/office/drawing/2014/main" id="{BD279C7C-1151-007E-3BC2-5155474A935A}"/>
              </a:ext>
            </a:extLst>
          </p:cNvPr>
          <p:cNvSpPr txBox="1"/>
          <p:nvPr/>
        </p:nvSpPr>
        <p:spPr>
          <a:xfrm>
            <a:off x="5909187" y="894735"/>
            <a:ext cx="5801032" cy="369332"/>
          </a:xfrm>
          <a:prstGeom prst="rect">
            <a:avLst/>
          </a:prstGeom>
          <a:noFill/>
        </p:spPr>
        <p:txBody>
          <a:bodyPr wrap="square" rtlCol="0">
            <a:spAutoFit/>
          </a:bodyPr>
          <a:lstStyle/>
          <a:p>
            <a:r>
              <a:rPr lang="en-US" dirty="0"/>
              <a:t> </a:t>
            </a:r>
            <a:endParaRPr lang="en-IN" dirty="0"/>
          </a:p>
        </p:txBody>
      </p:sp>
      <p:sp>
        <p:nvSpPr>
          <p:cNvPr id="12" name="Text Placeholder 1">
            <a:extLst>
              <a:ext uri="{FF2B5EF4-FFF2-40B4-BE49-F238E27FC236}">
                <a16:creationId xmlns:a16="http://schemas.microsoft.com/office/drawing/2014/main" id="{A5E9F876-FD06-237C-590B-FB9E292F33D5}"/>
              </a:ext>
            </a:extLst>
          </p:cNvPr>
          <p:cNvSpPr txBox="1">
            <a:spLocks/>
          </p:cNvSpPr>
          <p:nvPr/>
        </p:nvSpPr>
        <p:spPr>
          <a:xfrm>
            <a:off x="6096000" y="1108898"/>
            <a:ext cx="5909187" cy="5112774"/>
          </a:xfrm>
          <a:prstGeom prst="rect">
            <a:avLst/>
          </a:prstGeom>
          <a:noFill/>
          <a:ln>
            <a:noFill/>
          </a:ln>
        </p:spPr>
        <p:txBody>
          <a:bodyPr spcFirstLastPara="1" wrap="square" lIns="68575" tIns="34275" rIns="68575" bIns="34275" anchor="t" anchorCtr="0">
            <a:normAutofit/>
          </a:bodyPr>
          <a:lstStyle>
            <a:defPPr marR="0" lvl="0" algn="l" rtl="0">
              <a:lnSpc>
                <a:spcPct val="100000"/>
              </a:lnSpc>
              <a:spcBef>
                <a:spcPts val="0"/>
              </a:spcBef>
              <a:spcAft>
                <a:spcPts val="0"/>
              </a:spcAft>
            </a:defPPr>
            <a:lvl1pPr marL="609585" marR="0" lvl="0" indent="-423323" algn="l" rtl="0" eaLnBrk="1" hangingPunct="1">
              <a:lnSpc>
                <a:spcPct val="90000"/>
              </a:lnSpc>
              <a:spcBef>
                <a:spcPts val="1067"/>
              </a:spcBef>
              <a:spcAft>
                <a:spcPts val="0"/>
              </a:spcAft>
              <a:buClr>
                <a:schemeClr val="dk1"/>
              </a:buClr>
              <a:buSzPts val="1400"/>
              <a:buFont typeface="Arial"/>
              <a:buChar char="•"/>
              <a:defRPr sz="1867" b="0" i="0" u="none" strike="noStrike" cap="none">
                <a:solidFill>
                  <a:srgbClr val="000000"/>
                </a:solidFill>
                <a:latin typeface="Calibri" panose="020F0502020204030204" pitchFamily="34" charset="0"/>
                <a:ea typeface="Raleway" pitchFamily="2" charset="0"/>
                <a:cs typeface="Calibri" panose="020F0502020204030204" pitchFamily="34" charset="0"/>
                <a:sym typeface="Arial"/>
              </a:defRPr>
            </a:lvl1pPr>
            <a:lvl2pPr marL="1219170" marR="0" lvl="1" indent="-423323" algn="l" rtl="0" eaLnBrk="1" hangingPunct="1">
              <a:lnSpc>
                <a:spcPct val="90000"/>
              </a:lnSpc>
              <a:spcBef>
                <a:spcPts val="533"/>
              </a:spcBef>
              <a:spcAft>
                <a:spcPts val="0"/>
              </a:spcAft>
              <a:buClr>
                <a:schemeClr val="dk1"/>
              </a:buClr>
              <a:buSzPts val="1400"/>
              <a:buFont typeface="Arial"/>
              <a:buChar char="•"/>
              <a:defRPr sz="1867" b="0" i="0" u="none" strike="noStrike" cap="none">
                <a:solidFill>
                  <a:srgbClr val="000000"/>
                </a:solidFill>
                <a:latin typeface="Arial"/>
                <a:ea typeface="Arial"/>
                <a:cs typeface="Arial"/>
                <a:sym typeface="Arial"/>
              </a:defRPr>
            </a:lvl2pPr>
            <a:lvl3pPr marL="1828754" marR="0" lvl="2" indent="-423323" algn="l" rtl="0" eaLnBrk="1" hangingPunct="1">
              <a:lnSpc>
                <a:spcPct val="90000"/>
              </a:lnSpc>
              <a:spcBef>
                <a:spcPts val="533"/>
              </a:spcBef>
              <a:spcAft>
                <a:spcPts val="0"/>
              </a:spcAft>
              <a:buClr>
                <a:schemeClr val="dk1"/>
              </a:buClr>
              <a:buSzPts val="1400"/>
              <a:buFont typeface="Arial"/>
              <a:buChar char="•"/>
              <a:defRPr sz="1867" b="0" i="0" u="none" strike="noStrike" cap="none">
                <a:solidFill>
                  <a:srgbClr val="000000"/>
                </a:solidFill>
                <a:latin typeface="Arial"/>
                <a:ea typeface="Arial"/>
                <a:cs typeface="Arial"/>
                <a:sym typeface="Arial"/>
              </a:defRPr>
            </a:lvl3pPr>
            <a:lvl4pPr marL="2438339" marR="0" lvl="3" indent="-423323" algn="l" rtl="0" eaLnBrk="1" hangingPunct="1">
              <a:lnSpc>
                <a:spcPct val="90000"/>
              </a:lnSpc>
              <a:spcBef>
                <a:spcPts val="533"/>
              </a:spcBef>
              <a:spcAft>
                <a:spcPts val="0"/>
              </a:spcAft>
              <a:buClr>
                <a:schemeClr val="dk1"/>
              </a:buClr>
              <a:buSzPts val="1400"/>
              <a:buFont typeface="Arial"/>
              <a:buChar char="•"/>
              <a:defRPr sz="1867" b="0" i="0" u="none" strike="noStrike" cap="none">
                <a:solidFill>
                  <a:srgbClr val="000000"/>
                </a:solidFill>
                <a:latin typeface="Arial"/>
                <a:ea typeface="Arial"/>
                <a:cs typeface="Arial"/>
                <a:sym typeface="Arial"/>
              </a:defRPr>
            </a:lvl4pPr>
            <a:lvl5pPr marL="3047924" marR="0" lvl="4" indent="-423323" algn="l" rtl="0" eaLnBrk="1" hangingPunct="1">
              <a:lnSpc>
                <a:spcPct val="90000"/>
              </a:lnSpc>
              <a:spcBef>
                <a:spcPts val="533"/>
              </a:spcBef>
              <a:spcAft>
                <a:spcPts val="0"/>
              </a:spcAft>
              <a:buClr>
                <a:schemeClr val="dk1"/>
              </a:buClr>
              <a:buSzPts val="1400"/>
              <a:buFont typeface="Arial"/>
              <a:buChar char="•"/>
              <a:defRPr sz="1867" b="0" i="0" u="none" strike="noStrike" cap="none">
                <a:solidFill>
                  <a:srgbClr val="000000"/>
                </a:solidFill>
                <a:latin typeface="Arial"/>
                <a:ea typeface="Arial"/>
                <a:cs typeface="Arial"/>
                <a:sym typeface="Arial"/>
              </a:defRPr>
            </a:lvl5pPr>
            <a:lvl6pPr marL="3657509" marR="0" lvl="5" indent="-423323" algn="l" rtl="0" eaLnBrk="1" hangingPunct="1">
              <a:lnSpc>
                <a:spcPct val="90000"/>
              </a:lnSpc>
              <a:spcBef>
                <a:spcPts val="533"/>
              </a:spcBef>
              <a:spcAft>
                <a:spcPts val="0"/>
              </a:spcAft>
              <a:buClr>
                <a:schemeClr val="dk1"/>
              </a:buClr>
              <a:buSzPts val="1400"/>
              <a:buFont typeface="Arial"/>
              <a:buChar char="•"/>
              <a:defRPr sz="1867" b="0" i="0" u="none" strike="noStrike" cap="none">
                <a:solidFill>
                  <a:srgbClr val="000000"/>
                </a:solidFill>
                <a:latin typeface="Arial"/>
                <a:ea typeface="Arial"/>
                <a:cs typeface="Arial"/>
                <a:sym typeface="Arial"/>
              </a:defRPr>
            </a:lvl6pPr>
            <a:lvl7pPr marL="4267093" marR="0" lvl="6" indent="-423323" algn="l" rtl="0" eaLnBrk="1" hangingPunct="1">
              <a:lnSpc>
                <a:spcPct val="90000"/>
              </a:lnSpc>
              <a:spcBef>
                <a:spcPts val="533"/>
              </a:spcBef>
              <a:spcAft>
                <a:spcPts val="0"/>
              </a:spcAft>
              <a:buClr>
                <a:schemeClr val="dk1"/>
              </a:buClr>
              <a:buSzPts val="1400"/>
              <a:buFont typeface="Arial"/>
              <a:buChar char="•"/>
              <a:defRPr sz="1867" b="0" i="0" u="none" strike="noStrike" cap="none">
                <a:solidFill>
                  <a:srgbClr val="000000"/>
                </a:solidFill>
                <a:latin typeface="Arial"/>
                <a:ea typeface="Arial"/>
                <a:cs typeface="Arial"/>
                <a:sym typeface="Arial"/>
              </a:defRPr>
            </a:lvl7pPr>
            <a:lvl8pPr marL="4876678" marR="0" lvl="7" indent="-423323" algn="l" rtl="0" eaLnBrk="1" hangingPunct="1">
              <a:lnSpc>
                <a:spcPct val="90000"/>
              </a:lnSpc>
              <a:spcBef>
                <a:spcPts val="533"/>
              </a:spcBef>
              <a:spcAft>
                <a:spcPts val="0"/>
              </a:spcAft>
              <a:buClr>
                <a:schemeClr val="dk1"/>
              </a:buClr>
              <a:buSzPts val="1400"/>
              <a:buFont typeface="Arial"/>
              <a:buChar char="•"/>
              <a:defRPr sz="1867" b="0" i="0" u="none" strike="noStrike" cap="none">
                <a:solidFill>
                  <a:srgbClr val="000000"/>
                </a:solidFill>
                <a:latin typeface="Arial"/>
                <a:ea typeface="Arial"/>
                <a:cs typeface="Arial"/>
                <a:sym typeface="Arial"/>
              </a:defRPr>
            </a:lvl8pPr>
            <a:lvl9pPr marL="5486263" marR="0" lvl="8" indent="-423323" algn="l" rtl="0" eaLnBrk="1" hangingPunct="1">
              <a:lnSpc>
                <a:spcPct val="90000"/>
              </a:lnSpc>
              <a:spcBef>
                <a:spcPts val="533"/>
              </a:spcBef>
              <a:spcAft>
                <a:spcPts val="0"/>
              </a:spcAft>
              <a:buClr>
                <a:schemeClr val="dk1"/>
              </a:buClr>
              <a:buSzPts val="1400"/>
              <a:buFont typeface="Arial"/>
              <a:buChar char="•"/>
              <a:defRPr sz="1867" b="0" i="0" u="none" strike="noStrike" cap="none">
                <a:solidFill>
                  <a:srgbClr val="000000"/>
                </a:solidFill>
                <a:latin typeface="Arial"/>
                <a:ea typeface="Arial"/>
                <a:cs typeface="Arial"/>
                <a:sym typeface="Arial"/>
              </a:defRPr>
            </a:lvl9pPr>
          </a:lstStyle>
          <a:p>
            <a:r>
              <a:rPr lang="en-US" kern="0" dirty="0"/>
              <a:t>4) Problem in Assigning Loan to customer .</a:t>
            </a:r>
          </a:p>
          <a:p>
            <a:pPr>
              <a:lnSpc>
                <a:spcPct val="100000"/>
              </a:lnSpc>
            </a:pPr>
            <a:r>
              <a:rPr lang="en-IN" kern="0" dirty="0"/>
              <a:t>The loan assigned for short duration are coming most in A,B status in Repayments of loan which means it is easier for customer to repay the short term loan .</a:t>
            </a:r>
          </a:p>
          <a:p>
            <a:pPr>
              <a:lnSpc>
                <a:spcPct val="100000"/>
              </a:lnSpc>
            </a:pPr>
            <a:r>
              <a:rPr lang="en-IN" kern="0" dirty="0"/>
              <a:t>The loans of type Medium and Long term loans are coming most in C,D status which means repayment of there type of loan by customer is difficult .</a:t>
            </a:r>
          </a:p>
          <a:p>
            <a:pPr>
              <a:lnSpc>
                <a:spcPct val="100000"/>
              </a:lnSpc>
            </a:pPr>
            <a:r>
              <a:rPr lang="en-US" dirty="0">
                <a:solidFill>
                  <a:srgbClr val="00B050"/>
                </a:solidFill>
              </a:rPr>
              <a:t>“This indicates that the bank’s loan risk is concentrated in medium- and long-term loans, and stricter credit assessment is required for higher loan amounts and longer durations.”</a:t>
            </a:r>
            <a:endParaRPr lang="en-IN" kern="0" dirty="0">
              <a:solidFill>
                <a:srgbClr val="00B050"/>
              </a:solidFill>
            </a:endParaRPr>
          </a:p>
          <a:p>
            <a:endParaRPr lang="en-IN" kern="0" dirty="0"/>
          </a:p>
        </p:txBody>
      </p:sp>
      <p:pic>
        <p:nvPicPr>
          <p:cNvPr id="6" name="Picture 5">
            <a:extLst>
              <a:ext uri="{FF2B5EF4-FFF2-40B4-BE49-F238E27FC236}">
                <a16:creationId xmlns:a16="http://schemas.microsoft.com/office/drawing/2014/main" id="{FEB2509C-975E-6D11-FFB2-C5DB3F82E91D}"/>
              </a:ext>
            </a:extLst>
          </p:cNvPr>
          <p:cNvPicPr>
            <a:picLocks noChangeAspect="1"/>
          </p:cNvPicPr>
          <p:nvPr/>
        </p:nvPicPr>
        <p:blipFill>
          <a:blip r:embed="rId2"/>
          <a:stretch>
            <a:fillRect/>
          </a:stretch>
        </p:blipFill>
        <p:spPr>
          <a:xfrm>
            <a:off x="353961" y="1264067"/>
            <a:ext cx="5073446" cy="4151605"/>
          </a:xfrm>
          <a:prstGeom prst="rect">
            <a:avLst/>
          </a:prstGeom>
        </p:spPr>
      </p:pic>
    </p:spTree>
    <p:extLst>
      <p:ext uri="{BB962C8B-B14F-4D97-AF65-F5344CB8AC3E}">
        <p14:creationId xmlns:p14="http://schemas.microsoft.com/office/powerpoint/2010/main" val="38339592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680A4-3E66-4044-5F05-68E72A69FA77}"/>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8A56109F-A479-9036-DA8D-2963B256146C}"/>
              </a:ext>
            </a:extLst>
          </p:cNvPr>
          <p:cNvSpPr txBox="1">
            <a:spLocks/>
          </p:cNvSpPr>
          <p:nvPr/>
        </p:nvSpPr>
        <p:spPr>
          <a:xfrm>
            <a:off x="0" y="0"/>
            <a:ext cx="12192000" cy="776748"/>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US" sz="3600" kern="0" dirty="0"/>
              <a:t>Business Problems </a:t>
            </a:r>
            <a:endParaRPr lang="en-IN" sz="3600" kern="0" dirty="0"/>
          </a:p>
        </p:txBody>
      </p:sp>
      <p:sp>
        <p:nvSpPr>
          <p:cNvPr id="12" name="Text Placeholder 1">
            <a:extLst>
              <a:ext uri="{FF2B5EF4-FFF2-40B4-BE49-F238E27FC236}">
                <a16:creationId xmlns:a16="http://schemas.microsoft.com/office/drawing/2014/main" id="{ED96BE40-D582-BCC2-473C-38704253D7F2}"/>
              </a:ext>
            </a:extLst>
          </p:cNvPr>
          <p:cNvSpPr txBox="1">
            <a:spLocks/>
          </p:cNvSpPr>
          <p:nvPr/>
        </p:nvSpPr>
        <p:spPr>
          <a:xfrm>
            <a:off x="6096000" y="1295400"/>
            <a:ext cx="5909187" cy="3148781"/>
          </a:xfrm>
          <a:prstGeom prst="rect">
            <a:avLst/>
          </a:prstGeom>
          <a:noFill/>
          <a:ln>
            <a:noFill/>
          </a:ln>
        </p:spPr>
        <p:txBody>
          <a:bodyPr spcFirstLastPara="1" wrap="square" lIns="68575" tIns="34275" rIns="68575" bIns="34275" anchor="t" anchorCtr="0">
            <a:normAutofit/>
          </a:bodyPr>
          <a:lstStyle>
            <a:defPPr marR="0" lvl="0" algn="l" rtl="0">
              <a:lnSpc>
                <a:spcPct val="100000"/>
              </a:lnSpc>
              <a:spcBef>
                <a:spcPts val="0"/>
              </a:spcBef>
              <a:spcAft>
                <a:spcPts val="0"/>
              </a:spcAft>
            </a:defPPr>
            <a:lvl1pPr marL="609585" marR="0" lvl="0" indent="-423323" algn="l" rtl="0" eaLnBrk="1" hangingPunct="1">
              <a:lnSpc>
                <a:spcPct val="90000"/>
              </a:lnSpc>
              <a:spcBef>
                <a:spcPts val="1067"/>
              </a:spcBef>
              <a:spcAft>
                <a:spcPts val="0"/>
              </a:spcAft>
              <a:buClr>
                <a:schemeClr val="dk1"/>
              </a:buClr>
              <a:buSzPts val="1400"/>
              <a:buFont typeface="Arial"/>
              <a:buChar char="•"/>
              <a:defRPr sz="1867" b="0" i="0" u="none" strike="noStrike" cap="none">
                <a:solidFill>
                  <a:srgbClr val="000000"/>
                </a:solidFill>
                <a:latin typeface="Calibri" panose="020F0502020204030204" pitchFamily="34" charset="0"/>
                <a:ea typeface="Raleway" pitchFamily="2" charset="0"/>
                <a:cs typeface="Calibri" panose="020F0502020204030204" pitchFamily="34" charset="0"/>
                <a:sym typeface="Arial"/>
              </a:defRPr>
            </a:lvl1pPr>
            <a:lvl2pPr marL="1219170" marR="0" lvl="1" indent="-423323" algn="l" rtl="0" eaLnBrk="1" hangingPunct="1">
              <a:lnSpc>
                <a:spcPct val="90000"/>
              </a:lnSpc>
              <a:spcBef>
                <a:spcPts val="533"/>
              </a:spcBef>
              <a:spcAft>
                <a:spcPts val="0"/>
              </a:spcAft>
              <a:buClr>
                <a:schemeClr val="dk1"/>
              </a:buClr>
              <a:buSzPts val="1400"/>
              <a:buFont typeface="Arial"/>
              <a:buChar char="•"/>
              <a:defRPr sz="1867" b="0" i="0" u="none" strike="noStrike" cap="none">
                <a:solidFill>
                  <a:srgbClr val="000000"/>
                </a:solidFill>
                <a:latin typeface="Arial"/>
                <a:ea typeface="Arial"/>
                <a:cs typeface="Arial"/>
                <a:sym typeface="Arial"/>
              </a:defRPr>
            </a:lvl2pPr>
            <a:lvl3pPr marL="1828754" marR="0" lvl="2" indent="-423323" algn="l" rtl="0" eaLnBrk="1" hangingPunct="1">
              <a:lnSpc>
                <a:spcPct val="90000"/>
              </a:lnSpc>
              <a:spcBef>
                <a:spcPts val="533"/>
              </a:spcBef>
              <a:spcAft>
                <a:spcPts val="0"/>
              </a:spcAft>
              <a:buClr>
                <a:schemeClr val="dk1"/>
              </a:buClr>
              <a:buSzPts val="1400"/>
              <a:buFont typeface="Arial"/>
              <a:buChar char="•"/>
              <a:defRPr sz="1867" b="0" i="0" u="none" strike="noStrike" cap="none">
                <a:solidFill>
                  <a:srgbClr val="000000"/>
                </a:solidFill>
                <a:latin typeface="Arial"/>
                <a:ea typeface="Arial"/>
                <a:cs typeface="Arial"/>
                <a:sym typeface="Arial"/>
              </a:defRPr>
            </a:lvl3pPr>
            <a:lvl4pPr marL="2438339" marR="0" lvl="3" indent="-423323" algn="l" rtl="0" eaLnBrk="1" hangingPunct="1">
              <a:lnSpc>
                <a:spcPct val="90000"/>
              </a:lnSpc>
              <a:spcBef>
                <a:spcPts val="533"/>
              </a:spcBef>
              <a:spcAft>
                <a:spcPts val="0"/>
              </a:spcAft>
              <a:buClr>
                <a:schemeClr val="dk1"/>
              </a:buClr>
              <a:buSzPts val="1400"/>
              <a:buFont typeface="Arial"/>
              <a:buChar char="•"/>
              <a:defRPr sz="1867" b="0" i="0" u="none" strike="noStrike" cap="none">
                <a:solidFill>
                  <a:srgbClr val="000000"/>
                </a:solidFill>
                <a:latin typeface="Arial"/>
                <a:ea typeface="Arial"/>
                <a:cs typeface="Arial"/>
                <a:sym typeface="Arial"/>
              </a:defRPr>
            </a:lvl4pPr>
            <a:lvl5pPr marL="3047924" marR="0" lvl="4" indent="-423323" algn="l" rtl="0" eaLnBrk="1" hangingPunct="1">
              <a:lnSpc>
                <a:spcPct val="90000"/>
              </a:lnSpc>
              <a:spcBef>
                <a:spcPts val="533"/>
              </a:spcBef>
              <a:spcAft>
                <a:spcPts val="0"/>
              </a:spcAft>
              <a:buClr>
                <a:schemeClr val="dk1"/>
              </a:buClr>
              <a:buSzPts val="1400"/>
              <a:buFont typeface="Arial"/>
              <a:buChar char="•"/>
              <a:defRPr sz="1867" b="0" i="0" u="none" strike="noStrike" cap="none">
                <a:solidFill>
                  <a:srgbClr val="000000"/>
                </a:solidFill>
                <a:latin typeface="Arial"/>
                <a:ea typeface="Arial"/>
                <a:cs typeface="Arial"/>
                <a:sym typeface="Arial"/>
              </a:defRPr>
            </a:lvl5pPr>
            <a:lvl6pPr marL="3657509" marR="0" lvl="5" indent="-423323" algn="l" rtl="0" eaLnBrk="1" hangingPunct="1">
              <a:lnSpc>
                <a:spcPct val="90000"/>
              </a:lnSpc>
              <a:spcBef>
                <a:spcPts val="533"/>
              </a:spcBef>
              <a:spcAft>
                <a:spcPts val="0"/>
              </a:spcAft>
              <a:buClr>
                <a:schemeClr val="dk1"/>
              </a:buClr>
              <a:buSzPts val="1400"/>
              <a:buFont typeface="Arial"/>
              <a:buChar char="•"/>
              <a:defRPr sz="1867" b="0" i="0" u="none" strike="noStrike" cap="none">
                <a:solidFill>
                  <a:srgbClr val="000000"/>
                </a:solidFill>
                <a:latin typeface="Arial"/>
                <a:ea typeface="Arial"/>
                <a:cs typeface="Arial"/>
                <a:sym typeface="Arial"/>
              </a:defRPr>
            </a:lvl6pPr>
            <a:lvl7pPr marL="4267093" marR="0" lvl="6" indent="-423323" algn="l" rtl="0" eaLnBrk="1" hangingPunct="1">
              <a:lnSpc>
                <a:spcPct val="90000"/>
              </a:lnSpc>
              <a:spcBef>
                <a:spcPts val="533"/>
              </a:spcBef>
              <a:spcAft>
                <a:spcPts val="0"/>
              </a:spcAft>
              <a:buClr>
                <a:schemeClr val="dk1"/>
              </a:buClr>
              <a:buSzPts val="1400"/>
              <a:buFont typeface="Arial"/>
              <a:buChar char="•"/>
              <a:defRPr sz="1867" b="0" i="0" u="none" strike="noStrike" cap="none">
                <a:solidFill>
                  <a:srgbClr val="000000"/>
                </a:solidFill>
                <a:latin typeface="Arial"/>
                <a:ea typeface="Arial"/>
                <a:cs typeface="Arial"/>
                <a:sym typeface="Arial"/>
              </a:defRPr>
            </a:lvl7pPr>
            <a:lvl8pPr marL="4876678" marR="0" lvl="7" indent="-423323" algn="l" rtl="0" eaLnBrk="1" hangingPunct="1">
              <a:lnSpc>
                <a:spcPct val="90000"/>
              </a:lnSpc>
              <a:spcBef>
                <a:spcPts val="533"/>
              </a:spcBef>
              <a:spcAft>
                <a:spcPts val="0"/>
              </a:spcAft>
              <a:buClr>
                <a:schemeClr val="dk1"/>
              </a:buClr>
              <a:buSzPts val="1400"/>
              <a:buFont typeface="Arial"/>
              <a:buChar char="•"/>
              <a:defRPr sz="1867" b="0" i="0" u="none" strike="noStrike" cap="none">
                <a:solidFill>
                  <a:srgbClr val="000000"/>
                </a:solidFill>
                <a:latin typeface="Arial"/>
                <a:ea typeface="Arial"/>
                <a:cs typeface="Arial"/>
                <a:sym typeface="Arial"/>
              </a:defRPr>
            </a:lvl8pPr>
            <a:lvl9pPr marL="5486263" marR="0" lvl="8" indent="-423323" algn="l" rtl="0" eaLnBrk="1" hangingPunct="1">
              <a:lnSpc>
                <a:spcPct val="90000"/>
              </a:lnSpc>
              <a:spcBef>
                <a:spcPts val="533"/>
              </a:spcBef>
              <a:spcAft>
                <a:spcPts val="0"/>
              </a:spcAft>
              <a:buClr>
                <a:schemeClr val="dk1"/>
              </a:buClr>
              <a:buSzPts val="1400"/>
              <a:buFont typeface="Arial"/>
              <a:buChar char="•"/>
              <a:defRPr sz="1867" b="0" i="0" u="none" strike="noStrike" cap="none">
                <a:solidFill>
                  <a:srgbClr val="000000"/>
                </a:solidFill>
                <a:latin typeface="Arial"/>
                <a:ea typeface="Arial"/>
                <a:cs typeface="Arial"/>
                <a:sym typeface="Arial"/>
              </a:defRPr>
            </a:lvl9pPr>
          </a:lstStyle>
          <a:p>
            <a:r>
              <a:rPr lang="en-US" kern="0" dirty="0"/>
              <a:t>5) Risk Ration Trends &amp; Dips .</a:t>
            </a:r>
          </a:p>
          <a:p>
            <a:pPr>
              <a:lnSpc>
                <a:spcPct val="100000"/>
              </a:lnSpc>
            </a:pPr>
            <a:r>
              <a:rPr lang="en-US" kern="0" dirty="0" err="1"/>
              <a:t>Risk_Ration</a:t>
            </a:r>
            <a:r>
              <a:rPr lang="en-US" kern="0" dirty="0"/>
              <a:t>  = </a:t>
            </a:r>
            <a:r>
              <a:rPr lang="en-US" kern="0" dirty="0" err="1"/>
              <a:t>account_balance</a:t>
            </a:r>
            <a:r>
              <a:rPr lang="en-US" kern="0" dirty="0"/>
              <a:t> / </a:t>
            </a:r>
            <a:r>
              <a:rPr lang="en-US" kern="0" dirty="0" err="1"/>
              <a:t>amount_loan</a:t>
            </a:r>
            <a:r>
              <a:rPr lang="en-US" kern="0" dirty="0"/>
              <a:t> </a:t>
            </a:r>
          </a:p>
          <a:p>
            <a:pPr>
              <a:lnSpc>
                <a:spcPct val="100000"/>
              </a:lnSpc>
            </a:pPr>
            <a:r>
              <a:rPr lang="en-US" kern="0" dirty="0"/>
              <a:t>Risk ration is all about the money kept in balance to repay the loans is there is not .</a:t>
            </a:r>
          </a:p>
          <a:p>
            <a:pPr>
              <a:lnSpc>
                <a:spcPct val="100000"/>
              </a:lnSpc>
            </a:pPr>
            <a:r>
              <a:rPr lang="en-US" kern="0" dirty="0"/>
              <a:t>The risk ration shows a positive trends but there is a dip in month of February which shows a short-term liquidity stress which is recovered in other months as there is increase in the risk ration after that.</a:t>
            </a:r>
            <a:endParaRPr lang="en-IN" kern="0" dirty="0"/>
          </a:p>
        </p:txBody>
      </p:sp>
      <p:pic>
        <p:nvPicPr>
          <p:cNvPr id="3" name="Picture 2">
            <a:extLst>
              <a:ext uri="{FF2B5EF4-FFF2-40B4-BE49-F238E27FC236}">
                <a16:creationId xmlns:a16="http://schemas.microsoft.com/office/drawing/2014/main" id="{0C5CACCD-3AB7-D54A-E508-DB05AC376F58}"/>
              </a:ext>
            </a:extLst>
          </p:cNvPr>
          <p:cNvPicPr>
            <a:picLocks noChangeAspect="1"/>
          </p:cNvPicPr>
          <p:nvPr/>
        </p:nvPicPr>
        <p:blipFill>
          <a:blip r:embed="rId2"/>
          <a:stretch>
            <a:fillRect/>
          </a:stretch>
        </p:blipFill>
        <p:spPr>
          <a:xfrm>
            <a:off x="481781" y="1079401"/>
            <a:ext cx="5024284" cy="4534818"/>
          </a:xfrm>
          <a:prstGeom prst="rect">
            <a:avLst/>
          </a:prstGeom>
          <a:ln>
            <a:solidFill>
              <a:schemeClr val="bg2"/>
            </a:solidFill>
          </a:ln>
        </p:spPr>
      </p:pic>
    </p:spTree>
    <p:extLst>
      <p:ext uri="{BB962C8B-B14F-4D97-AF65-F5344CB8AC3E}">
        <p14:creationId xmlns:p14="http://schemas.microsoft.com/office/powerpoint/2010/main" val="386728809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E13716-7CEA-754F-D020-7D31902350D1}"/>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FF99A510-8B06-25E5-BBF3-2228B7910863}"/>
              </a:ext>
            </a:extLst>
          </p:cNvPr>
          <p:cNvSpPr txBox="1">
            <a:spLocks/>
          </p:cNvSpPr>
          <p:nvPr/>
        </p:nvSpPr>
        <p:spPr>
          <a:xfrm>
            <a:off x="0" y="0"/>
            <a:ext cx="12192000" cy="776748"/>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US" sz="3600" kern="0" dirty="0"/>
              <a:t>Business Problems </a:t>
            </a:r>
            <a:endParaRPr lang="en-IN" sz="3600" kern="0" dirty="0"/>
          </a:p>
        </p:txBody>
      </p:sp>
      <p:sp>
        <p:nvSpPr>
          <p:cNvPr id="12" name="Text Placeholder 1">
            <a:extLst>
              <a:ext uri="{FF2B5EF4-FFF2-40B4-BE49-F238E27FC236}">
                <a16:creationId xmlns:a16="http://schemas.microsoft.com/office/drawing/2014/main" id="{ABF1EE2F-159A-9D82-9E87-04ED61054302}"/>
              </a:ext>
            </a:extLst>
          </p:cNvPr>
          <p:cNvSpPr txBox="1">
            <a:spLocks/>
          </p:cNvSpPr>
          <p:nvPr/>
        </p:nvSpPr>
        <p:spPr>
          <a:xfrm>
            <a:off x="6361470" y="1295400"/>
            <a:ext cx="5909187" cy="4426974"/>
          </a:xfrm>
          <a:prstGeom prst="rect">
            <a:avLst/>
          </a:prstGeom>
          <a:noFill/>
          <a:ln>
            <a:noFill/>
          </a:ln>
        </p:spPr>
        <p:txBody>
          <a:bodyPr spcFirstLastPara="1" wrap="square" lIns="68575" tIns="34275" rIns="68575" bIns="34275" anchor="t" anchorCtr="0">
            <a:normAutofit/>
          </a:bodyPr>
          <a:lstStyle>
            <a:defPPr marR="0" lvl="0" algn="l" rtl="0">
              <a:lnSpc>
                <a:spcPct val="100000"/>
              </a:lnSpc>
              <a:spcBef>
                <a:spcPts val="0"/>
              </a:spcBef>
              <a:spcAft>
                <a:spcPts val="0"/>
              </a:spcAft>
            </a:defPPr>
            <a:lvl1pPr marL="609585" marR="0" lvl="0" indent="-423323" algn="l" rtl="0" eaLnBrk="1" hangingPunct="1">
              <a:lnSpc>
                <a:spcPct val="90000"/>
              </a:lnSpc>
              <a:spcBef>
                <a:spcPts val="1067"/>
              </a:spcBef>
              <a:spcAft>
                <a:spcPts val="0"/>
              </a:spcAft>
              <a:buClr>
                <a:schemeClr val="dk1"/>
              </a:buClr>
              <a:buSzPts val="1400"/>
              <a:buFont typeface="Arial"/>
              <a:buChar char="•"/>
              <a:defRPr sz="1867" b="0" i="0" u="none" strike="noStrike" cap="none">
                <a:solidFill>
                  <a:srgbClr val="000000"/>
                </a:solidFill>
                <a:latin typeface="Calibri" panose="020F0502020204030204" pitchFamily="34" charset="0"/>
                <a:ea typeface="Raleway" pitchFamily="2" charset="0"/>
                <a:cs typeface="Calibri" panose="020F0502020204030204" pitchFamily="34" charset="0"/>
                <a:sym typeface="Arial"/>
              </a:defRPr>
            </a:lvl1pPr>
            <a:lvl2pPr marL="1219170" marR="0" lvl="1" indent="-423323" algn="l" rtl="0" eaLnBrk="1" hangingPunct="1">
              <a:lnSpc>
                <a:spcPct val="90000"/>
              </a:lnSpc>
              <a:spcBef>
                <a:spcPts val="533"/>
              </a:spcBef>
              <a:spcAft>
                <a:spcPts val="0"/>
              </a:spcAft>
              <a:buClr>
                <a:schemeClr val="dk1"/>
              </a:buClr>
              <a:buSzPts val="1400"/>
              <a:buFont typeface="Arial"/>
              <a:buChar char="•"/>
              <a:defRPr sz="1867" b="0" i="0" u="none" strike="noStrike" cap="none">
                <a:solidFill>
                  <a:srgbClr val="000000"/>
                </a:solidFill>
                <a:latin typeface="Arial"/>
                <a:ea typeface="Arial"/>
                <a:cs typeface="Arial"/>
                <a:sym typeface="Arial"/>
              </a:defRPr>
            </a:lvl2pPr>
            <a:lvl3pPr marL="1828754" marR="0" lvl="2" indent="-423323" algn="l" rtl="0" eaLnBrk="1" hangingPunct="1">
              <a:lnSpc>
                <a:spcPct val="90000"/>
              </a:lnSpc>
              <a:spcBef>
                <a:spcPts val="533"/>
              </a:spcBef>
              <a:spcAft>
                <a:spcPts val="0"/>
              </a:spcAft>
              <a:buClr>
                <a:schemeClr val="dk1"/>
              </a:buClr>
              <a:buSzPts val="1400"/>
              <a:buFont typeface="Arial"/>
              <a:buChar char="•"/>
              <a:defRPr sz="1867" b="0" i="0" u="none" strike="noStrike" cap="none">
                <a:solidFill>
                  <a:srgbClr val="000000"/>
                </a:solidFill>
                <a:latin typeface="Arial"/>
                <a:ea typeface="Arial"/>
                <a:cs typeface="Arial"/>
                <a:sym typeface="Arial"/>
              </a:defRPr>
            </a:lvl3pPr>
            <a:lvl4pPr marL="2438339" marR="0" lvl="3" indent="-423323" algn="l" rtl="0" eaLnBrk="1" hangingPunct="1">
              <a:lnSpc>
                <a:spcPct val="90000"/>
              </a:lnSpc>
              <a:spcBef>
                <a:spcPts val="533"/>
              </a:spcBef>
              <a:spcAft>
                <a:spcPts val="0"/>
              </a:spcAft>
              <a:buClr>
                <a:schemeClr val="dk1"/>
              </a:buClr>
              <a:buSzPts val="1400"/>
              <a:buFont typeface="Arial"/>
              <a:buChar char="•"/>
              <a:defRPr sz="1867" b="0" i="0" u="none" strike="noStrike" cap="none">
                <a:solidFill>
                  <a:srgbClr val="000000"/>
                </a:solidFill>
                <a:latin typeface="Arial"/>
                <a:ea typeface="Arial"/>
                <a:cs typeface="Arial"/>
                <a:sym typeface="Arial"/>
              </a:defRPr>
            </a:lvl4pPr>
            <a:lvl5pPr marL="3047924" marR="0" lvl="4" indent="-423323" algn="l" rtl="0" eaLnBrk="1" hangingPunct="1">
              <a:lnSpc>
                <a:spcPct val="90000"/>
              </a:lnSpc>
              <a:spcBef>
                <a:spcPts val="533"/>
              </a:spcBef>
              <a:spcAft>
                <a:spcPts val="0"/>
              </a:spcAft>
              <a:buClr>
                <a:schemeClr val="dk1"/>
              </a:buClr>
              <a:buSzPts val="1400"/>
              <a:buFont typeface="Arial"/>
              <a:buChar char="•"/>
              <a:defRPr sz="1867" b="0" i="0" u="none" strike="noStrike" cap="none">
                <a:solidFill>
                  <a:srgbClr val="000000"/>
                </a:solidFill>
                <a:latin typeface="Arial"/>
                <a:ea typeface="Arial"/>
                <a:cs typeface="Arial"/>
                <a:sym typeface="Arial"/>
              </a:defRPr>
            </a:lvl5pPr>
            <a:lvl6pPr marL="3657509" marR="0" lvl="5" indent="-423323" algn="l" rtl="0" eaLnBrk="1" hangingPunct="1">
              <a:lnSpc>
                <a:spcPct val="90000"/>
              </a:lnSpc>
              <a:spcBef>
                <a:spcPts val="533"/>
              </a:spcBef>
              <a:spcAft>
                <a:spcPts val="0"/>
              </a:spcAft>
              <a:buClr>
                <a:schemeClr val="dk1"/>
              </a:buClr>
              <a:buSzPts val="1400"/>
              <a:buFont typeface="Arial"/>
              <a:buChar char="•"/>
              <a:defRPr sz="1867" b="0" i="0" u="none" strike="noStrike" cap="none">
                <a:solidFill>
                  <a:srgbClr val="000000"/>
                </a:solidFill>
                <a:latin typeface="Arial"/>
                <a:ea typeface="Arial"/>
                <a:cs typeface="Arial"/>
                <a:sym typeface="Arial"/>
              </a:defRPr>
            </a:lvl6pPr>
            <a:lvl7pPr marL="4267093" marR="0" lvl="6" indent="-423323" algn="l" rtl="0" eaLnBrk="1" hangingPunct="1">
              <a:lnSpc>
                <a:spcPct val="90000"/>
              </a:lnSpc>
              <a:spcBef>
                <a:spcPts val="533"/>
              </a:spcBef>
              <a:spcAft>
                <a:spcPts val="0"/>
              </a:spcAft>
              <a:buClr>
                <a:schemeClr val="dk1"/>
              </a:buClr>
              <a:buSzPts val="1400"/>
              <a:buFont typeface="Arial"/>
              <a:buChar char="•"/>
              <a:defRPr sz="1867" b="0" i="0" u="none" strike="noStrike" cap="none">
                <a:solidFill>
                  <a:srgbClr val="000000"/>
                </a:solidFill>
                <a:latin typeface="Arial"/>
                <a:ea typeface="Arial"/>
                <a:cs typeface="Arial"/>
                <a:sym typeface="Arial"/>
              </a:defRPr>
            </a:lvl7pPr>
            <a:lvl8pPr marL="4876678" marR="0" lvl="7" indent="-423323" algn="l" rtl="0" eaLnBrk="1" hangingPunct="1">
              <a:lnSpc>
                <a:spcPct val="90000"/>
              </a:lnSpc>
              <a:spcBef>
                <a:spcPts val="533"/>
              </a:spcBef>
              <a:spcAft>
                <a:spcPts val="0"/>
              </a:spcAft>
              <a:buClr>
                <a:schemeClr val="dk1"/>
              </a:buClr>
              <a:buSzPts val="1400"/>
              <a:buFont typeface="Arial"/>
              <a:buChar char="•"/>
              <a:defRPr sz="1867" b="0" i="0" u="none" strike="noStrike" cap="none">
                <a:solidFill>
                  <a:srgbClr val="000000"/>
                </a:solidFill>
                <a:latin typeface="Arial"/>
                <a:ea typeface="Arial"/>
                <a:cs typeface="Arial"/>
                <a:sym typeface="Arial"/>
              </a:defRPr>
            </a:lvl8pPr>
            <a:lvl9pPr marL="5486263" marR="0" lvl="8" indent="-423323" algn="l" rtl="0" eaLnBrk="1" hangingPunct="1">
              <a:lnSpc>
                <a:spcPct val="90000"/>
              </a:lnSpc>
              <a:spcBef>
                <a:spcPts val="533"/>
              </a:spcBef>
              <a:spcAft>
                <a:spcPts val="0"/>
              </a:spcAft>
              <a:buClr>
                <a:schemeClr val="dk1"/>
              </a:buClr>
              <a:buSzPts val="1400"/>
              <a:buFont typeface="Arial"/>
              <a:buChar char="•"/>
              <a:defRPr sz="1867" b="0" i="0" u="none" strike="noStrike" cap="none">
                <a:solidFill>
                  <a:srgbClr val="000000"/>
                </a:solidFill>
                <a:latin typeface="Arial"/>
                <a:ea typeface="Arial"/>
                <a:cs typeface="Arial"/>
                <a:sym typeface="Arial"/>
              </a:defRPr>
            </a:lvl9pPr>
          </a:lstStyle>
          <a:p>
            <a:r>
              <a:rPr lang="en-US" kern="0" dirty="0"/>
              <a:t>6) February dip constants among all 6 years .</a:t>
            </a:r>
          </a:p>
          <a:p>
            <a:r>
              <a:rPr lang="en-US" kern="0" dirty="0"/>
              <a:t>Every year in month of February :</a:t>
            </a:r>
          </a:p>
          <a:p>
            <a:pPr marL="643462" indent="-457200">
              <a:buFont typeface="+mj-lt"/>
              <a:buAutoNum type="arabicPeriod"/>
            </a:pPr>
            <a:r>
              <a:rPr lang="en-US" kern="0" dirty="0"/>
              <a:t>Total Transaction goes down about = 42%</a:t>
            </a:r>
          </a:p>
          <a:p>
            <a:pPr marL="643462" indent="-457200">
              <a:buFont typeface="+mj-lt"/>
              <a:buAutoNum type="arabicPeriod"/>
            </a:pPr>
            <a:r>
              <a:rPr lang="en-US" kern="0" dirty="0"/>
              <a:t>Expense Type Transactions go down 5,700 transactions </a:t>
            </a:r>
          </a:p>
          <a:p>
            <a:pPr marL="643462" indent="-457200">
              <a:buFont typeface="+mj-lt"/>
              <a:buAutoNum type="arabicPeriod"/>
            </a:pPr>
            <a:r>
              <a:rPr lang="en-US" kern="0" dirty="0"/>
              <a:t>Risk ratio also goes down in this month</a:t>
            </a:r>
          </a:p>
          <a:p>
            <a:r>
              <a:rPr lang="en-US" kern="0" dirty="0"/>
              <a:t>All this depicts that customer not having much money their account to repay the loan and to continue their expenses .</a:t>
            </a:r>
          </a:p>
          <a:p>
            <a:r>
              <a:rPr lang="en-US" kern="0" dirty="0"/>
              <a:t>Banks can adjust their threshold for month of February as this a seasonal pattern but not  a big risk problem as there is a gradual increase after this month</a:t>
            </a:r>
          </a:p>
          <a:p>
            <a:endParaRPr lang="en-US" kern="0" dirty="0"/>
          </a:p>
          <a:p>
            <a:endParaRPr lang="en-IN" kern="0" dirty="0"/>
          </a:p>
        </p:txBody>
      </p:sp>
      <p:pic>
        <p:nvPicPr>
          <p:cNvPr id="2" name="Picture 1" descr="A graph of a line graph&#10;&#10;AI-generated content may be incorrect.">
            <a:extLst>
              <a:ext uri="{FF2B5EF4-FFF2-40B4-BE49-F238E27FC236}">
                <a16:creationId xmlns:a16="http://schemas.microsoft.com/office/drawing/2014/main" id="{7210F474-5924-66C3-B03D-923C6D6F44BF}"/>
              </a:ext>
            </a:extLst>
          </p:cNvPr>
          <p:cNvPicPr>
            <a:picLocks noChangeAspect="1"/>
          </p:cNvPicPr>
          <p:nvPr/>
        </p:nvPicPr>
        <p:blipFill>
          <a:blip r:embed="rId2"/>
          <a:stretch>
            <a:fillRect/>
          </a:stretch>
        </p:blipFill>
        <p:spPr>
          <a:xfrm>
            <a:off x="265471" y="1501765"/>
            <a:ext cx="5693281" cy="3620954"/>
          </a:xfrm>
          <a:prstGeom prst="rect">
            <a:avLst/>
          </a:prstGeom>
          <a:ln>
            <a:solidFill>
              <a:schemeClr val="tx1"/>
            </a:solidFill>
          </a:ln>
        </p:spPr>
      </p:pic>
    </p:spTree>
    <p:extLst>
      <p:ext uri="{BB962C8B-B14F-4D97-AF65-F5344CB8AC3E}">
        <p14:creationId xmlns:p14="http://schemas.microsoft.com/office/powerpoint/2010/main" val="16214167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EB48B55-856E-A0BA-C468-5EAE09AD92B7}"/>
              </a:ext>
            </a:extLst>
          </p:cNvPr>
          <p:cNvSpPr>
            <a:spLocks noGrp="1"/>
          </p:cNvSpPr>
          <p:nvPr>
            <p:ph type="body" idx="1"/>
          </p:nvPr>
        </p:nvSpPr>
        <p:spPr>
          <a:xfrm>
            <a:off x="329381" y="865238"/>
            <a:ext cx="11533238" cy="5476568"/>
          </a:xfrm>
        </p:spPr>
        <p:txBody>
          <a:bodyPr>
            <a:normAutofit fontScale="92500"/>
          </a:bodyPr>
          <a:lstStyle/>
          <a:p>
            <a:pPr>
              <a:lnSpc>
                <a:spcPct val="150000"/>
              </a:lnSpc>
            </a:pPr>
            <a:r>
              <a:rPr lang="en-US" dirty="0"/>
              <a:t>This banking dataset contains </a:t>
            </a:r>
            <a:r>
              <a:rPr lang="en-US" b="1" dirty="0"/>
              <a:t>8 tables</a:t>
            </a:r>
            <a:r>
              <a:rPr lang="en-US" dirty="0"/>
              <a:t>, all of which were analyzed in-depth to understand customer behavior, transaction patterns, and loan trends.</a:t>
            </a:r>
          </a:p>
          <a:p>
            <a:pPr>
              <a:lnSpc>
                <a:spcPct val="150000"/>
              </a:lnSpc>
            </a:pPr>
            <a:r>
              <a:rPr lang="en-US" dirty="0"/>
              <a:t>A total of </a:t>
            </a:r>
            <a:r>
              <a:rPr lang="en-US" b="1" dirty="0"/>
              <a:t>10,56,320 transactions</a:t>
            </a:r>
            <a:r>
              <a:rPr lang="en-US" dirty="0"/>
              <a:t> were recorded.</a:t>
            </a:r>
          </a:p>
          <a:p>
            <a:pPr>
              <a:lnSpc>
                <a:spcPct val="150000"/>
              </a:lnSpc>
            </a:pPr>
            <a:r>
              <a:rPr lang="en-US" b="1" dirty="0"/>
              <a:t>Expense-type transactions</a:t>
            </a:r>
            <a:r>
              <a:rPr lang="en-US" dirty="0"/>
              <a:t> contribute the highest share, followed by </a:t>
            </a:r>
            <a:r>
              <a:rPr lang="en-US" b="1" dirty="0"/>
              <a:t>Income</a:t>
            </a:r>
            <a:r>
              <a:rPr lang="en-US" dirty="0"/>
              <a:t>, with </a:t>
            </a:r>
            <a:r>
              <a:rPr lang="en-US" b="1" dirty="0"/>
              <a:t>Withdrawals</a:t>
            </a:r>
            <a:r>
              <a:rPr lang="en-US" dirty="0"/>
              <a:t> being the lowest.</a:t>
            </a:r>
          </a:p>
          <a:p>
            <a:pPr>
              <a:lnSpc>
                <a:spcPct val="150000"/>
              </a:lnSpc>
            </a:pPr>
            <a:r>
              <a:rPr lang="en-US" b="1" dirty="0"/>
              <a:t>1993</a:t>
            </a:r>
            <a:r>
              <a:rPr lang="en-US" dirty="0"/>
              <a:t> shows the </a:t>
            </a:r>
            <a:r>
              <a:rPr lang="en-US" b="1" dirty="0"/>
              <a:t>lowest</a:t>
            </a:r>
            <a:r>
              <a:rPr lang="en-US" dirty="0"/>
              <a:t> transaction count, while </a:t>
            </a:r>
            <a:r>
              <a:rPr lang="en-US" b="1" dirty="0"/>
              <a:t>1998</a:t>
            </a:r>
            <a:r>
              <a:rPr lang="en-US" dirty="0"/>
              <a:t> shows the </a:t>
            </a:r>
            <a:r>
              <a:rPr lang="en-US" b="1" dirty="0"/>
              <a:t>highest</a:t>
            </a:r>
            <a:r>
              <a:rPr lang="en-US" dirty="0"/>
              <a:t>.</a:t>
            </a:r>
          </a:p>
          <a:p>
            <a:pPr>
              <a:lnSpc>
                <a:spcPct val="150000"/>
              </a:lnSpc>
            </a:pPr>
            <a:r>
              <a:rPr lang="en-US" dirty="0"/>
              <a:t>The data spans </a:t>
            </a:r>
            <a:r>
              <a:rPr lang="en-US" b="1" dirty="0"/>
              <a:t>6 years</a:t>
            </a:r>
            <a:r>
              <a:rPr lang="en-US" dirty="0"/>
              <a:t>, and there is a clear upward trend in transaction counts from </a:t>
            </a:r>
            <a:r>
              <a:rPr lang="en-US" b="1" dirty="0"/>
              <a:t>1993 to 1998</a:t>
            </a:r>
            <a:r>
              <a:rPr lang="en-US" dirty="0"/>
              <a:t>.</a:t>
            </a:r>
          </a:p>
          <a:p>
            <a:pPr>
              <a:lnSpc>
                <a:spcPct val="150000"/>
              </a:lnSpc>
            </a:pPr>
            <a:r>
              <a:rPr lang="en-US" b="1" dirty="0"/>
              <a:t>Time-Based Insights</a:t>
            </a:r>
          </a:p>
          <a:p>
            <a:pPr>
              <a:lnSpc>
                <a:spcPct val="150000"/>
              </a:lnSpc>
            </a:pPr>
            <a:r>
              <a:rPr lang="en-US" b="1" dirty="0"/>
              <a:t>Saturday</a:t>
            </a:r>
            <a:r>
              <a:rPr lang="en-US" dirty="0"/>
              <a:t> has the </a:t>
            </a:r>
            <a:r>
              <a:rPr lang="en-US" b="1" dirty="0"/>
              <a:t>highest</a:t>
            </a:r>
            <a:r>
              <a:rPr lang="en-US" dirty="0"/>
              <a:t> number of transactions.</a:t>
            </a:r>
          </a:p>
          <a:p>
            <a:pPr>
              <a:lnSpc>
                <a:spcPct val="150000"/>
              </a:lnSpc>
            </a:pPr>
            <a:r>
              <a:rPr lang="en-US" b="1" dirty="0"/>
              <a:t>Wednesday</a:t>
            </a:r>
            <a:r>
              <a:rPr lang="en-US" dirty="0"/>
              <a:t> has the </a:t>
            </a:r>
            <a:r>
              <a:rPr lang="en-US" b="1" dirty="0"/>
              <a:t>least</a:t>
            </a:r>
            <a:r>
              <a:rPr lang="en-US" dirty="0"/>
              <a:t> number of transactions.</a:t>
            </a:r>
          </a:p>
          <a:p>
            <a:pPr>
              <a:lnSpc>
                <a:spcPct val="150000"/>
              </a:lnSpc>
            </a:pPr>
            <a:r>
              <a:rPr lang="en-US" b="1" dirty="0"/>
              <a:t>December</a:t>
            </a:r>
            <a:r>
              <a:rPr lang="en-US" dirty="0"/>
              <a:t> is the </a:t>
            </a:r>
            <a:r>
              <a:rPr lang="en-US" b="1" dirty="0"/>
              <a:t>peak month</a:t>
            </a:r>
            <a:r>
              <a:rPr lang="en-US" dirty="0"/>
              <a:t>, whereas </a:t>
            </a:r>
            <a:r>
              <a:rPr lang="en-US" b="1" dirty="0"/>
              <a:t>February</a:t>
            </a:r>
            <a:r>
              <a:rPr lang="en-US" dirty="0"/>
              <a:t> shows a significant drop.</a:t>
            </a:r>
          </a:p>
          <a:p>
            <a:pPr marL="186262" indent="0">
              <a:buNone/>
            </a:pPr>
            <a:endParaRPr lang="en-IN" dirty="0"/>
          </a:p>
          <a:p>
            <a:pPr marL="186262" indent="0">
              <a:buNone/>
            </a:pPr>
            <a:endParaRPr lang="en-IN" dirty="0"/>
          </a:p>
        </p:txBody>
      </p:sp>
      <p:sp>
        <p:nvSpPr>
          <p:cNvPr id="4" name="Title 2">
            <a:extLst>
              <a:ext uri="{FF2B5EF4-FFF2-40B4-BE49-F238E27FC236}">
                <a16:creationId xmlns:a16="http://schemas.microsoft.com/office/drawing/2014/main" id="{F9CE41A4-CF88-28B4-9BA2-A6DA0068D8BE}"/>
              </a:ext>
            </a:extLst>
          </p:cNvPr>
          <p:cNvSpPr txBox="1">
            <a:spLocks/>
          </p:cNvSpPr>
          <p:nvPr/>
        </p:nvSpPr>
        <p:spPr>
          <a:xfrm>
            <a:off x="0" y="0"/>
            <a:ext cx="12192000" cy="776748"/>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IN" sz="3600" dirty="0"/>
              <a:t>Wrap-up</a:t>
            </a:r>
            <a:endParaRPr lang="en-IN" sz="3600" kern="0" dirty="0"/>
          </a:p>
        </p:txBody>
      </p:sp>
    </p:spTree>
    <p:extLst>
      <p:ext uri="{BB962C8B-B14F-4D97-AF65-F5344CB8AC3E}">
        <p14:creationId xmlns:p14="http://schemas.microsoft.com/office/powerpoint/2010/main" val="29932379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42E3C5D-9838-83FC-D7E8-69F1923E1A10}"/>
              </a:ext>
            </a:extLst>
          </p:cNvPr>
          <p:cNvSpPr>
            <a:spLocks noGrp="1"/>
          </p:cNvSpPr>
          <p:nvPr>
            <p:ph type="body" idx="1"/>
          </p:nvPr>
        </p:nvSpPr>
        <p:spPr>
          <a:xfrm>
            <a:off x="314632" y="904568"/>
            <a:ext cx="11039168" cy="5074477"/>
          </a:xfrm>
        </p:spPr>
        <p:txBody>
          <a:bodyPr>
            <a:normAutofit/>
          </a:bodyPr>
          <a:lstStyle/>
          <a:p>
            <a:pPr>
              <a:lnSpc>
                <a:spcPct val="150000"/>
              </a:lnSpc>
            </a:pPr>
            <a:r>
              <a:rPr lang="en-US" b="1" dirty="0"/>
              <a:t>Income Type Insights</a:t>
            </a:r>
          </a:p>
          <a:p>
            <a:pPr>
              <a:lnSpc>
                <a:spcPct val="150000"/>
              </a:lnSpc>
            </a:pPr>
            <a:r>
              <a:rPr lang="en-US" dirty="0"/>
              <a:t>Within Income transactions, most of them are </a:t>
            </a:r>
            <a:r>
              <a:rPr lang="en-US" b="1" dirty="0"/>
              <a:t>cash-based</a:t>
            </a:r>
            <a:r>
              <a:rPr lang="en-US" dirty="0"/>
              <a:t>, recorded as </a:t>
            </a:r>
            <a:r>
              <a:rPr lang="en-US" b="1" dirty="0"/>
              <a:t>“none”</a:t>
            </a:r>
            <a:r>
              <a:rPr lang="en-US" dirty="0"/>
              <a:t>, indicating customers frequently handle cash that isn’t digitally tracked.</a:t>
            </a:r>
          </a:p>
          <a:p>
            <a:pPr>
              <a:lnSpc>
                <a:spcPct val="150000"/>
              </a:lnSpc>
            </a:pPr>
            <a:r>
              <a:rPr lang="en-US" dirty="0"/>
              <a:t>The next most common income type is </a:t>
            </a:r>
            <a:r>
              <a:rPr lang="en-US" b="1" dirty="0"/>
              <a:t>transfer to accounts</a:t>
            </a:r>
            <a:r>
              <a:rPr lang="en-US" dirty="0"/>
              <a:t>, while </a:t>
            </a:r>
            <a:r>
              <a:rPr lang="en-US" b="1" dirty="0"/>
              <a:t>card withdrawals</a:t>
            </a:r>
            <a:r>
              <a:rPr lang="en-US" dirty="0"/>
              <a:t> are the lowest.</a:t>
            </a:r>
          </a:p>
          <a:p>
            <a:pPr>
              <a:lnSpc>
                <a:spcPct val="150000"/>
              </a:lnSpc>
            </a:pPr>
            <a:r>
              <a:rPr lang="en-US" dirty="0"/>
              <a:t>This reflects that customers still rely heavily on </a:t>
            </a:r>
            <a:r>
              <a:rPr lang="en-US" b="1" dirty="0"/>
              <a:t>cash transactions</a:t>
            </a:r>
            <a:r>
              <a:rPr lang="en-US" dirty="0"/>
              <a:t>.</a:t>
            </a:r>
          </a:p>
          <a:p>
            <a:pPr>
              <a:lnSpc>
                <a:spcPct val="150000"/>
              </a:lnSpc>
            </a:pPr>
            <a:r>
              <a:rPr lang="en-US" b="1" dirty="0"/>
              <a:t>Loan Insights</a:t>
            </a:r>
          </a:p>
          <a:p>
            <a:pPr>
              <a:lnSpc>
                <a:spcPct val="150000"/>
              </a:lnSpc>
            </a:pPr>
            <a:r>
              <a:rPr lang="en-US" b="1" dirty="0"/>
              <a:t>Adults</a:t>
            </a:r>
            <a:r>
              <a:rPr lang="en-US" dirty="0"/>
              <a:t> are the most active loan takers, while </a:t>
            </a:r>
            <a:r>
              <a:rPr lang="en-US" b="1" dirty="0"/>
              <a:t>minors (0%)</a:t>
            </a:r>
            <a:r>
              <a:rPr lang="en-US" dirty="0"/>
              <a:t> are not eligible for loans.</a:t>
            </a:r>
          </a:p>
          <a:p>
            <a:pPr>
              <a:lnSpc>
                <a:spcPct val="150000"/>
              </a:lnSpc>
            </a:pPr>
            <a:r>
              <a:rPr lang="en-US" b="1" dirty="0"/>
              <a:t>Adults and seniors</a:t>
            </a:r>
            <a:r>
              <a:rPr lang="en-US" dirty="0"/>
              <a:t> both prefer </a:t>
            </a:r>
            <a:r>
              <a:rPr lang="en-US" b="1" dirty="0"/>
              <a:t>short-term loans</a:t>
            </a:r>
            <a:r>
              <a:rPr lang="en-US" dirty="0"/>
              <a:t>.</a:t>
            </a:r>
          </a:p>
          <a:p>
            <a:pPr marL="186262" indent="0">
              <a:lnSpc>
                <a:spcPct val="150000"/>
              </a:lnSpc>
              <a:buNone/>
            </a:pPr>
            <a:endParaRPr lang="en-US" dirty="0"/>
          </a:p>
        </p:txBody>
      </p:sp>
      <p:sp>
        <p:nvSpPr>
          <p:cNvPr id="4" name="Title 2">
            <a:extLst>
              <a:ext uri="{FF2B5EF4-FFF2-40B4-BE49-F238E27FC236}">
                <a16:creationId xmlns:a16="http://schemas.microsoft.com/office/drawing/2014/main" id="{E8AFF4F3-7E46-4CDD-BD86-25991A691FD5}"/>
              </a:ext>
            </a:extLst>
          </p:cNvPr>
          <p:cNvSpPr txBox="1">
            <a:spLocks/>
          </p:cNvSpPr>
          <p:nvPr/>
        </p:nvSpPr>
        <p:spPr>
          <a:xfrm>
            <a:off x="0" y="0"/>
            <a:ext cx="12192000" cy="776748"/>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IN" sz="3600" dirty="0"/>
              <a:t>Wrap-up</a:t>
            </a:r>
            <a:endParaRPr lang="en-IN" sz="3600" kern="0" dirty="0"/>
          </a:p>
        </p:txBody>
      </p:sp>
    </p:spTree>
    <p:extLst>
      <p:ext uri="{BB962C8B-B14F-4D97-AF65-F5344CB8AC3E}">
        <p14:creationId xmlns:p14="http://schemas.microsoft.com/office/powerpoint/2010/main" val="9772380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0DAEB96-2D7E-C639-E970-9E83EF5A1251}"/>
              </a:ext>
            </a:extLst>
          </p:cNvPr>
          <p:cNvSpPr>
            <a:spLocks noGrp="1"/>
          </p:cNvSpPr>
          <p:nvPr>
            <p:ph type="body" idx="1"/>
          </p:nvPr>
        </p:nvSpPr>
        <p:spPr>
          <a:xfrm>
            <a:off x="304800" y="953729"/>
            <a:ext cx="11049000" cy="5025316"/>
          </a:xfrm>
        </p:spPr>
        <p:txBody>
          <a:bodyPr/>
          <a:lstStyle/>
          <a:p>
            <a:pPr>
              <a:lnSpc>
                <a:spcPct val="150000"/>
              </a:lnSpc>
            </a:pPr>
            <a:r>
              <a:rPr lang="en-US" dirty="0"/>
              <a:t>Overall, clients take </a:t>
            </a:r>
            <a:r>
              <a:rPr lang="en-US" b="1" dirty="0"/>
              <a:t>short-term and medium-term loans</a:t>
            </a:r>
            <a:r>
              <a:rPr lang="en-US" dirty="0"/>
              <a:t> far more often than </a:t>
            </a:r>
            <a:r>
              <a:rPr lang="en-US" b="1" dirty="0"/>
              <a:t>long-term loans</a:t>
            </a:r>
            <a:r>
              <a:rPr lang="en-US" dirty="0"/>
              <a:t>.</a:t>
            </a:r>
          </a:p>
          <a:p>
            <a:pPr>
              <a:lnSpc>
                <a:spcPct val="150000"/>
              </a:lnSpc>
            </a:pPr>
            <a:r>
              <a:rPr lang="en-US" b="1" dirty="0"/>
              <a:t>District Insights</a:t>
            </a:r>
          </a:p>
          <a:p>
            <a:pPr>
              <a:lnSpc>
                <a:spcPct val="150000"/>
              </a:lnSpc>
            </a:pPr>
            <a:r>
              <a:rPr lang="en-US" dirty="0"/>
              <a:t>The </a:t>
            </a:r>
            <a:r>
              <a:rPr lang="en-US" b="1" dirty="0"/>
              <a:t>top 5 districts</a:t>
            </a:r>
            <a:r>
              <a:rPr lang="en-US" dirty="0"/>
              <a:t> contribute the highest number of transactions.</a:t>
            </a:r>
          </a:p>
          <a:p>
            <a:pPr>
              <a:lnSpc>
                <a:spcPct val="150000"/>
              </a:lnSpc>
            </a:pPr>
            <a:r>
              <a:rPr lang="en-US" dirty="0"/>
              <a:t>These districts also have </a:t>
            </a:r>
            <a:r>
              <a:rPr lang="en-US" b="1" dirty="0"/>
              <a:t>higher average population, higher average salary, and a higher ratio of urban population</a:t>
            </a:r>
            <a:r>
              <a:rPr lang="en-US" dirty="0"/>
              <a:t> compared to the entire district dataset.</a:t>
            </a:r>
          </a:p>
          <a:p>
            <a:pPr>
              <a:lnSpc>
                <a:spcPct val="150000"/>
              </a:lnSpc>
            </a:pPr>
            <a:r>
              <a:rPr lang="en-US" dirty="0"/>
              <a:t>This indicates that </a:t>
            </a:r>
            <a:r>
              <a:rPr lang="en-US" b="1" dirty="0"/>
              <a:t>districts with larger and more urbanized populations show higher banking activity</a:t>
            </a:r>
            <a:endParaRPr lang="en-IN" dirty="0"/>
          </a:p>
        </p:txBody>
      </p:sp>
      <p:sp>
        <p:nvSpPr>
          <p:cNvPr id="4" name="Title 2">
            <a:extLst>
              <a:ext uri="{FF2B5EF4-FFF2-40B4-BE49-F238E27FC236}">
                <a16:creationId xmlns:a16="http://schemas.microsoft.com/office/drawing/2014/main" id="{C9C2A962-13BD-7C07-79FD-4D04FC350FAF}"/>
              </a:ext>
            </a:extLst>
          </p:cNvPr>
          <p:cNvSpPr txBox="1">
            <a:spLocks/>
          </p:cNvSpPr>
          <p:nvPr/>
        </p:nvSpPr>
        <p:spPr>
          <a:xfrm>
            <a:off x="0" y="0"/>
            <a:ext cx="12192000" cy="776748"/>
          </a:xfrm>
          <a:prstGeom prst="rect">
            <a:avLst/>
          </a:prstGeom>
          <a:solidFill>
            <a:schemeClr val="accent1"/>
          </a:solid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chemeClr val="accent1"/>
              </a:buClr>
              <a:buSzPts val="2400"/>
              <a:buFont typeface="PT Sans Narrow"/>
              <a:buNone/>
              <a:defRPr sz="2933" b="1" i="0" u="none" strike="noStrike" cap="none">
                <a:solidFill>
                  <a:schemeClr val="tx1"/>
                </a:solidFill>
                <a:latin typeface="Raleway" pitchFamily="2" charset="0"/>
                <a:ea typeface="PT Sans Narrow"/>
                <a:cs typeface="PT Sans Narrow"/>
                <a:sym typeface="PT Sans Narrow"/>
              </a:defRPr>
            </a:lvl1pPr>
            <a:lvl2pPr marR="0" lvl="1"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2pPr>
            <a:lvl3pPr marR="0" lvl="2"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3pPr>
            <a:lvl4pPr marR="0" lvl="3"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4pPr>
            <a:lvl5pPr marR="0" lvl="4"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5pPr>
            <a:lvl6pPr marR="0" lvl="5"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6pPr>
            <a:lvl7pPr marR="0" lvl="6"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7pPr>
            <a:lvl8pPr marR="0" lvl="7"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8pPr>
            <a:lvl9pPr marR="0" lvl="8" algn="l" rtl="0" eaLnBrk="1" hangingPunct="1">
              <a:lnSpc>
                <a:spcPct val="100000"/>
              </a:lnSpc>
              <a:spcBef>
                <a:spcPts val="0"/>
              </a:spcBef>
              <a:spcAft>
                <a:spcPts val="0"/>
              </a:spcAft>
              <a:buClr>
                <a:schemeClr val="accent1"/>
              </a:buClr>
              <a:buSzPts val="2400"/>
              <a:buFont typeface="PT Sans Narrow"/>
              <a:buNone/>
              <a:defRPr sz="3200" b="1" i="0" u="none" strike="noStrike" cap="none">
                <a:solidFill>
                  <a:schemeClr val="accent1"/>
                </a:solidFill>
                <a:latin typeface="PT Sans Narrow"/>
                <a:ea typeface="PT Sans Narrow"/>
                <a:cs typeface="PT Sans Narrow"/>
                <a:sym typeface="PT Sans Narrow"/>
              </a:defRPr>
            </a:lvl9pPr>
          </a:lstStyle>
          <a:p>
            <a:pPr algn="ctr"/>
            <a:r>
              <a:rPr lang="en-IN" sz="3600" dirty="0"/>
              <a:t>Wrap-up</a:t>
            </a:r>
            <a:endParaRPr lang="en-IN" sz="3600" kern="0" dirty="0"/>
          </a:p>
        </p:txBody>
      </p:sp>
    </p:spTree>
    <p:extLst>
      <p:ext uri="{BB962C8B-B14F-4D97-AF65-F5344CB8AC3E}">
        <p14:creationId xmlns:p14="http://schemas.microsoft.com/office/powerpoint/2010/main" val="462046849"/>
      </p:ext>
    </p:extLst>
  </p:cSld>
  <p:clrMapOvr>
    <a:masterClrMapping/>
  </p:clrMapOvr>
</p:sld>
</file>

<file path=ppt/theme/theme1.xml><?xml version="1.0" encoding="utf-8"?>
<a:theme xmlns:a="http://schemas.openxmlformats.org/drawingml/2006/main" name="Tropic">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Presentation Template - 1759468487727</Template>
  <TotalTime>1561</TotalTime>
  <Words>4767</Words>
  <Application>Microsoft Office PowerPoint</Application>
  <PresentationFormat>Widescreen</PresentationFormat>
  <Paragraphs>573</Paragraphs>
  <Slides>58</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58</vt:i4>
      </vt:variant>
    </vt:vector>
  </HeadingPairs>
  <TitlesOfParts>
    <vt:vector size="70" baseType="lpstr">
      <vt:lpstr>Aptos</vt:lpstr>
      <vt:lpstr>Arial</vt:lpstr>
      <vt:lpstr>Arial Black</vt:lpstr>
      <vt:lpstr>Bahnschrift</vt:lpstr>
      <vt:lpstr>Calibri</vt:lpstr>
      <vt:lpstr>Open Sans</vt:lpstr>
      <vt:lpstr>Plus Jakarta Sans Medium</vt:lpstr>
      <vt:lpstr>Plus Jakarta Sans SemiBold</vt:lpstr>
      <vt:lpstr>PT Sans Narrow</vt:lpstr>
      <vt:lpstr>Raleway</vt:lpstr>
      <vt:lpstr>Wingdings</vt:lpstr>
      <vt:lpstr>Tropic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Business Questions / Analysis</vt:lpstr>
      <vt:lpstr>PowerPoint Presentation</vt:lpstr>
      <vt:lpstr>Business Questions / Analysis</vt:lpstr>
      <vt:lpstr>Business Questions /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Harshita Sahu</dc:creator>
  <cp:lastModifiedBy>Harshita Sahu</cp:lastModifiedBy>
  <cp:revision>2</cp:revision>
  <dcterms:created xsi:type="dcterms:W3CDTF">2025-12-01T14:16:51Z</dcterms:created>
  <dcterms:modified xsi:type="dcterms:W3CDTF">2025-12-28T07:56:34Z</dcterms:modified>
</cp:coreProperties>
</file>